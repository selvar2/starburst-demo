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6366F1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97680"/>
            <a:ext cx="2834640" cy="2834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16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AI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868680" y="43434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around the model — how reliable, governable AI agents are actually built, evaluated, and shipped to production.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1152144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806440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76856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76856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95344" y="5806440"/>
            <a:ext cx="230886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5806440"/>
            <a:ext cx="23088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Omnigent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60236" y="5806440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0236" y="58064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99348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99348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context to harness engineering — and why it matters.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75488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Layers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5488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seven-layer anatomy of a production agent harness.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2104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7"/>
          <p:cNvSpPr/>
          <p:nvPr/>
        </p:nvSpPr>
        <p:spPr>
          <a:xfrm>
            <a:off x="859536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4688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9848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59536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Landscape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59536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workflow, eval, deployment &amp; guardrail ecosystems.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Shape 23"/>
          <p:cNvSpPr/>
          <p:nvPr/>
        </p:nvSpPr>
        <p:spPr>
          <a:xfrm>
            <a:off x="91440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07992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01752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5"/>
          <p:cNvSpPr/>
          <p:nvPr/>
        </p:nvSpPr>
        <p:spPr>
          <a:xfrm>
            <a:off x="91440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1440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Omnigent, Meta-Harness, AutoHarness &amp; natural-language harnesses.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48056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8056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Shape 29"/>
          <p:cNvSpPr/>
          <p:nvPr/>
        </p:nvSpPr>
        <p:spPr>
          <a:xfrm>
            <a:off x="475488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50799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5800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400" dirty="0"/>
          </a:p>
        </p:txBody>
      </p:sp>
      <p:sp>
        <p:nvSpPr>
          <p:cNvPr id="38" name="Text 31"/>
          <p:cNvSpPr/>
          <p:nvPr/>
        </p:nvSpPr>
        <p:spPr>
          <a:xfrm>
            <a:off x="475488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Operations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475488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→ AgentOps, CI/CD, release strategies &amp; observability.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32104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2104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2" name="Shape 35"/>
          <p:cNvSpPr/>
          <p:nvPr/>
        </p:nvSpPr>
        <p:spPr>
          <a:xfrm>
            <a:off x="859536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507992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848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400" dirty="0"/>
          </a:p>
        </p:txBody>
      </p:sp>
      <p:sp>
        <p:nvSpPr>
          <p:cNvPr id="45" name="Text 37"/>
          <p:cNvSpPr/>
          <p:nvPr/>
        </p:nvSpPr>
        <p:spPr>
          <a:xfrm>
            <a:off x="859536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Roadmap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859536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value, best practices, and how to get started.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shift: prompt → context → harness engineering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moved from demos to production, the engineering focus climbed the stack. Each phase kept the previous one and added a new layer of control.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788920"/>
            <a:ext cx="868680" cy="86868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9992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~2022–23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instruction. Focus on wording, examples, and formatting to steer a single model call.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965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3895344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262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2788920"/>
            <a:ext cx="868680" cy="868680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9992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~2023–24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8463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what the model sees. Retrieval, memory, and context budgets assemble the right information.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827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895344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412480" y="242316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732520" y="278892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299923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870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7325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87325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whole runtime around the model: execution, tools, orchestration, verification, governance.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additive — harness engineering subsumes the earlier ones as the new frontier of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harness engineering exists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</a:t>
            </a:r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reasons. The harness does everything else — and it is the primary determinant of reliability at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19856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 / unsafe actions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models attempt actions the environment forbids. In one chess benchmark, 78% of a model's losses came from illegal moves.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65576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65576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3721608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34198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21608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state or memory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21608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tasks lose context ("context rot"); the agent forgets goals and repeats work.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91072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91072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6547104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419856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47104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 output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47104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 gates and traces, you can't tell whether a run succeeded or why it failed.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116568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16568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9372600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341985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72600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Ungoverned &amp; unshippable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72600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permissions, budgets, or audit means it never clears security or production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 harness?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760720" cy="4160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" cy="41605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is the external execution system around a model that organizes a task run — the scaffolding that decides where the agent runs, what it can call, what it sees, how the loop is orchestrated, and whether the result is safe and correct.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claim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using the same model can differ hugely in reliability. Benchmark scores are a property of a model–harness–environment system, not the model alone.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4846320" cy="416052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874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sits inside the harness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2238451"/>
            <a:ext cx="3840480" cy="2381098"/>
          </a:xfrm>
          <a:prstGeom prst="ellipse">
            <a:avLst/>
          </a:prstGeom>
          <a:solidFill>
            <a:srgbClr val="1823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2493569"/>
            <a:ext cx="3017520" cy="1870862"/>
          </a:xfrm>
          <a:prstGeom prst="ellipse">
            <a:avLst/>
          </a:prstGeom>
          <a:solidFill>
            <a:srgbClr val="223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748686"/>
            <a:ext cx="2194560" cy="1360627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3003804"/>
            <a:ext cx="1371600" cy="8503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· Tools ·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seven-layer taxonomy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map of what a complete harness contains. The first four layers are the structural core; the last three are the control plane that makes a system inspectable, measurable, and safe.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Sandboxes, runtimes &amp; where code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02152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0752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730752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99432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58184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schemas, APIs &amp; MCP interfaces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92824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61504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0256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memory &amp; context budgets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54896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24" name="Text 22"/>
          <p:cNvSpPr/>
          <p:nvPr/>
        </p:nvSpPr>
        <p:spPr>
          <a:xfrm>
            <a:off x="9454896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23576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82328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&amp; orchestration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cost &amp; latency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53128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0408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550408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 gates &amp; feedback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66176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22208" y="527608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522208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363456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363456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policy, audit &amp; human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STRUCTURAL CORE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agent runs, calls, sees &amp; loops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0253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025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84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environment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2377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sandboxes, VMs, and code interpreters that isolate the agent and bound side-effects.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30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3774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 microVMs, Docker sandboxes, code-execution runtimes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09981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998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3081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interface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 schemas and function contracts; standardized access via the Model Context Protocol (MCP).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227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OpenAI/Anthropic tool calling, API connectors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419709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97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83080" y="4178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83080" y="4572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(RAG), working &amp; long-term memory, and context-budget policies to fight context rot.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325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5720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stores, memory files, context compaction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29437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294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783080" y="5276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/ orchestration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783080" y="5669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loop: planning, sub-agent handoffs, retries, and state transitions across steps.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534924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5422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5669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Plan–act–observe loops, multi-agent handoffs, retry logic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CONTROL PLANE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Observability, verification &amp; governance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that decide whether an agent is inspectable, measurable, and safe enough to operate in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5117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LLM call, tool invocation, retrieval step, cost, latency, and failure as a replayable trace.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16552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51176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0872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and validation gates check outputs against ground truth, rubrics, and task contracts.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36592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 suites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continuous evals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gates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2331720"/>
            <a:ext cx="3520440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551176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67344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models, budgets, identity, hardening, audit logs, and human-in-the-loop approval.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13064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&amp; identity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budgets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 IN PRACTICE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harness types you'll deploy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59736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runs against datasets &amp; rubrics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5576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9896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45973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Harness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9896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scenario tests for agents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459736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Harness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65392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reason–act–observe loop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16568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459736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Harness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9088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handoffs &amp; shared state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498848"/>
            <a:ext cx="374904" cy="374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/ Memory Harness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14400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short &amp; long-term memory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65576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739896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064" y="4498848"/>
            <a:ext cx="374904" cy="374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39896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Harness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3739896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Serving, scaling &amp; versioning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91072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65392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498848"/>
            <a:ext cx="374904" cy="3749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/ Guardrail Harness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6565392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filters &amp; constraints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116568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90888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2056" y="4498848"/>
            <a:ext cx="374904" cy="37490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90888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Harness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9390888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audit &amp;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Framework Landscape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and commercial ecosystem, mapped to harness layers.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FRAMEWORK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 · Orchestrate · Verify · Govern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way to group the seven ETCLOVG layers into four pillars — each with real open-source projects and platforms.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21408"/>
            <a:ext cx="5532120" cy="56692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677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1214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49040" y="21214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it &amp; give scoped tools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0457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0"/>
          <p:cNvSpPr/>
          <p:nvPr/>
        </p:nvSpPr>
        <p:spPr>
          <a:xfrm>
            <a:off x="1370457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86968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105281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3"/>
          <p:cNvSpPr/>
          <p:nvPr/>
        </p:nvSpPr>
        <p:spPr>
          <a:xfrm>
            <a:off x="1105281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7" name="Shape 14"/>
          <p:cNvSpPr/>
          <p:nvPr/>
        </p:nvSpPr>
        <p:spPr>
          <a:xfrm>
            <a:off x="2164842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66619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/>
          <p:nvPr/>
        </p:nvSpPr>
        <p:spPr>
          <a:xfrm>
            <a:off x="2666619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183130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01443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2401443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3461004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62781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2"/>
          <p:cNvSpPr/>
          <p:nvPr/>
        </p:nvSpPr>
        <p:spPr>
          <a:xfrm>
            <a:off x="3962781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9292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gVisor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97605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5"/>
          <p:cNvSpPr/>
          <p:nvPr/>
        </p:nvSpPr>
        <p:spPr>
          <a:xfrm>
            <a:off x="3697605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29" name="Shape 26"/>
          <p:cNvSpPr/>
          <p:nvPr/>
        </p:nvSpPr>
        <p:spPr>
          <a:xfrm>
            <a:off x="4757166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58943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8"/>
          <p:cNvSpPr/>
          <p:nvPr/>
        </p:nvSpPr>
        <p:spPr>
          <a:xfrm>
            <a:off x="5258943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75454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192192" y="3364992"/>
            <a:ext cx="316382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4" name="Text 31"/>
          <p:cNvSpPr/>
          <p:nvPr/>
        </p:nvSpPr>
        <p:spPr>
          <a:xfrm>
            <a:off x="5192192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868680" y="3657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· Daytona · Northflank · Fly Machines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428232" y="2121408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28232" y="2121408"/>
            <a:ext cx="5532120" cy="566928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267712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031736" y="21214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9537192" y="21214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the agent loop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656832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158609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3" name="Text 39"/>
          <p:cNvSpPr/>
          <p:nvPr/>
        </p:nvSpPr>
        <p:spPr>
          <a:xfrm>
            <a:off x="7158609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675120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091858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6" name="Text 42"/>
          <p:cNvSpPr/>
          <p:nvPr/>
        </p:nvSpPr>
        <p:spPr>
          <a:xfrm>
            <a:off x="7091858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47" name="Shape 43"/>
          <p:cNvSpPr/>
          <p:nvPr/>
        </p:nvSpPr>
        <p:spPr>
          <a:xfrm>
            <a:off x="7952994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454771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9" name="Text 45"/>
          <p:cNvSpPr/>
          <p:nvPr/>
        </p:nvSpPr>
        <p:spPr>
          <a:xfrm>
            <a:off x="8454771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971282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8388020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2" name="Text 48"/>
          <p:cNvSpPr/>
          <p:nvPr/>
        </p:nvSpPr>
        <p:spPr>
          <a:xfrm>
            <a:off x="8388020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9249156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9750933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5" name="Text 51"/>
          <p:cNvSpPr/>
          <p:nvPr/>
        </p:nvSpPr>
        <p:spPr>
          <a:xfrm>
            <a:off x="9750933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9267444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9684182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8" name="Text 54"/>
          <p:cNvSpPr/>
          <p:nvPr/>
        </p:nvSpPr>
        <p:spPr>
          <a:xfrm>
            <a:off x="9684182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59" name="Shape 55"/>
          <p:cNvSpPr/>
          <p:nvPr/>
        </p:nvSpPr>
        <p:spPr>
          <a:xfrm>
            <a:off x="10545318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47095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61" name="Text 57"/>
          <p:cNvSpPr/>
          <p:nvPr/>
        </p:nvSpPr>
        <p:spPr>
          <a:xfrm>
            <a:off x="11047095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10563606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10781919" y="3364992"/>
            <a:ext cx="713232" cy="1645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4" name="Text 60"/>
          <p:cNvSpPr/>
          <p:nvPr/>
        </p:nvSpPr>
        <p:spPr>
          <a:xfrm>
            <a:off x="10781919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65" name="Text 61"/>
          <p:cNvSpPr/>
          <p:nvPr/>
        </p:nvSpPr>
        <p:spPr>
          <a:xfrm>
            <a:off x="6656832" y="3657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· Vertex · Azure AI Foundry · Mosaic AI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640080" y="4389120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640080" y="4389120"/>
            <a:ext cx="5532120" cy="56692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535424"/>
            <a:ext cx="274320" cy="274320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1243584" y="4389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600" dirty="0"/>
          </a:p>
        </p:txBody>
      </p:sp>
      <p:sp>
        <p:nvSpPr>
          <p:cNvPr id="70" name="Text 65"/>
          <p:cNvSpPr/>
          <p:nvPr/>
        </p:nvSpPr>
        <p:spPr>
          <a:xfrm>
            <a:off x="3749040" y="43891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run, gate on evals</a:t>
            </a:r>
            <a:endParaRPr lang="en-US" sz="1050" dirty="0"/>
          </a:p>
        </p:txBody>
      </p:sp>
      <p:sp>
        <p:nvSpPr>
          <p:cNvPr id="71" name="Shape 66"/>
          <p:cNvSpPr/>
          <p:nvPr/>
        </p:nvSpPr>
        <p:spPr>
          <a:xfrm>
            <a:off x="868680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370457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3" name="Text 68"/>
          <p:cNvSpPr/>
          <p:nvPr/>
        </p:nvSpPr>
        <p:spPr>
          <a:xfrm>
            <a:off x="1370457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886968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1303706" y="5632704"/>
            <a:ext cx="31638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6" name="Text 71"/>
          <p:cNvSpPr/>
          <p:nvPr/>
        </p:nvSpPr>
        <p:spPr>
          <a:xfrm>
            <a:off x="1303706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77" name="Shape 72"/>
          <p:cNvSpPr/>
          <p:nvPr/>
        </p:nvSpPr>
        <p:spPr>
          <a:xfrm>
            <a:off x="2164842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2666619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9" name="Text 74"/>
          <p:cNvSpPr/>
          <p:nvPr/>
        </p:nvSpPr>
        <p:spPr>
          <a:xfrm>
            <a:off x="2666619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80" name="Text 75"/>
          <p:cNvSpPr/>
          <p:nvPr/>
        </p:nvSpPr>
        <p:spPr>
          <a:xfrm>
            <a:off x="2183130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2401443" y="5632704"/>
            <a:ext cx="71323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2" name="Text 77"/>
          <p:cNvSpPr/>
          <p:nvPr/>
        </p:nvSpPr>
        <p:spPr>
          <a:xfrm>
            <a:off x="2401443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83" name="Shape 78"/>
          <p:cNvSpPr/>
          <p:nvPr/>
        </p:nvSpPr>
        <p:spPr>
          <a:xfrm>
            <a:off x="3461004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3962781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5" name="Text 80"/>
          <p:cNvSpPr/>
          <p:nvPr/>
        </p:nvSpPr>
        <p:spPr>
          <a:xfrm>
            <a:off x="3962781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86" name="Text 81"/>
          <p:cNvSpPr/>
          <p:nvPr/>
        </p:nvSpPr>
        <p:spPr>
          <a:xfrm>
            <a:off x="3479292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3697605" y="5632704"/>
            <a:ext cx="71323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8" name="Text 83"/>
          <p:cNvSpPr/>
          <p:nvPr/>
        </p:nvSpPr>
        <p:spPr>
          <a:xfrm>
            <a:off x="3697605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89" name="Shape 84"/>
          <p:cNvSpPr/>
          <p:nvPr/>
        </p:nvSpPr>
        <p:spPr>
          <a:xfrm>
            <a:off x="4757166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5258943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1" name="Text 86"/>
          <p:cNvSpPr/>
          <p:nvPr/>
        </p:nvSpPr>
        <p:spPr>
          <a:xfrm>
            <a:off x="5258943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92" name="Text 87"/>
          <p:cNvSpPr/>
          <p:nvPr/>
        </p:nvSpPr>
        <p:spPr>
          <a:xfrm>
            <a:off x="4775454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5192192" y="5632704"/>
            <a:ext cx="31638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4" name="Text 89"/>
          <p:cNvSpPr/>
          <p:nvPr/>
        </p:nvSpPr>
        <p:spPr>
          <a:xfrm>
            <a:off x="5192192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95" name="Text 90"/>
          <p:cNvSpPr/>
          <p:nvPr/>
        </p:nvSpPr>
        <p:spPr>
          <a:xfrm>
            <a:off x="868680" y="5925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Braintrust · Arize · Galileo</a:t>
            </a:r>
            <a:endParaRPr lang="en-US" sz="950" dirty="0"/>
          </a:p>
        </p:txBody>
      </p:sp>
      <p:sp>
        <p:nvSpPr>
          <p:cNvPr id="96" name="Shape 91"/>
          <p:cNvSpPr/>
          <p:nvPr/>
        </p:nvSpPr>
        <p:spPr>
          <a:xfrm>
            <a:off x="6428232" y="4389120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97" name="Shape 92"/>
          <p:cNvSpPr/>
          <p:nvPr/>
        </p:nvSpPr>
        <p:spPr>
          <a:xfrm>
            <a:off x="6428232" y="4389120"/>
            <a:ext cx="5532120" cy="5669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535424"/>
            <a:ext cx="274320" cy="274320"/>
          </a:xfrm>
          <a:prstGeom prst="rect">
            <a:avLst/>
          </a:prstGeom>
        </p:spPr>
      </p:pic>
      <p:sp>
        <p:nvSpPr>
          <p:cNvPr id="99" name="Text 93"/>
          <p:cNvSpPr/>
          <p:nvPr/>
        </p:nvSpPr>
        <p:spPr>
          <a:xfrm>
            <a:off x="7031736" y="4389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9537192" y="43891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guardrails &amp; approval</a:t>
            </a:r>
            <a:endParaRPr lang="en-US" sz="1050" dirty="0"/>
          </a:p>
        </p:txBody>
      </p:sp>
      <p:sp>
        <p:nvSpPr>
          <p:cNvPr id="101" name="Shape 95"/>
          <p:cNvSpPr/>
          <p:nvPr/>
        </p:nvSpPr>
        <p:spPr>
          <a:xfrm>
            <a:off x="6656832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7158609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3" name="Text 97"/>
          <p:cNvSpPr/>
          <p:nvPr/>
        </p:nvSpPr>
        <p:spPr>
          <a:xfrm>
            <a:off x="7158609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4" name="Text 98"/>
          <p:cNvSpPr/>
          <p:nvPr/>
        </p:nvSpPr>
        <p:spPr>
          <a:xfrm>
            <a:off x="6675120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</a:t>
            </a:r>
            <a:endParaRPr lang="en-US" sz="850" dirty="0"/>
          </a:p>
        </p:txBody>
      </p:sp>
      <p:sp>
        <p:nvSpPr>
          <p:cNvPr id="105" name="Shape 99"/>
          <p:cNvSpPr/>
          <p:nvPr/>
        </p:nvSpPr>
        <p:spPr>
          <a:xfrm>
            <a:off x="6893433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6" name="Text 100"/>
          <p:cNvSpPr/>
          <p:nvPr/>
        </p:nvSpPr>
        <p:spPr>
          <a:xfrm>
            <a:off x="6893433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07" name="Shape 101"/>
          <p:cNvSpPr/>
          <p:nvPr/>
        </p:nvSpPr>
        <p:spPr>
          <a:xfrm>
            <a:off x="7952994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8454771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9" name="Text 103"/>
          <p:cNvSpPr/>
          <p:nvPr/>
        </p:nvSpPr>
        <p:spPr>
          <a:xfrm>
            <a:off x="8454771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110" name="Text 104"/>
          <p:cNvSpPr/>
          <p:nvPr/>
        </p:nvSpPr>
        <p:spPr>
          <a:xfrm>
            <a:off x="7971282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111" name="Shape 105"/>
          <p:cNvSpPr/>
          <p:nvPr/>
        </p:nvSpPr>
        <p:spPr>
          <a:xfrm>
            <a:off x="8189595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2" name="Text 106"/>
          <p:cNvSpPr/>
          <p:nvPr/>
        </p:nvSpPr>
        <p:spPr>
          <a:xfrm>
            <a:off x="8189595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13" name="Shape 107"/>
          <p:cNvSpPr/>
          <p:nvPr/>
        </p:nvSpPr>
        <p:spPr>
          <a:xfrm>
            <a:off x="9249156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9750933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5" name="Text 109"/>
          <p:cNvSpPr/>
          <p:nvPr/>
        </p:nvSpPr>
        <p:spPr>
          <a:xfrm>
            <a:off x="9750933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116" name="Text 110"/>
          <p:cNvSpPr/>
          <p:nvPr/>
        </p:nvSpPr>
        <p:spPr>
          <a:xfrm>
            <a:off x="9267444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850" dirty="0"/>
          </a:p>
        </p:txBody>
      </p:sp>
      <p:sp>
        <p:nvSpPr>
          <p:cNvPr id="117" name="Shape 111"/>
          <p:cNvSpPr/>
          <p:nvPr/>
        </p:nvSpPr>
        <p:spPr>
          <a:xfrm>
            <a:off x="9485757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8" name="Text 112"/>
          <p:cNvSpPr/>
          <p:nvPr/>
        </p:nvSpPr>
        <p:spPr>
          <a:xfrm>
            <a:off x="9485757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19" name="Shape 113"/>
          <p:cNvSpPr/>
          <p:nvPr/>
        </p:nvSpPr>
        <p:spPr>
          <a:xfrm>
            <a:off x="10545318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11047095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1" name="Text 115"/>
          <p:cNvSpPr/>
          <p:nvPr/>
        </p:nvSpPr>
        <p:spPr>
          <a:xfrm>
            <a:off x="11047095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22" name="Text 116"/>
          <p:cNvSpPr/>
          <p:nvPr/>
        </p:nvSpPr>
        <p:spPr>
          <a:xfrm>
            <a:off x="10563606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</a:t>
            </a:r>
            <a:endParaRPr lang="en-US" sz="850" dirty="0"/>
          </a:p>
        </p:txBody>
      </p:sp>
      <p:sp>
        <p:nvSpPr>
          <p:cNvPr id="123" name="Shape 117"/>
          <p:cNvSpPr/>
          <p:nvPr/>
        </p:nvSpPr>
        <p:spPr>
          <a:xfrm>
            <a:off x="10980344" y="5632704"/>
            <a:ext cx="31638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Text 118"/>
          <p:cNvSpPr/>
          <p:nvPr/>
        </p:nvSpPr>
        <p:spPr>
          <a:xfrm>
            <a:off x="10980344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125" name="Text 119"/>
          <p:cNvSpPr/>
          <p:nvPr/>
        </p:nvSpPr>
        <p:spPr>
          <a:xfrm>
            <a:off x="6656832" y="5925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· Protect AI · Robust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WIDER TOOLCHAIN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of the harness ecosystem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pillars — the fuller open-source toolchain, grouped by where it fits in the harness.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91440" cy="1965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94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workflow frameworks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70662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0662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61718" y="2706624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61718" y="27066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2774" y="2706624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2774" y="27066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1494" y="2706624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1494" y="2706624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145536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4553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42186" y="3145536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2186" y="31455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30906" y="3145536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0906" y="31455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9626" y="3145536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9626" y="3145536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61718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1718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09037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9037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56355" y="3584448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6355" y="3584448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210312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91072" y="2103120"/>
            <a:ext cx="91440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6565392" y="22494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Context, memory &amp; serving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65392" y="2706624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70662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32243" y="2706624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2243" y="2706624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60029" y="2706624"/>
            <a:ext cx="51572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0029" y="2706624"/>
            <a:ext cx="515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85478" y="270662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85478" y="270662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LMCache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32797" y="2706624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32797" y="2706624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65392" y="3145536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145536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32243" y="314553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32243" y="314553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0496" y="314553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0496" y="314553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87814" y="3145536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87814" y="3145536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54666" y="314553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54666" y="314553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Repomix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65392" y="3584448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3584448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425196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" y="4251960"/>
            <a:ext cx="91440" cy="1965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914400" y="43982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Eval, tracing &amp; observability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14400" y="485546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485546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861718" y="4855464"/>
            <a:ext cx="132039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61718" y="4855464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91840" y="4855464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0" y="4855464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400093" y="4855464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00093" y="4855464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4400" y="529437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529437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61718" y="5294376"/>
            <a:ext cx="123992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61718" y="5294376"/>
            <a:ext cx="12399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11373" y="529437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11373" y="529437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Weave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319626" y="529437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19626" y="529437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291072" y="425196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291072" y="4251960"/>
            <a:ext cx="91440" cy="1965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9" name="Text 77"/>
          <p:cNvSpPr/>
          <p:nvPr/>
        </p:nvSpPr>
        <p:spPr>
          <a:xfrm>
            <a:off x="6565392" y="43982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Guardrails, policy &amp; security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6565392" y="4855464"/>
            <a:ext cx="115945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65392" y="4855464"/>
            <a:ext cx="1159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834579" y="4855464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34579" y="485546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Rebuff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701430" y="4855464"/>
            <a:ext cx="6766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01430" y="4855464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487814" y="4855464"/>
            <a:ext cx="115945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87814" y="4855464"/>
            <a:ext cx="1159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PromptGuard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65392" y="5294376"/>
            <a:ext cx="156179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65392" y="5294376"/>
            <a:ext cx="15617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Gatekeeper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236915" y="5294376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36915" y="529437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565392" y="5733288"/>
            <a:ext cx="1803197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65392" y="5733288"/>
            <a:ext cx="18031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REAL 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on every run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moves through contain → orchestrate → verify → govern. Failures retry or escalate; only verified, approved work ships.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697480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807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limits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8528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2048256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2697480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80720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48256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48256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346704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Shape 14"/>
          <p:cNvSpPr/>
          <p:nvPr/>
        </p:nvSpPr>
        <p:spPr>
          <a:xfrm>
            <a:off x="3456432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58768" y="26974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280720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56432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56432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MCP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Shape 19"/>
          <p:cNvSpPr/>
          <p:nvPr/>
        </p:nvSpPr>
        <p:spPr>
          <a:xfrm>
            <a:off x="4864608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266944" y="26974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280720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64608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64608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sandbox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163056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" name="Shape 24"/>
          <p:cNvSpPr/>
          <p:nvPr/>
        </p:nvSpPr>
        <p:spPr>
          <a:xfrm>
            <a:off x="6272784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675120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80720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272784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272784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+ cost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571232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6" name="Shape 29"/>
          <p:cNvSpPr/>
          <p:nvPr/>
        </p:nvSpPr>
        <p:spPr>
          <a:xfrm>
            <a:off x="7680960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083296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280720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80960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680960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979408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2" name="Shape 34"/>
          <p:cNvSpPr/>
          <p:nvPr/>
        </p:nvSpPr>
        <p:spPr>
          <a:xfrm>
            <a:off x="9089136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491472" y="269748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807208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089136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9089136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OK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10387584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8" name="Shape 39"/>
          <p:cNvSpPr/>
          <p:nvPr/>
        </p:nvSpPr>
        <p:spPr>
          <a:xfrm>
            <a:off x="10497312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899648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9376" y="2807208"/>
            <a:ext cx="292608" cy="2926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497312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10497312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40080" y="4251960"/>
            <a:ext cx="530352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↺  Retry / re-plan</a:t>
            </a:r>
            <a:endParaRPr lang="en-US" sz="1400" dirty="0"/>
          </a:p>
        </p:txBody>
      </p:sp>
      <p:sp>
        <p:nvSpPr>
          <p:cNvPr id="55" name="Text 45"/>
          <p:cNvSpPr/>
          <p:nvPr/>
        </p:nvSpPr>
        <p:spPr>
          <a:xfrm>
            <a:off x="868680" y="47091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Observe or Verify fails, the loop re-plans or retries with a different tool or model — bounded by a budget so it can't spin forever.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6172200" y="4251960"/>
            <a:ext cx="5349240" cy="1280160"/>
          </a:xfrm>
          <a:prstGeom prst="rect">
            <a:avLst/>
          </a:prstGeom>
          <a:solidFill>
            <a:srgbClr val="E6FAF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Escalate on evidence</a:t>
            </a:r>
            <a:endParaRPr lang="en-US" sz="1400" dirty="0"/>
          </a:p>
        </p:txBody>
      </p:sp>
      <p:sp>
        <p:nvSpPr>
          <p:cNvPr id="58" name="Text 48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reasoning and human approval are escalation paths triggered by complexity, risk, or a failed check — not the default road.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raw model call to a harnessed agent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429000" cy="4023360"/>
          </a:xfrm>
          <a:prstGeom prst="rect">
            <a:avLst/>
          </a:prstGeom>
          <a:solidFill>
            <a:srgbClr val="FEF2F2"/>
          </a:solidFill>
          <a:ln w="15875">
            <a:solidFill>
              <a:srgbClr val="FC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574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574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MODEL CALL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82549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856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Scans the whole repo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3856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context than needed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40156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027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856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wide open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33856" y="3767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from step one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417880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799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33856" y="4251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model by default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3856" y="4544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reasoning for trivial steps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495604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1572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33856" y="5029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trace, no gate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33856" y="5321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“hope it worked”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114800" y="1874520"/>
            <a:ext cx="3931920" cy="402336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5" name="Text 19"/>
          <p:cNvSpPr/>
          <p:nvPr/>
        </p:nvSpPr>
        <p:spPr>
          <a:xfrm>
            <a:off x="4114800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 ·  ETCLOVG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15968" y="2496312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27" name="Shape 21"/>
          <p:cNvSpPr/>
          <p:nvPr/>
        </p:nvSpPr>
        <p:spPr>
          <a:xfrm>
            <a:off x="4315968" y="2496312"/>
            <a:ext cx="73152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2"/>
          <p:cNvSpPr/>
          <p:nvPr/>
        </p:nvSpPr>
        <p:spPr>
          <a:xfrm>
            <a:off x="4480560" y="2542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279806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scoped tools (E,T)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315968" y="3145536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31" name="Shape 25"/>
          <p:cNvSpPr/>
          <p:nvPr/>
        </p:nvSpPr>
        <p:spPr>
          <a:xfrm>
            <a:off x="4315968" y="3145536"/>
            <a:ext cx="73152" cy="548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26"/>
          <p:cNvSpPr/>
          <p:nvPr/>
        </p:nvSpPr>
        <p:spPr>
          <a:xfrm>
            <a:off x="4480560" y="31912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480560" y="344728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memory, loop (C,L)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315968" y="3794760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35" name="Shape 29"/>
          <p:cNvSpPr/>
          <p:nvPr/>
        </p:nvSpPr>
        <p:spPr>
          <a:xfrm>
            <a:off x="4315968" y="3794760"/>
            <a:ext cx="73152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0"/>
          <p:cNvSpPr/>
          <p:nvPr/>
        </p:nvSpPr>
        <p:spPr>
          <a:xfrm>
            <a:off x="448056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480560" y="40965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latency (O)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315968" y="4443984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39" name="Shape 33"/>
          <p:cNvSpPr/>
          <p:nvPr/>
        </p:nvSpPr>
        <p:spPr>
          <a:xfrm>
            <a:off x="4315968" y="4443984"/>
            <a:ext cx="73152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4"/>
          <p:cNvSpPr/>
          <p:nvPr/>
        </p:nvSpPr>
        <p:spPr>
          <a:xfrm>
            <a:off x="4480560" y="44897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480560" y="47457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gates + validation (V)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315968" y="5093208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43" name="Shape 37"/>
          <p:cNvSpPr/>
          <p:nvPr/>
        </p:nvSpPr>
        <p:spPr>
          <a:xfrm>
            <a:off x="4315968" y="5093208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38"/>
          <p:cNvSpPr/>
          <p:nvPr/>
        </p:nvSpPr>
        <p:spPr>
          <a:xfrm>
            <a:off x="4480560" y="5138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4480560" y="5394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budget, approval (G)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8275320" y="1874520"/>
            <a:ext cx="3429000" cy="4023360"/>
          </a:xfrm>
          <a:prstGeom prst="rect">
            <a:avLst/>
          </a:prstGeom>
          <a:solidFill>
            <a:srgbClr val="E6FAF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476488" y="20574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8476488" y="20574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HARNESSED AGENT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8458200" y="262432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825496"/>
            <a:ext cx="274320" cy="27432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8951976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only what's needed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8951976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modules, not the repo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8458200" y="340156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3602736"/>
            <a:ext cx="274320" cy="27432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8951976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model per step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8951976" y="3767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premium rarely</a:t>
            </a:r>
            <a:endParaRPr lang="en-US" sz="950" dirty="0"/>
          </a:p>
        </p:txBody>
      </p:sp>
      <p:sp>
        <p:nvSpPr>
          <p:cNvPr id="57" name="Shape 49"/>
          <p:cNvSpPr/>
          <p:nvPr/>
        </p:nvSpPr>
        <p:spPr>
          <a:xfrm>
            <a:off x="8458200" y="417880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4379976"/>
            <a:ext cx="274320" cy="27432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8951976" y="4251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observable</a:t>
            </a:r>
            <a:endParaRPr lang="en-US" sz="1200" dirty="0"/>
          </a:p>
        </p:txBody>
      </p:sp>
      <p:sp>
        <p:nvSpPr>
          <p:cNvPr id="60" name="Text 51"/>
          <p:cNvSpPr/>
          <p:nvPr/>
        </p:nvSpPr>
        <p:spPr>
          <a:xfrm>
            <a:off x="8951976" y="4544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retries, latency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8458200" y="495604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5157216"/>
            <a:ext cx="274320" cy="274320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8951976" y="5029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only verified work</a:t>
            </a:r>
            <a:endParaRPr lang="en-US" sz="1200" dirty="0"/>
          </a:p>
        </p:txBody>
      </p:sp>
      <p:sp>
        <p:nvSpPr>
          <p:cNvPr id="64" name="Text 54"/>
          <p:cNvSpPr/>
          <p:nvPr/>
        </p:nvSpPr>
        <p:spPr>
          <a:xfrm>
            <a:off x="8951976" y="5321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policy + approval</a:t>
            </a:r>
            <a:endParaRPr lang="en-US" sz="95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632" y="3703320"/>
            <a:ext cx="237744" cy="237744"/>
          </a:xfrm>
          <a:prstGeom prst="rect">
            <a:avLst/>
          </a:prstGeom>
        </p:spPr>
      </p:pic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3703320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orchestration frameworks</a:t>
            </a:r>
            <a:endParaRPr lang="en-US" sz="3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566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+ graph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tooling, stateful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Role/team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loops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SDK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Planners, plugins, .NET/Python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RAG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&amp;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Prompt/pipeline compilation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engines — Temporal, Prefect, Dagster, Airflow, and Argo Workflows — provide the durable, retryable execution substrate many production agent lifecycles run 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observability stack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observability layers turn agent runs into measurable, debuggable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286000"/>
            <a:ext cx="352044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tracing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WhyLabs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2286000"/>
            <a:ext cx="3520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experiment mgmt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PromptLayer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platforms &amp; guardrails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serving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Mosaic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 · BentoML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· MLflow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Harness.io (CD/GitOps)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74520"/>
            <a:ext cx="53492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&amp; security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(prompt-injection)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AI (ML security)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AEGIS-style tool firewalls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Harness.io is a CI/CD &amp; software-delivery platform — distinct from the agent-“harness” concept, though increasingly used to ship AI workloads.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automated harness synthesis — the 2026 frontier.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DATABRICKS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— the meta-harness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Databricks' open-source (Apache 2.0) meta-harness sits one level above coding agents, treating each harness as an interchangeable part of a larger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243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wraps Claude Code, Codex, Cursor, Pi &amp; SDKs (plus LangGraph, CrewAI, Agno).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in one 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in a short YAML file; change harness or model without rewriting tools or prompts.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&amp; sandboxing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approval gates, and secure sandboxes keep agents in check.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657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9743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126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live agent session by URL; teammates review, comment &amp; steer together.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sits above the harnesses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OMNIGENT  ·  meta-harness (compose · govern · share)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0688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77656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64624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8904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451592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05872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SDK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(via AI Gateway)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 Databricks: Unity AI Gateway governance + sandboxes. It is the runtime engine behind Agent Bricks.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Automating the harness itself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harness drives reliability, the next step is to optimize or synthesize it automatically — three complementary 2026 approaches: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24328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81635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et al.,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harness design as an end-to-end optimization problem over model-facing infrastructure — a repeatable loop that proposes, validates, and scores improvements to prompts, tools &amp; policies.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262432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816352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AutoHarness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05272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 et al. (DeepMind),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code synthesis to auto-generate runtime constraint harnesses from tool schemas. Gemini-2.5-Flash + AutoHarness eliminated all illegal moves and beat larger models — more capably and cheaply.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67344" y="2624328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816352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1744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Harnesses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381744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NLAH + IHR, 2026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85632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harness control logic as editable natural-language documents, run by an Intelligent Harness Runtime. Domain experts can tune agent orchestration without touching backend code.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Operations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releasing, and operating agents with confidence.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MLOps to LLMOps to AgentOps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42900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version, and deploy models. Data &amp; feature pipelines, model registry, monitoring for drift.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Models as artifacts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5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3483864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262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011680"/>
            <a:ext cx="3429000" cy="10972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prompts, RAG, evals, and inference cost/latency for foundation-model apps.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Prompts + context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827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3483864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412480" y="201168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011680"/>
            <a:ext cx="342900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19"/>
          <p:cNvSpPr/>
          <p:nvPr/>
        </p:nvSpPr>
        <p:spPr>
          <a:xfrm>
            <a:off x="87325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AgentOps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7325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autonomous multi-step agents: trace loops, gate on evals, enforce policy &amp; budgets, human approval.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8732520" y="4526280"/>
            <a:ext cx="2788920" cy="45720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26" name="Text 22"/>
          <p:cNvSpPr/>
          <p:nvPr/>
        </p:nvSpPr>
        <p:spPr>
          <a:xfrm>
            <a:off x="88239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Whole harness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keeps everything from ML/LLMOps and adds trace-level operability, continuous evaluation, and governance for autonomous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progressive release for agents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423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tools, harness as code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2852928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864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2928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62656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suites + regression tests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18888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5065776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96712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231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75504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/ canary on live traffic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031736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18"/>
          <p:cNvSpPr/>
          <p:nvPr/>
        </p:nvSpPr>
        <p:spPr>
          <a:xfrm>
            <a:off x="7278624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09560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42316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8624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88352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+ policy checks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244584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3"/>
          <p:cNvSpPr/>
          <p:nvPr/>
        </p:nvSpPr>
        <p:spPr>
          <a:xfrm>
            <a:off x="9491472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22408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42316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91472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60120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/ progressive rollout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strategies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40080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9"/>
          <p:cNvSpPr/>
          <p:nvPr/>
        </p:nvSpPr>
        <p:spPr>
          <a:xfrm>
            <a:off x="640080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0"/>
          <p:cNvSpPr/>
          <p:nvPr/>
        </p:nvSpPr>
        <p:spPr>
          <a:xfrm>
            <a:off x="868680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68680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small % of traffic to the new agent; watch metrics before scaling.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465576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3"/>
          <p:cNvSpPr/>
          <p:nvPr/>
        </p:nvSpPr>
        <p:spPr>
          <a:xfrm>
            <a:off x="3465576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4"/>
          <p:cNvSpPr/>
          <p:nvPr/>
        </p:nvSpPr>
        <p:spPr>
          <a:xfrm>
            <a:off x="3694176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Blue-Green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694176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old &amp; new side by side; switch and roll back instantly.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291072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37"/>
          <p:cNvSpPr/>
          <p:nvPr/>
        </p:nvSpPr>
        <p:spPr>
          <a:xfrm>
            <a:off x="6291072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Text 38"/>
          <p:cNvSpPr/>
          <p:nvPr/>
        </p:nvSpPr>
        <p:spPr>
          <a:xfrm>
            <a:off x="6519672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6519672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real traffic to the new agent without serving its output.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9116568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1"/>
          <p:cNvSpPr/>
          <p:nvPr/>
        </p:nvSpPr>
        <p:spPr>
          <a:xfrm>
            <a:off x="9116568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9" name="Text 42"/>
          <p:cNvSpPr/>
          <p:nvPr/>
        </p:nvSpPr>
        <p:spPr>
          <a:xfrm>
            <a:off x="9345168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9345168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users to compare quality, cost &amp;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agents: observe, evaluate, respond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everything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full run — prompts, tool calls, retrievals, tokens, latency — as replayable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evaluation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3524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live traffic against rubrics &amp; regression sets; alert on quality regressions, not just errors.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823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latency SLOs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tokens and set service-level objectives; throttle or downgrade models under pressure.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7823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3524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failing traces, roll back the harness version, and add the case to the regression suite.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Adoption, Value &amp; Roadmap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invest — and how to start.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organizations adopt harness engineering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models/harnesses without rewrites; reuse tooling &amp; context across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8658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&amp; 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and eval gates make agent quality measurable and repeatable.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865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6024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SLOs, and rollback turn opaque agents into operable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51713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Risk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sandboxes, and audit satisfy governance and compliance review.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16552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90872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5171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Clients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 and fewer hallucinations build trust and protect ROI.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93024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7344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5171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36024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85632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platform reduces lock-in and scales AI across many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× harness-layer coverage</a:t>
            </a:r>
            <a:endParaRPr lang="en-US" sz="3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5214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/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Braintrust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/ 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Omnigent (meta-harness)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/ Guardrails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/ out of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exhaustive — tool capabilities evolve quickly; validate against current docs.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— not that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77640"/>
          </a:xfrm>
          <a:prstGeom prst="rect">
            <a:avLst/>
          </a:prstGeom>
          <a:solidFill>
            <a:srgbClr val="E6FAF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harness as code — version prompts, tools &amp; policies together.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harness with every eval; capture full traces.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releases on evals; ship progressively (canary/shadow).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context &amp; tokens; design for cost–quality–speed trade-offs.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least-privilege tools, sandboxes, and human approval on risky 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74520"/>
            <a:ext cx="53492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bigger models to fix reliability the harness should handle.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agents on model scores alone (scores are harness-dependent).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validation gates, rollback, or audit trails.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orchestration so it can't be inspected, transferred, or ablated.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tool access with no budgets, permissions, or oversight.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enterprise agent platform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960120"/>
          </a:xfrm>
          <a:prstGeom prst="rect">
            <a:avLst/>
          </a:prstGeom>
          <a:solidFill>
            <a:srgbClr val="223052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202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IDE · API · workflow triggers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6012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(meta-harness)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30175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 · compose &amp; swap harnesses · multi-agent handoffs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9601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206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core · E T C 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41148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· MCP tools · RAG + memory · agent loop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9601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· O V 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52120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evals · guardrails · Unity/AI-gateway governance · audit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1920240"/>
            <a:ext cx="109728" cy="4251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&amp; secrets stay in your cloud; the platform stays portable and governed end-to-end.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harness engineering is heading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700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harnesses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AutoHarness-style synthesis tune scaffolding automatically from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700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control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NL harness documents let domain experts steer agents without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800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interfaces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5740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A2A, and common harness APIs make agents and harnesses interchangeable.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8006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factories &amp; platforms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8952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of governed agents managed as a portfolio on shared enterprise platforms.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is the product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48840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22768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lives in the harness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harness = very different results. Engineer the whole runtime.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27832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27832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11680" y="3355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ETCLOVG as your checklist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execution, tools, context, lifecycle, observability, verification &amp; governance.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306824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06824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011680" y="4434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a meta-harness early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80974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layers let you compose, govern &amp; swap agents without rewrites.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2148840"/>
            <a:ext cx="3794760" cy="3255264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2148840"/>
            <a:ext cx="3794760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roadmap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834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tracing + evals on one agent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gates &amp; rollback to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meta-harness layer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governance: policy, budgets, audit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further reading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Engineering: A Survey” — ETCLOVG seven-layer taxonomy (OpenReview,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for LLM Agents: A Survey” — six-component model H=(E,T,C,S,L,V); Awesome-Agent-Harness catalog.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“Introducing Omnigent: A Meta-Harness to Combine, Control and Share Your Agents” (Databricks Blog &amp; docs,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— “Meta-Harness: End-to-End Optimization of Model Harnesses” (arXiv,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et al. — “AutoHarness: Improving LLM Agents by Automatically Synthesizing a Code Harness” (arXiv 2603.03329,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“Natural-Language Agent Harnesses” + Intelligent Harness Runtime (arXiv 2603.25723,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“Harness engineering: leveraging Codex in an agent-first world” (OpenAI Blog, 2026).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 and capabilities are current as of mid-2026 and evolve quickly; verify against primary sources before architectural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for AI</dc:title>
  <dc:subject>PptxGenJS Presentation</dc:subject>
  <dc:creator>AI Platform Engineering</dc:creator>
  <cp:lastModifiedBy>AI Platform Engineering</cp:lastModifiedBy>
  <cp:revision>1</cp:revision>
  <dcterms:created xsi:type="dcterms:W3CDTF">2026-07-29T12:33:46Z</dcterms:created>
  <dcterms:modified xsi:type="dcterms:W3CDTF">2026-07-29T12:33:46Z</dcterms:modified>
</cp:coreProperties>
</file>