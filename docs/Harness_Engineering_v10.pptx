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329" r:id="rId19"/>
    <p:sldId id="280" r:id="rId20"/>
    <p:sldId id="281" r:id="rId21"/>
    <p:sldId id="282" r:id="rId22"/>
    <p:sldId id="283" r:id="rId23"/>
    <p:sldId id="284" r:id="rId24"/>
    <p:sldId id="285" r:id="rId25"/>
    <p:sldId id="294" r:id="rId26"/>
    <p:sldId id="295" r:id="rId27"/>
    <p:sldId id="330" r:id="rId28"/>
    <p:sldId id="341" r:id="rId29"/>
    <p:sldId id="342" r:id="rId30"/>
    <p:sldId id="343" r:id="rId31"/>
    <p:sldId id="286" r:id="rId32"/>
    <p:sldId id="339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54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81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6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2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6366F1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98480" y="4297680"/>
            <a:ext cx="2834640" cy="2834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16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AI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AI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868680" y="43434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layer around the model — how reliable, governable AI agents are actually built, evaluated, and shipped to production.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1152144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5806440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76856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276856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95344" y="5806440"/>
            <a:ext cx="230886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95344" y="5806440"/>
            <a:ext cx="23088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Omnigent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60236" y="5806440"/>
            <a:ext cx="178308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60236" y="58064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99348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99348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468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context to harness engineering — and why it matters.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8056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688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Layers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5488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seven-layer anatomy of a production agent harness.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2104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32104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59536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4688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9536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Landscape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59536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workflow, eval, deployment &amp; guardrail ecosystems.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4008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1440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507992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440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1440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Omnigent, Meta-Harness, AutoHarness &amp; natural-language harnesses.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48056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48056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75488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507992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75488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Roadmap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475488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value, best practices, and how to get started.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832104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Shape 34"/>
          <p:cNvSpPr/>
          <p:nvPr/>
        </p:nvSpPr>
        <p:spPr>
          <a:xfrm>
            <a:off x="832104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859536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507992"/>
            <a:ext cx="365760" cy="3657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59536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Landscape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859536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building blocks the community has shipped — study, adopt, extend.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shift: prompt → context → harness engineering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moved from demos to production, the engineering focus climbed the stack. Each phase kept the previous one and added a new layer of control.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788920"/>
            <a:ext cx="868680" cy="86868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9992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~2022–23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instruction. Focus on wording, examples, and formatting to steer a single model call.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965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895344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262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2788920"/>
            <a:ext cx="868680" cy="8686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9992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~2023–24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8463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what the model sees. Retrieval, memory, and context budgets assemble the right information.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827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895344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412480" y="242316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732520" y="278892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2999232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870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2025–26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7325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87325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whole runtime around the model: execution, tools, orchestration, verification, governance.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additive — harness engineering subsumes the earlier ones as the new frontier of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harness engineering exists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</a:t>
            </a: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</a:t>
            </a:r>
            <a:r>
              <a:rPr lang="en-US" sz="3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</a:t>
            </a: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Harness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0" y="16002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reasons. The harness does everything else — and it is the primary determinant of reliability at scale.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19856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 / unsafe actions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models attempt actions the environment forbids. In one chess benchmark, 78% of a model's losses came from illegal moves.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65576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65576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21608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34198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21608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state or memory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721608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tasks lose context ("context rot"); the agent forgets goals and repeats work.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91072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91072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547104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3419856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47104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Unverifiable output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47104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 gates and traces, you can't tell whether a run succeeded or why it failed.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116568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9116568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372600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48" y="341985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72600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Ungoverned &amp; unshippable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72600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permissions, budgets, or audit means it never clears security or production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seven-layer taxonomy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map of what a complete harness contains. The first four layers are the structural core; the last three are the control plane that makes a system inspectable, measurable, and safe.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Sandboxes, runtimes &amp; where code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02152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30752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99432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58184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schemas, APIs &amp; MCP interfaces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92824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92824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61504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0256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memory &amp; context budgets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54896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54896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23576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82328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&amp; orchestration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96112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37360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logging, cost &amp; latency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53128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50408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550408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validation gates &amp; feedback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66176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blurRad="1143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22208" y="527608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22208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363456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363456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policy, audit &amp; human oversight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 IN PRACTICE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harness types you'll deploy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459736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Harness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runs against datasets &amp; rubrics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65576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39896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2459736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Harness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39896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scenario tests for agents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91072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65392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459736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Harness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65392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reason–act–observe loop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16568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90888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2459736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Harness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90888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handoffs &amp; shared state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498848"/>
            <a:ext cx="374904" cy="374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/ Memory Harness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14400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short &amp; long-term memory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465576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739896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064" y="4498848"/>
            <a:ext cx="374904" cy="3749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39896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Harness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3739896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Serving, scaling &amp; versioning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91072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565392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4498848"/>
            <a:ext cx="374904" cy="3749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5392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/ Guardrail Harness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6565392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filters &amp; constraints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116568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9390888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2056" y="4498848"/>
            <a:ext cx="374904" cy="37490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90888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Harness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9390888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audit &amp;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Framework Landscape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 and commercial ecosystem, mapped to harness layers.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FRAMEWORK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 · Orchestrate · Verify · Govern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way to group the seven ETCLOVG layers into four pillars — each with real open-source projects and platforms.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5532120" cy="5669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677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21214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CONTAIN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49040" y="21214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it &amp; give scoped tools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370457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70457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86968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105281" y="3364992"/>
            <a:ext cx="713232" cy="1645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05281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7" name="Shape 14"/>
          <p:cNvSpPr/>
          <p:nvPr/>
        </p:nvSpPr>
        <p:spPr>
          <a:xfrm>
            <a:off x="2164842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66619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666619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183130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Firecracker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401443" y="3364992"/>
            <a:ext cx="713232" cy="1645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401443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3461004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962781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962781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9292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gVisor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97605" y="3364992"/>
            <a:ext cx="713232" cy="1645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97605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29" name="Shape 26"/>
          <p:cNvSpPr/>
          <p:nvPr/>
        </p:nvSpPr>
        <p:spPr>
          <a:xfrm>
            <a:off x="4757166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258943" y="292608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258943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75454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192192" y="3364992"/>
            <a:ext cx="316382" cy="1645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192192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868680" y="3657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· Daytona · Northflank · Fly Machines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428232" y="2121408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428232" y="2121408"/>
            <a:ext cx="5532120" cy="566928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267712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031736" y="21214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ORCHESTRATE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9537192" y="21214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the agent loop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656832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7158609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7158609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6675120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091858" y="3364992"/>
            <a:ext cx="316382" cy="16459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7091858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47" name="Shape 43"/>
          <p:cNvSpPr/>
          <p:nvPr/>
        </p:nvSpPr>
        <p:spPr>
          <a:xfrm>
            <a:off x="7952994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8454771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8454771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971282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8388020" y="3364992"/>
            <a:ext cx="316382" cy="16459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8388020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9249156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9750933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9750933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9267444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9684182" y="3364992"/>
            <a:ext cx="316382" cy="16459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9684182" y="3364992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59" name="Shape 55"/>
          <p:cNvSpPr/>
          <p:nvPr/>
        </p:nvSpPr>
        <p:spPr>
          <a:xfrm>
            <a:off x="10545318" y="2834640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11047095" y="292608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11047095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10563606" y="3136392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10781919" y="3364992"/>
            <a:ext cx="713232" cy="16459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10781919" y="33649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65" name="Text 61"/>
          <p:cNvSpPr/>
          <p:nvPr/>
        </p:nvSpPr>
        <p:spPr>
          <a:xfrm>
            <a:off x="6656832" y="3657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· Vertex · Azure AI Foundry · Mosaic AI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640080" y="4389120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640080" y="4389120"/>
            <a:ext cx="55321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535424"/>
            <a:ext cx="274320" cy="274320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1243584" y="4389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VERIFY</a:t>
            </a:r>
            <a:endParaRPr lang="en-US" sz="1600" dirty="0"/>
          </a:p>
        </p:txBody>
      </p:sp>
      <p:sp>
        <p:nvSpPr>
          <p:cNvPr id="70" name="Text 65"/>
          <p:cNvSpPr/>
          <p:nvPr/>
        </p:nvSpPr>
        <p:spPr>
          <a:xfrm>
            <a:off x="3749040" y="43891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run, gate on evals</a:t>
            </a:r>
            <a:endParaRPr lang="en-US" sz="1050" dirty="0"/>
          </a:p>
        </p:txBody>
      </p:sp>
      <p:sp>
        <p:nvSpPr>
          <p:cNvPr id="71" name="Shape 66"/>
          <p:cNvSpPr/>
          <p:nvPr/>
        </p:nvSpPr>
        <p:spPr>
          <a:xfrm>
            <a:off x="868680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7"/>
          <p:cNvSpPr/>
          <p:nvPr/>
        </p:nvSpPr>
        <p:spPr>
          <a:xfrm>
            <a:off x="1370457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8"/>
          <p:cNvSpPr/>
          <p:nvPr/>
        </p:nvSpPr>
        <p:spPr>
          <a:xfrm>
            <a:off x="1370457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886968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1303706" y="5632704"/>
            <a:ext cx="316382" cy="1645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/>
          <p:nvPr/>
        </p:nvSpPr>
        <p:spPr>
          <a:xfrm>
            <a:off x="1303706" y="5632704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77" name="Shape 72"/>
          <p:cNvSpPr/>
          <p:nvPr/>
        </p:nvSpPr>
        <p:spPr>
          <a:xfrm>
            <a:off x="2164842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3"/>
          <p:cNvSpPr/>
          <p:nvPr/>
        </p:nvSpPr>
        <p:spPr>
          <a:xfrm>
            <a:off x="2666619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4"/>
          <p:cNvSpPr/>
          <p:nvPr/>
        </p:nvSpPr>
        <p:spPr>
          <a:xfrm>
            <a:off x="2666619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80" name="Text 75"/>
          <p:cNvSpPr/>
          <p:nvPr/>
        </p:nvSpPr>
        <p:spPr>
          <a:xfrm>
            <a:off x="2183130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2401443" y="5632704"/>
            <a:ext cx="713232" cy="1645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/>
          <p:nvPr/>
        </p:nvSpPr>
        <p:spPr>
          <a:xfrm>
            <a:off x="2401443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83" name="Shape 78"/>
          <p:cNvSpPr/>
          <p:nvPr/>
        </p:nvSpPr>
        <p:spPr>
          <a:xfrm>
            <a:off x="3461004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79"/>
          <p:cNvSpPr/>
          <p:nvPr/>
        </p:nvSpPr>
        <p:spPr>
          <a:xfrm>
            <a:off x="3962781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0"/>
          <p:cNvSpPr/>
          <p:nvPr/>
        </p:nvSpPr>
        <p:spPr>
          <a:xfrm>
            <a:off x="3962781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86" name="Text 81"/>
          <p:cNvSpPr/>
          <p:nvPr/>
        </p:nvSpPr>
        <p:spPr>
          <a:xfrm>
            <a:off x="3479292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850" dirty="0"/>
          </a:p>
        </p:txBody>
      </p:sp>
      <p:sp>
        <p:nvSpPr>
          <p:cNvPr id="87" name="Shape 82"/>
          <p:cNvSpPr/>
          <p:nvPr/>
        </p:nvSpPr>
        <p:spPr>
          <a:xfrm>
            <a:off x="3697605" y="5632704"/>
            <a:ext cx="713232" cy="1645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3"/>
          <p:cNvSpPr/>
          <p:nvPr/>
        </p:nvSpPr>
        <p:spPr>
          <a:xfrm>
            <a:off x="3697605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89" name="Shape 84"/>
          <p:cNvSpPr/>
          <p:nvPr/>
        </p:nvSpPr>
        <p:spPr>
          <a:xfrm>
            <a:off x="4757166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5"/>
          <p:cNvSpPr/>
          <p:nvPr/>
        </p:nvSpPr>
        <p:spPr>
          <a:xfrm>
            <a:off x="5258943" y="519379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6"/>
          <p:cNvSpPr/>
          <p:nvPr/>
        </p:nvSpPr>
        <p:spPr>
          <a:xfrm>
            <a:off x="5258943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92" name="Text 87"/>
          <p:cNvSpPr/>
          <p:nvPr/>
        </p:nvSpPr>
        <p:spPr>
          <a:xfrm>
            <a:off x="4775454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850" dirty="0"/>
          </a:p>
        </p:txBody>
      </p:sp>
      <p:sp>
        <p:nvSpPr>
          <p:cNvPr id="93" name="Shape 88"/>
          <p:cNvSpPr/>
          <p:nvPr/>
        </p:nvSpPr>
        <p:spPr>
          <a:xfrm>
            <a:off x="5192192" y="5632704"/>
            <a:ext cx="316382" cy="1645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/>
          <p:nvPr/>
        </p:nvSpPr>
        <p:spPr>
          <a:xfrm>
            <a:off x="5192192" y="5632704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95" name="Text 90"/>
          <p:cNvSpPr/>
          <p:nvPr/>
        </p:nvSpPr>
        <p:spPr>
          <a:xfrm>
            <a:off x="868680" y="5925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Braintrust · Arize · Galileo</a:t>
            </a:r>
            <a:endParaRPr lang="en-US" sz="950" dirty="0"/>
          </a:p>
        </p:txBody>
      </p:sp>
      <p:sp>
        <p:nvSpPr>
          <p:cNvPr id="96" name="Shape 91"/>
          <p:cNvSpPr/>
          <p:nvPr/>
        </p:nvSpPr>
        <p:spPr>
          <a:xfrm>
            <a:off x="6428232" y="4389120"/>
            <a:ext cx="5532120" cy="20848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Shape 92"/>
          <p:cNvSpPr/>
          <p:nvPr/>
        </p:nvSpPr>
        <p:spPr>
          <a:xfrm>
            <a:off x="6428232" y="4389120"/>
            <a:ext cx="5532120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535424"/>
            <a:ext cx="274320" cy="274320"/>
          </a:xfrm>
          <a:prstGeom prst="rect">
            <a:avLst/>
          </a:prstGeom>
        </p:spPr>
      </p:pic>
      <p:sp>
        <p:nvSpPr>
          <p:cNvPr id="99" name="Text 93"/>
          <p:cNvSpPr/>
          <p:nvPr/>
        </p:nvSpPr>
        <p:spPr>
          <a:xfrm>
            <a:off x="7031736" y="4389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GOVERN</a:t>
            </a:r>
            <a:endParaRPr lang="en-US" sz="1600" dirty="0"/>
          </a:p>
        </p:txBody>
      </p:sp>
      <p:sp>
        <p:nvSpPr>
          <p:cNvPr id="100" name="Text 94"/>
          <p:cNvSpPr/>
          <p:nvPr/>
        </p:nvSpPr>
        <p:spPr>
          <a:xfrm>
            <a:off x="9537192" y="43891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guardrails &amp; approval</a:t>
            </a:r>
            <a:endParaRPr lang="en-US" sz="1050" dirty="0"/>
          </a:p>
        </p:txBody>
      </p:sp>
      <p:sp>
        <p:nvSpPr>
          <p:cNvPr id="101" name="Shape 95"/>
          <p:cNvSpPr/>
          <p:nvPr/>
        </p:nvSpPr>
        <p:spPr>
          <a:xfrm>
            <a:off x="6656832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6"/>
          <p:cNvSpPr/>
          <p:nvPr/>
        </p:nvSpPr>
        <p:spPr>
          <a:xfrm>
            <a:off x="7158609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97"/>
          <p:cNvSpPr/>
          <p:nvPr/>
        </p:nvSpPr>
        <p:spPr>
          <a:xfrm>
            <a:off x="7158609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4" name="Text 98"/>
          <p:cNvSpPr/>
          <p:nvPr/>
        </p:nvSpPr>
        <p:spPr>
          <a:xfrm>
            <a:off x="6675120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</a:t>
            </a:r>
            <a:endParaRPr lang="en-US" sz="850" dirty="0"/>
          </a:p>
        </p:txBody>
      </p:sp>
      <p:sp>
        <p:nvSpPr>
          <p:cNvPr id="105" name="Shape 99"/>
          <p:cNvSpPr/>
          <p:nvPr/>
        </p:nvSpPr>
        <p:spPr>
          <a:xfrm>
            <a:off x="6893433" y="5632704"/>
            <a:ext cx="71323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0"/>
          <p:cNvSpPr/>
          <p:nvPr/>
        </p:nvSpPr>
        <p:spPr>
          <a:xfrm>
            <a:off x="6893433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07" name="Shape 101"/>
          <p:cNvSpPr/>
          <p:nvPr/>
        </p:nvSpPr>
        <p:spPr>
          <a:xfrm>
            <a:off x="7952994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2"/>
          <p:cNvSpPr/>
          <p:nvPr/>
        </p:nvSpPr>
        <p:spPr>
          <a:xfrm>
            <a:off x="8454771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3"/>
          <p:cNvSpPr/>
          <p:nvPr/>
        </p:nvSpPr>
        <p:spPr>
          <a:xfrm>
            <a:off x="8454771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110" name="Text 104"/>
          <p:cNvSpPr/>
          <p:nvPr/>
        </p:nvSpPr>
        <p:spPr>
          <a:xfrm>
            <a:off x="7971282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111" name="Shape 105"/>
          <p:cNvSpPr/>
          <p:nvPr/>
        </p:nvSpPr>
        <p:spPr>
          <a:xfrm>
            <a:off x="8189595" y="5632704"/>
            <a:ext cx="71323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06"/>
          <p:cNvSpPr/>
          <p:nvPr/>
        </p:nvSpPr>
        <p:spPr>
          <a:xfrm>
            <a:off x="8189595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13" name="Shape 107"/>
          <p:cNvSpPr/>
          <p:nvPr/>
        </p:nvSpPr>
        <p:spPr>
          <a:xfrm>
            <a:off x="9249156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08"/>
          <p:cNvSpPr/>
          <p:nvPr/>
        </p:nvSpPr>
        <p:spPr>
          <a:xfrm>
            <a:off x="9750933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9"/>
          <p:cNvSpPr/>
          <p:nvPr/>
        </p:nvSpPr>
        <p:spPr>
          <a:xfrm>
            <a:off x="9750933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116" name="Text 110"/>
          <p:cNvSpPr/>
          <p:nvPr/>
        </p:nvSpPr>
        <p:spPr>
          <a:xfrm>
            <a:off x="9267444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850" dirty="0"/>
          </a:p>
        </p:txBody>
      </p:sp>
      <p:sp>
        <p:nvSpPr>
          <p:cNvPr id="117" name="Shape 111"/>
          <p:cNvSpPr/>
          <p:nvPr/>
        </p:nvSpPr>
        <p:spPr>
          <a:xfrm>
            <a:off x="9485757" y="5632704"/>
            <a:ext cx="71323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2"/>
          <p:cNvSpPr/>
          <p:nvPr/>
        </p:nvSpPr>
        <p:spPr>
          <a:xfrm>
            <a:off x="9485757" y="563270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660" dirty="0"/>
          </a:p>
        </p:txBody>
      </p:sp>
      <p:sp>
        <p:nvSpPr>
          <p:cNvPr id="119" name="Shape 113"/>
          <p:cNvSpPr/>
          <p:nvPr/>
        </p:nvSpPr>
        <p:spPr>
          <a:xfrm>
            <a:off x="10545318" y="5102352"/>
            <a:ext cx="118643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4"/>
          <p:cNvSpPr/>
          <p:nvPr/>
        </p:nvSpPr>
        <p:spPr>
          <a:xfrm>
            <a:off x="11047095" y="51937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5"/>
          <p:cNvSpPr/>
          <p:nvPr/>
        </p:nvSpPr>
        <p:spPr>
          <a:xfrm>
            <a:off x="11047095" y="5193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22" name="Text 116"/>
          <p:cNvSpPr/>
          <p:nvPr/>
        </p:nvSpPr>
        <p:spPr>
          <a:xfrm>
            <a:off x="10563606" y="5404104"/>
            <a:ext cx="1149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</a:t>
            </a:r>
            <a:endParaRPr lang="en-US" sz="850" dirty="0"/>
          </a:p>
        </p:txBody>
      </p:sp>
      <p:sp>
        <p:nvSpPr>
          <p:cNvPr id="123" name="Shape 117"/>
          <p:cNvSpPr/>
          <p:nvPr/>
        </p:nvSpPr>
        <p:spPr>
          <a:xfrm>
            <a:off x="10980344" y="5632704"/>
            <a:ext cx="31638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8"/>
          <p:cNvSpPr/>
          <p:nvPr/>
        </p:nvSpPr>
        <p:spPr>
          <a:xfrm>
            <a:off x="10980344" y="5632704"/>
            <a:ext cx="316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660" dirty="0"/>
          </a:p>
        </p:txBody>
      </p:sp>
      <p:sp>
        <p:nvSpPr>
          <p:cNvPr id="125" name="Text 119"/>
          <p:cNvSpPr/>
          <p:nvPr/>
        </p:nvSpPr>
        <p:spPr>
          <a:xfrm>
            <a:off x="6656832" y="5925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 </a:t>
            </a: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· Protect AI · Robust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WIDER TOOLCHAIN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of the harness ecosystem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four pillars — the fuller open-source toolchain, grouped by where it fits in the harness.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91440" cy="196596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2494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workflow frameworks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706624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706624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61718" y="2706624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61718" y="27066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2774" y="2706624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2774" y="270662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1494" y="2706624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41494" y="2706624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145536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42186" y="3145536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42186" y="31455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30906" y="3145536"/>
            <a:ext cx="10789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30906" y="31455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9626" y="3145536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19626" y="3145536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584448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3584448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61718" y="3584448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61718" y="3584448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09037" y="3584448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09037" y="3584448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56355" y="3584448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56355" y="3584448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210312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91072" y="2103120"/>
            <a:ext cx="91440" cy="196596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65392" y="22494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Context, memory &amp; serving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65392" y="2706624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65392" y="270662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32243" y="2706624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32243" y="2706624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60029" y="2706624"/>
            <a:ext cx="51572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60029" y="2706624"/>
            <a:ext cx="5157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85478" y="2706624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085478" y="2706624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LMCache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32797" y="2706624"/>
            <a:ext cx="59618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032797" y="2706624"/>
            <a:ext cx="5961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65392" y="3145536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65392" y="3145536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32243" y="3145536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32243" y="314553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0496" y="3145536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540496" y="3145536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87814" y="3145536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487814" y="3145536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354666" y="3145536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354666" y="3145536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Repomix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65392" y="3584448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65392" y="3584448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" y="425196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0080" y="4251960"/>
            <a:ext cx="91440" cy="19659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14400" y="43982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Eval, tracing &amp; observability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14400" y="4855464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14400" y="4855464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861718" y="4855464"/>
            <a:ext cx="132039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861718" y="4855464"/>
            <a:ext cx="1320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91840" y="4855464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91840" y="4855464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400093" y="4855464"/>
            <a:ext cx="91805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400093" y="4855464"/>
            <a:ext cx="91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14400" y="5294376"/>
            <a:ext cx="8375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14400" y="5294376"/>
            <a:ext cx="837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861718" y="5294376"/>
            <a:ext cx="123992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861718" y="5294376"/>
            <a:ext cx="12399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11373" y="5294376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11373" y="529437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 Weave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319626" y="5294376"/>
            <a:ext cx="99852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319626" y="5294376"/>
            <a:ext cx="9985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291072" y="4251960"/>
            <a:ext cx="5394960" cy="1965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291072" y="4251960"/>
            <a:ext cx="91440" cy="1965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565392" y="43982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Guardrails, policy &amp; security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6565392" y="4855464"/>
            <a:ext cx="115945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565392" y="4855464"/>
            <a:ext cx="11594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834579" y="4855464"/>
            <a:ext cx="757123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834579" y="4855464"/>
            <a:ext cx="757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Rebuff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701430" y="4855464"/>
            <a:ext cx="67665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701430" y="4855464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487814" y="4855464"/>
            <a:ext cx="1159459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487814" y="4855464"/>
            <a:ext cx="11594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PromptGuard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65392" y="5294376"/>
            <a:ext cx="1561795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565392" y="5294376"/>
            <a:ext cx="15617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/ Gatekeeper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236915" y="5294376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236915" y="529437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565392" y="5733288"/>
            <a:ext cx="1803197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565392" y="5733288"/>
            <a:ext cx="18031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· REAL 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on every run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moves through contain → orchestrate → verify → govern. Failures retry or escalate; only verified, approved work ships.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2697480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807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limits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38528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48256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450592" y="2697480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80720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48256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48256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346704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456432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858768" y="26974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496" y="280720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56432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56432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MCP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64608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266944" y="269748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80720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64608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64608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sandbox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163056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272784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6675120" y="269748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80720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272784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272784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+ cost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571232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680960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8083296" y="269748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280720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80960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680960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979408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9089136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9491472" y="269748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2807208"/>
            <a:ext cx="292608" cy="29260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089136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9089136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OK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10387584" y="3136392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10497312" y="2514600"/>
            <a:ext cx="1316736" cy="1371600"/>
          </a:xfrm>
          <a:prstGeom prst="rect">
            <a:avLst/>
          </a:prstGeom>
          <a:solidFill>
            <a:srgbClr val="F1F5F9"/>
          </a:solidFill>
          <a:ln w="158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10899648" y="269748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9376" y="2807208"/>
            <a:ext cx="292608" cy="29260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497312" y="3273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10497312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40080" y="4251960"/>
            <a:ext cx="530352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↺  Retry / re-plan</a:t>
            </a:r>
            <a:endParaRPr lang="en-US" sz="1400" dirty="0"/>
          </a:p>
        </p:txBody>
      </p:sp>
      <p:sp>
        <p:nvSpPr>
          <p:cNvPr id="55" name="Text 45"/>
          <p:cNvSpPr/>
          <p:nvPr/>
        </p:nvSpPr>
        <p:spPr>
          <a:xfrm>
            <a:off x="868680" y="47091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Observe or Verify fails, the loop re-plans or retries with a different tool or model — bounded by a budget so it can't spin forever.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6172200" y="4251960"/>
            <a:ext cx="5349240" cy="1280160"/>
          </a:xfrm>
          <a:prstGeom prst="rect">
            <a:avLst/>
          </a:prstGeom>
          <a:solidFill>
            <a:srgbClr val="E6FAF6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7"/>
          <p:cNvSpPr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Escalate on evidence</a:t>
            </a:r>
            <a:endParaRPr lang="en-US" sz="1400" dirty="0"/>
          </a:p>
        </p:txBody>
      </p:sp>
      <p:sp>
        <p:nvSpPr>
          <p:cNvPr id="58" name="Text 48"/>
          <p:cNvSpPr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reasoning and human approval are escalation paths triggered by complexity, risk, or a failed check — not the default road.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raw model call to a harnessed agent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429000" cy="4023360"/>
          </a:xfrm>
          <a:prstGeom prst="rect">
            <a:avLst/>
          </a:prstGeom>
          <a:solidFill>
            <a:srgbClr val="FEF2F2"/>
          </a:solidFill>
          <a:ln w="1587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0574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MODEL CALL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82549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3856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Scans the whole repo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3856" y="2990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context than needed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340156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6027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3856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wide open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33856" y="3767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from step one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417880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7997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33856" y="4251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model by default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3856" y="4544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reasoning for trivial steps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495604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1572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33856" y="5029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trace, no gate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33856" y="5321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“hope it worked”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114800" y="1874520"/>
            <a:ext cx="3931920" cy="402336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114800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 ·  ETCLOVG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15968" y="2496312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315968" y="2496312"/>
            <a:ext cx="73152" cy="5486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480560" y="2542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480560" y="279806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scoped tools (E,T)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315968" y="3145536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315968" y="3145536"/>
            <a:ext cx="73152" cy="54864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480560" y="31912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480560" y="344728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memory, loop (C,L)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315968" y="3794760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315968" y="3794760"/>
            <a:ext cx="73152" cy="5486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48056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480560" y="409651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latency (O)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315968" y="4443984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4315968" y="4443984"/>
            <a:ext cx="73152" cy="5486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4480560" y="44897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4480560" y="47457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gates + validation (V)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4315968" y="5093208"/>
            <a:ext cx="3529584" cy="54864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4315968" y="5093208"/>
            <a:ext cx="73152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4480560" y="5138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4480560" y="5394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budget, approval (G)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8275320" y="1874520"/>
            <a:ext cx="3429000" cy="4023360"/>
          </a:xfrm>
          <a:prstGeom prst="rect">
            <a:avLst/>
          </a:prstGeom>
          <a:solidFill>
            <a:srgbClr val="E6FAF6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8476488" y="20574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8476488" y="20574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HARNESSED AGENT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8458200" y="262432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2825496"/>
            <a:ext cx="274320" cy="27432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8951976" y="2697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only what's needed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8951976" y="2990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modules, not the repo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8458200" y="340156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3602736"/>
            <a:ext cx="274320" cy="27432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8951976" y="3474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model per step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8951976" y="37673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premium rarely</a:t>
            </a:r>
            <a:endParaRPr lang="en-US" sz="950" dirty="0"/>
          </a:p>
        </p:txBody>
      </p:sp>
      <p:sp>
        <p:nvSpPr>
          <p:cNvPr id="57" name="Shape 49"/>
          <p:cNvSpPr/>
          <p:nvPr/>
        </p:nvSpPr>
        <p:spPr>
          <a:xfrm>
            <a:off x="8458200" y="417880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4379976"/>
            <a:ext cx="274320" cy="27432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8951976" y="4251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observable</a:t>
            </a:r>
            <a:endParaRPr lang="en-US" sz="1200" dirty="0"/>
          </a:p>
        </p:txBody>
      </p:sp>
      <p:sp>
        <p:nvSpPr>
          <p:cNvPr id="60" name="Text 51"/>
          <p:cNvSpPr/>
          <p:nvPr/>
        </p:nvSpPr>
        <p:spPr>
          <a:xfrm>
            <a:off x="8951976" y="4544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cost, retries, latency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8458200" y="4956048"/>
            <a:ext cx="3063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5157216"/>
            <a:ext cx="274320" cy="274320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8951976" y="5029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only verified work</a:t>
            </a:r>
            <a:endParaRPr lang="en-US" sz="1200" dirty="0"/>
          </a:p>
        </p:txBody>
      </p:sp>
      <p:sp>
        <p:nvSpPr>
          <p:cNvPr id="64" name="Text 54"/>
          <p:cNvSpPr/>
          <p:nvPr/>
        </p:nvSpPr>
        <p:spPr>
          <a:xfrm>
            <a:off x="8951976" y="5321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policy + approval</a:t>
            </a:r>
            <a:endParaRPr lang="en-US" sz="950" dirty="0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3703320"/>
            <a:ext cx="237744" cy="237744"/>
          </a:xfrm>
          <a:prstGeom prst="rect">
            <a:avLst/>
          </a:prstGeom>
        </p:spPr>
      </p:pic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703320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orchestration frameworks</a:t>
            </a:r>
            <a:endParaRPr lang="en-US" sz="3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9044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+ graph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Lifecycle, tooling, stateful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Role/team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loops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SDK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Planners, plugins, .NET/Python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RAG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&amp;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Prompt/pipeline compilation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engines — Temporal, Prefect, Dagster, Airflow, and Argo Workflows — provide the durable, retryable execution substrate many production agent lifecycles run 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observability stack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observability layers turn agent runs into measurable, debuggable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520440" cy="6400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6552" y="2286000"/>
            <a:ext cx="3520440" cy="6400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5152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tracing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WhyLabs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93024" y="2286000"/>
            <a:ext cx="352044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21624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experiment mgmt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PromptLayer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platforms &amp; guardrails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6858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serving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Mosaic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 · BentoML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· MLflow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Harness.io (CD/GitOps)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&amp; security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(prompt-injection)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AI (ML security)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AEGIS-style tool firewalls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Harness.io is a CI/CD &amp; software-delivery platform — distinct from the agent-“harness” concept, though increasingly used to ship AI workloads.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automated harness synthesis — the 2026 frontier.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DATABRICKS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— the meta-harness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Databricks' open-source (Apache 2.0) meta-harness sits one level above coding agents, treating each harness as an interchangeable part of a larger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243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wraps Claude Code, Codex, Cursor, Pi &amp; SDKs (plus LangGraph, CrewAI, Agno).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in one 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 in a short YAML file; change harness or model without rewriting tools or prompts.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 &amp; sandboxing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4165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approval gates, and secure sandboxes keep agents in check.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6577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9743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126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live agent session by URL; teammates review, comment &amp; steer together.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2395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sits above the harnesses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OMNIGENT  ·  meta-harness (compose · govern · share)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90688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44968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77656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31936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64624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18904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451592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05872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SDK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(via AI Gateway)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 Databricks: Unity AI Gateway governance + sandboxes. It is the runtime engine behind Agent Bricks.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RESEARCH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Automating the harness itself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harness drives reliability, the next step is to optimize or synthesize it automatically — three complementary 2026 approaches: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624328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81635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Meta-Harness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et al.,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harness design as an end-to-end optimization problem over model-facing infrastructure — a repeatable loop that proposes, validates, and scores improvements to prompts, tools &amp; policies.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90872" y="262432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16352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5272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AutoHarness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05272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 et al. (DeepMind), 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code synthesis to auto-generate runtime constraint harnesses from tool schemas. Gemini-2.5-Flash + AutoHarness eliminated all illegal moves and beat larger models — more capably and cheaply.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467344" y="2624328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2816352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81744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Harnesses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381744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NLAH + IHR, 2026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85632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harness control logic as editable natural-language documents, run by an Intelligent Harness Runtime. Domain experts can tune agent orchestration without touching backend code.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 · DYNAMIC WORKFLOWS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agent writes its own harness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 (Opus 4.8+), the keyword </a:t>
            </a: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“ultracode”</a:t>
            </a: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Claude to generate a JavaScript workflow that spawns &amp; coordinates fresh Claude instances — each with a clean context and one isolated goal.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primitives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349240" cy="6583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3152" cy="6583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272491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subagent — optionally forcing schema-validated JSON output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5349240" cy="6583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73152" cy="6583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3474720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tasks out and merge behind a barrier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51376"/>
            <a:ext cx="5349240" cy="6583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73152" cy="6583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22452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422452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each item through every stage, no barrier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2860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Fixes three single-context failure modes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2651760"/>
            <a:ext cx="534924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843784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6656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laziness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66560" y="2999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partial progress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72200" y="3401568"/>
            <a:ext cx="534924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593592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665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Self-preferential bias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76656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its own work too kindly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172200" y="4151376"/>
            <a:ext cx="534924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34340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665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drift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766560" y="44988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erode across turns &amp; compaction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40080" y="5029200"/>
            <a:ext cx="10881360" cy="804672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868680" y="502920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context per goal removes the conflict of interest.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subagent to a model (Haiku easy · Opus hard), isolate in a git worktree, resume after interruption, and cap token spend right in the prompt.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harn.app Knowledge Base (harn.app/kb) · Dynamic Workflows in Claude Code (Anthropic)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16171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Adoption, Value &amp; Roadmap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invest — and how to start.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VALUE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organizations adopt harness engineering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386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models/harnesses without rewrites; reuse tooling &amp; context across agents.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90872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38658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&amp; Eval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 and eval gates make agent quality measurable and repeatable.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67344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8658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36024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85632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SLOs, and rollback turn opaque agents into operable services.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4400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51713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Risk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sandboxes, and audit satisfy governance and compliance review.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16552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90872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451713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59552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Clients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releases and fewer hallucinations build trust and protect ROI.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93024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67344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451713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36024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85632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platform reduces lock-in and scales AI across many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× harness-layer coverage</a:t>
            </a:r>
            <a:endParaRPr lang="en-US" sz="3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6393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/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Braintrust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/ Vertex / 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Omnigent (meta-harness)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/ Guardrails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 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 </a:t>
            </a: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/ out of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exhaustive — tool capabilities evolve quickly; validate against current docs.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 — not that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77640"/>
          </a:xfrm>
          <a:prstGeom prst="rect">
            <a:avLst/>
          </a:prstGeom>
          <a:solidFill>
            <a:srgbClr val="E6FAF6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harness as code — version prompts, tools &amp; policies together.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harness with every eval; capture full traces.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releases on evals; ship progressively (canary/shadow).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context &amp; tokens; design for cost–quality–speed trade-offs.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least-privilege tools, sandboxes, and human approval on risky 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77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bigger models to fix reliability the harness should handle.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agents on model scores alone (scores are harness-dependent).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without validation gates, rollback, or audit trails.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Hard-coding orchestration so it can't be inspected, transferred, or ablated.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tool access with no budgets, permissions, or oversight.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enterprise agent platform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960120"/>
          </a:xfrm>
          <a:prstGeom prst="rect">
            <a:avLst/>
          </a:prstGeom>
          <a:solidFill>
            <a:srgbClr val="223052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9202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IDE · API · workflow triggers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960120"/>
          </a:xfrm>
          <a:prstGeom prst="rect">
            <a:avLst/>
          </a:prstGeom>
          <a:solidFill>
            <a:srgbClr val="6366F1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(meta-harness)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52160" y="30175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 · compose &amp; swap harnesses · multi-agent handoffs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881360" cy="96012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core · E T C 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41148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· MCP tools · RAG + memory · agent loop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960120"/>
          </a:xfrm>
          <a:prstGeom prst="rect">
            <a:avLst/>
          </a:prstGeom>
          <a:solidFill>
            <a:srgbClr val="0E1626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· O V 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52120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evals · guardrails · Unity/AI-gateway governance · audit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1920240"/>
            <a:ext cx="109728" cy="4251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 &amp; secrets stay in your cloud; the platform stays portable and governed end-to-end.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harness engineering is heading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6700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Self-optimizing harnesses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AutoHarness-style synthesis tune scaffolding automatically from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6700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control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NL harness documents let domain experts steer agents without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800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interfaces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5740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A2A, and common harness APIs make agents and harnesses interchangeable.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9224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8006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factories &amp; platforms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8952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 of governed agents managed as a portfolio on shared enterprise platforms.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Safely &amp; Adopt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autonomy, the coding-agent stack, and a maturity path.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 · SAFE AUTONOMY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Grant autonomy without losing control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fewer approvals or more — it's the right control at the right boundary, so agents can act while staying safe.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892040" cy="3657600"/>
          </a:xfrm>
          <a:prstGeom prst="rect">
            <a:avLst/>
          </a:prstGeom>
          <a:solidFill>
            <a:srgbClr val="FEF2F2"/>
          </a:solidFill>
          <a:ln w="1587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04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2898648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63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29535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353312" y="32278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text hijacks the agent's goals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41248" y="3611880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776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366674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Excessive agency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53312" y="39410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tools &amp; actions from step one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41248" y="4325112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43799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 code execution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53312" y="46542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code touching real systems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41248" y="5038344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20293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50932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exfiltration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353312" y="53675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context leaving the boundary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29400" y="2240280"/>
            <a:ext cx="4892040" cy="3657600"/>
          </a:xfrm>
          <a:prstGeom prst="rect">
            <a:avLst/>
          </a:prstGeom>
          <a:solidFill>
            <a:srgbClr val="E6FAF6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858000" y="24048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CONTROLS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830568" y="2898648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3063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42632" y="29443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Sandboxing + policy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42632" y="3236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“beyond permission prompts”: safe by default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830568" y="3611880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377647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42632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Confirmation mode + analyzers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342632" y="3950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risky actions before they run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830568" y="4325112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4489704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42632" y="4370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Least-privilege tools + MCP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7342632" y="4663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inspectable execution surface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830568" y="5038344"/>
            <a:ext cx="4480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5202936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342632" y="50840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policies + deny-lists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7342632" y="5376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actions are never allowed</a:t>
            </a:r>
            <a:endParaRPr lang="en-US" sz="9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3922776"/>
            <a:ext cx="292608" cy="29260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awesome-harness-engineering (walkinglabs) · Constraints, Guardrails &amp; Safe Autonomy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 · PATTERNS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composable workflow patterns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shapes for orchestrating subagents — plus one security-critical pattern for untrusted input.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38728" cy="11704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30428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45059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286000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Classify-and-Act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277977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routes the task to the right agent or output format.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306824" y="2103120"/>
            <a:ext cx="3538728" cy="11704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07992" y="2304288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45059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48072" y="2286000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Fan-out-and-Synthesize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62856" y="277977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 per step, then a barrier merges structured outputs.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7973568" y="2103120"/>
            <a:ext cx="3538728" cy="11704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174736" y="230428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45059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14816" y="2286000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Verification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29600" y="277977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verifier checks each worker against a rubric.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40080" y="3401568"/>
            <a:ext cx="3538728" cy="11704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41248" y="3602736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3584448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Generate-and-Filter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96112" y="407822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many options; keep only rubric-and-dedupe survivors.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4306824" y="3401568"/>
            <a:ext cx="3538728" cy="11704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07992" y="3602736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374904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48072" y="3584448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62856" y="407822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compete; pairwise judges compare until a winner emerges.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7973568" y="3401568"/>
            <a:ext cx="3538728" cy="117043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174736" y="3602736"/>
            <a:ext cx="512064" cy="512064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3749040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14816" y="3584448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Until Done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229600" y="407822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until a stop condition is met — not a fixed number of passes.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640080" y="5029200"/>
            <a:ext cx="10881360" cy="868680"/>
          </a:xfrm>
          <a:prstGeom prst="rect">
            <a:avLst/>
          </a:prstGeom>
          <a:solidFill>
            <a:srgbClr val="0E1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640080" y="5029200"/>
            <a:ext cx="128016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914400" y="5029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  The Quarantine pattern (untrusted input).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reader agents parse untrusted content into structured summaries; only a high-privilege actor agent acts on the summaries — never the raw input. Prompt-injection defense by construction.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30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PART 06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Implementation Landscape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Proven building blocks the community has shipped — study, adopt, extend.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2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· LANDSCAPE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harness-engineering OSS map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of the ecosystem. Most projects can adopt these directly rather than building equivalents.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075688" cy="35661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075688" cy="6583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1856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Harnesses &amp; SDKs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6384" y="3017520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7824" y="3017520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6384" y="36758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" y="3675888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deepagents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6384" y="4334256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7824" y="4334256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OpenHands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6384" y="4992624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7824" y="4992624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OpenHarness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43784" y="2194560"/>
            <a:ext cx="2075688" cy="35661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43784" y="2194560"/>
            <a:ext cx="2075688" cy="658368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71800" y="2194560"/>
            <a:ext cx="1856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agents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90088" y="3017520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81528" y="3017520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SWE-agent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90088" y="36758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81528" y="3675888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990088" y="4334256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81528" y="4334256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990088" y="4992624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81528" y="4992624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Aider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47488" y="2194560"/>
            <a:ext cx="2075688" cy="35661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47488" y="2194560"/>
            <a:ext cx="2075688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75504" y="2194560"/>
            <a:ext cx="1856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Runtimes &amp; sandboxes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193792" y="3017520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85232" y="3017520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193792" y="36758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85232" y="3675888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193792" y="4334256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85232" y="4334256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SWE-ReX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93792" y="4992624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85232" y="4992624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E2B · Modal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251192" y="2194560"/>
            <a:ext cx="2075688" cy="35661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251192" y="2194560"/>
            <a:ext cx="2075688" cy="6583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79208" y="2194560"/>
            <a:ext cx="1856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&amp; meta-harness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397496" y="3017520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88936" y="3017520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Harbor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97496" y="36758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488936" y="3675888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Inspect AI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97496" y="4334256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488936" y="4334256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Harness Evolver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97496" y="4992624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88936" y="4992624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trace grading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54896" y="2194560"/>
            <a:ext cx="2075688" cy="35661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454896" y="2194560"/>
            <a:ext cx="2075688" cy="65836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582912" y="2194560"/>
            <a:ext cx="1856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Interop &amp; memory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601200" y="3017520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692640" y="3017520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601200" y="36758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692640" y="3675888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AgentKit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601200" y="4334256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692640" y="4334256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601200" y="4992624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692640" y="4992624"/>
            <a:ext cx="1618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Letta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Representative, not exhaustive — a starting shortlist per layer.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2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· SPOTLIGHT (1 / 2)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implementations worth studying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38728" cy="4206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38728" cy="8686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9536" y="2057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854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002536"/>
            <a:ext cx="2532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OpenHarness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81328" y="2386584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MIT · Python · full harness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7824" y="2916936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7824" y="3127248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open agent harness: agent loop, 43 tools, skills, permissions, hooks, memory, swarm.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77824" y="3959352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77824" y="4169664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readable, end-to-end blueprint of everything a production harness contains — plus a dry-run preview.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77824" y="5001768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USED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7824" y="5212080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Study its subsystem split; run on an existing Claude Code / Codex subscription.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311396" y="1874520"/>
            <a:ext cx="3538728" cy="4206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11396" y="1874520"/>
            <a:ext cx="3538728" cy="86868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530852" y="2057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2185416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52644" y="2002536"/>
            <a:ext cx="2532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SWE-agent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152644" y="2386584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Princeton/Stanford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549140" y="2916936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549140" y="3127248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Turns a model into a SWE agent that fixes real GitHub issues; single-YAML configured.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549140" y="3959352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549140" y="4169664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state-of-the-art on SWE-bench; a clean agent-computer interface reference.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549140" y="5001768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USED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549140" y="5212080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coding-agent evals; pair with SWE-ReX to run 100+ agents in parallel.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7982712" y="1874520"/>
            <a:ext cx="3538728" cy="4206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982712" y="1874520"/>
            <a:ext cx="353872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8202168" y="2057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2185416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823960" y="2002536"/>
            <a:ext cx="2532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deepagents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823960" y="2386584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E162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 / LangGraph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220456" y="2916936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8220456" y="3127248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Batteries-included harness: planning, file ops, shell, sub-agents — one create_deep_agent() call.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8220456" y="3959352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220456" y="4169664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Fastest way to a Claude-Code-like agent with durable execution, streaming, checkpointing.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8220456" y="5001768"/>
            <a:ext cx="3081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USED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8220456" y="5212080"/>
            <a:ext cx="3063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Adopt as the base for internal agents; model-agnostic across any tool-calling LLM.</a:t>
            </a:r>
            <a:endParaRPr kumimoji="0" lang="en-US" sz="10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harn.app KB (tools/runtimes) · project repositories.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30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is the product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91440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22768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lives in the harness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harness = very different results. Engineer the whole runtime.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227832"/>
            <a:ext cx="91440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11680" y="3355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ETCLOVG as your checklist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37307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Cover execution, tools, context, lifecycle, observability, verification &amp; governance.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4306824"/>
            <a:ext cx="91440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4306824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11680" y="4434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a meta-harness early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11680" y="480974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layers let you compose, govern &amp; swap agents without rewrites.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further reading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Engineering: A Survey” — ETCLOVG seven-layer taxonomy (OpenReview,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for LLM Agents: A Survey” — six-component model H=(E,T,C,S,L,V); Awesome-Agent-Harness catalog.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“Introducing Omnigent: A Meta-Harness to Combine, Control and Share Your Agents” (Databricks Blog &amp; docs,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 — “Meta-Harness: End-to-End Optimization of Model Harnesses” (arXiv,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 et al. — “AutoHarness: Improving LLM Agents by Automatically Synthesizing a Code Harness” (arXiv 2603.03329,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“Natural-Language Agent Harnesses” + Intelligent Harness Runtime (arXiv 2603.25723,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“Harness engineering: leveraging Codex in an agent-first world” (OpenAI Blog, 2026).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 and capabilities are current as of mid-2026 and evolve quickly; verify against primary sources before architectural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3177</Words>
  <Application>Microsoft Office PowerPoint</Application>
  <PresentationFormat>Widescreen</PresentationFormat>
  <Paragraphs>656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for AI</dc:title>
  <dc:subject>PptxGenJS Presentation</dc:subject>
  <dc:creator>AI Platform Engineering</dc:creator>
  <cp:lastModifiedBy>Raja, Senthilnathan</cp:lastModifiedBy>
  <cp:revision>12</cp:revision>
  <dcterms:created xsi:type="dcterms:W3CDTF">2026-07-30T17:50:21Z</dcterms:created>
  <dcterms:modified xsi:type="dcterms:W3CDTF">2026-07-31T04:39:03Z</dcterms:modified>
</cp:coreProperties>
</file>