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2875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6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554480"/>
            <a:ext cx="4389120" cy="4389120"/>
          </a:xfrm>
          <a:prstGeom prst="ellipse">
            <a:avLst/>
          </a:prstGeom>
          <a:solidFill>
            <a:srgbClr val="4A2888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881360" y="4572000"/>
            <a:ext cx="2926080" cy="2926080"/>
          </a:xfrm>
          <a:prstGeom prst="ellipse">
            <a:avLst/>
          </a:prstGeom>
          <a:solidFill>
            <a:srgbClr val="1D6B6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66928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502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B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 AI Podcast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207008" y="868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52F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 3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629193" y="384048"/>
            <a:ext cx="2922422" cy="502920"/>
          </a:xfrm>
          <a:prstGeom prst="roundRect">
            <a:avLst>
              <a:gd name="adj" fmla="val 16364"/>
            </a:avLst>
          </a:prstGeom>
          <a:solidFill>
            <a:srgbClr val="1A1030"/>
          </a:solidFill>
          <a:ln w="12700">
            <a:solidFill>
              <a:srgbClr val="AFA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629193" y="384048"/>
            <a:ext cx="292242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FA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ONLY  ·  Accenture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03504" y="192024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FBF8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Harness Engineering</a:t>
            </a:r>
            <a:endParaRPr lang="en-US" sz="6200" dirty="0"/>
          </a:p>
        </p:txBody>
      </p:sp>
      <p:sp>
        <p:nvSpPr>
          <p:cNvPr id="10" name="Text 7"/>
          <p:cNvSpPr/>
          <p:nvPr/>
        </p:nvSpPr>
        <p:spPr>
          <a:xfrm>
            <a:off x="640080" y="3063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DE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layer that turns a </a:t>
            </a:r>
            <a:r>
              <a:rPr lang="en-US" sz="2200" b="1" dirty="0">
                <a:solidFill>
                  <a:srgbClr val="D7A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r>
              <a:rPr lang="en-US" sz="2200" dirty="0">
                <a:solidFill>
                  <a:srgbClr val="DE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into a reliable </a:t>
            </a:r>
            <a:r>
              <a:rPr lang="en-US" sz="2200" b="1" dirty="0">
                <a:solidFill>
                  <a:srgbClr val="52F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r>
              <a:rPr lang="en-US" sz="2200" dirty="0">
                <a:solidFill>
                  <a:srgbClr val="DE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40080" y="36576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FA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model less to get wrong. Contain it, orchestrate it, verify it, govern it.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40080" y="4434840"/>
            <a:ext cx="1321308" cy="658368"/>
          </a:xfrm>
          <a:prstGeom prst="roundRect">
            <a:avLst>
              <a:gd name="adj" fmla="val 13889"/>
            </a:avLst>
          </a:prstGeom>
          <a:solidFill>
            <a:srgbClr val="1A1030"/>
          </a:solidFill>
          <a:ln w="15875">
            <a:solidFill>
              <a:srgbClr val="38D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40080" y="4434840"/>
            <a:ext cx="13213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961388" y="4434840"/>
            <a:ext cx="3840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C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2345436" y="4434840"/>
            <a:ext cx="1815084" cy="658368"/>
          </a:xfrm>
          <a:prstGeom prst="roundRect">
            <a:avLst>
              <a:gd name="adj" fmla="val 13889"/>
            </a:avLst>
          </a:prstGeom>
          <a:solidFill>
            <a:srgbClr val="1A1030"/>
          </a:solidFill>
          <a:ln w="15875">
            <a:solidFill>
              <a:srgbClr val="D7A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2345436" y="4434840"/>
            <a:ext cx="18150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7A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160520" y="4434840"/>
            <a:ext cx="3840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C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4544568" y="4434840"/>
            <a:ext cx="1197864" cy="658368"/>
          </a:xfrm>
          <a:prstGeom prst="roundRect">
            <a:avLst>
              <a:gd name="adj" fmla="val 13889"/>
            </a:avLst>
          </a:prstGeom>
          <a:solidFill>
            <a:srgbClr val="1A1030"/>
          </a:solidFill>
          <a:ln w="15875">
            <a:solidFill>
              <a:srgbClr val="52F2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544568" y="4434840"/>
            <a:ext cx="11978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2F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5742432" y="4434840"/>
            <a:ext cx="3840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C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6126480" y="4434840"/>
            <a:ext cx="1197864" cy="658368"/>
          </a:xfrm>
          <a:prstGeom prst="roundRect">
            <a:avLst>
              <a:gd name="adj" fmla="val 13889"/>
            </a:avLst>
          </a:prstGeom>
          <a:solidFill>
            <a:srgbClr val="1A1030"/>
          </a:solidFill>
          <a:ln w="15875">
            <a:solidFill>
              <a:srgbClr val="E0B3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126480" y="4434840"/>
            <a:ext cx="11978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0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40080" y="53492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FA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Framework to Turn AI Agents Into Reliable, Shippable Systems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0" y="6803136"/>
            <a:ext cx="2103120" cy="54864"/>
          </a:xfrm>
          <a:prstGeom prst="rect">
            <a:avLst/>
          </a:prstGeom>
          <a:solidFill>
            <a:srgbClr val="A10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502920" y="6419088"/>
            <a:ext cx="118872" cy="118872"/>
          </a:xfrm>
          <a:prstGeom prst="rect">
            <a:avLst/>
          </a:prstGeom>
          <a:solidFill>
            <a:srgbClr val="A10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713232" y="635508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A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 AI Podcast  |  Harness Engineering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10424160" y="635508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C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52F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1  |  RELIABILITY BECOMES ENGINEERING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8987638" y="384048"/>
            <a:ext cx="2563978" cy="502920"/>
          </a:xfrm>
          <a:prstGeom prst="roundRect">
            <a:avLst>
              <a:gd name="adj" fmla="val 16364"/>
            </a:avLst>
          </a:prstGeom>
          <a:solidFill>
            <a:srgbClr val="1A1030"/>
          </a:solidFill>
          <a:ln w="12700">
            <a:solidFill>
              <a:srgbClr val="52F2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987638" y="384048"/>
            <a:ext cx="256397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2F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= Model + Harness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21792" y="960120"/>
            <a:ext cx="536752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BF8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model reasons. </a:t>
            </a:r>
          </a:p>
          <a:p>
            <a:pPr marL="0" indent="0">
              <a:buNone/>
            </a:pPr>
            <a:r>
              <a:rPr lang="en-US" sz="3000" b="1" dirty="0">
                <a:solidFill>
                  <a:srgbClr val="FBF8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harness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BF8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does everything else.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B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question: </a:t>
            </a:r>
            <a:r>
              <a:rPr lang="en-US" sz="1700" dirty="0">
                <a:solidFill>
                  <a:srgbClr val="DE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model is smartest?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2F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question: </a:t>
            </a:r>
            <a:r>
              <a:rPr lang="en-US" sz="1700" dirty="0">
                <a:solidFill>
                  <a:srgbClr val="DE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runtime around it contained, observable, and governed?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420624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FA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teams on the same model get very different reliability. The gap is the harness — the external system that organizes each run.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5257800"/>
            <a:ext cx="4846320" cy="777240"/>
          </a:xfrm>
          <a:prstGeom prst="roundRect">
            <a:avLst>
              <a:gd name="adj" fmla="val 9412"/>
            </a:avLst>
          </a:prstGeom>
          <a:solidFill>
            <a:srgbClr val="1A1030"/>
          </a:solidFill>
          <a:ln w="12700">
            <a:solidFill>
              <a:srgbClr val="4A2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525780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BF8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Agent </a:t>
            </a:r>
            <a:r>
              <a:rPr lang="en-US" sz="2400" b="1" dirty="0">
                <a:solidFill>
                  <a:srgbClr val="52F2B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= </a:t>
            </a:r>
            <a:r>
              <a:rPr lang="en-US" sz="2400" b="1" dirty="0">
                <a:solidFill>
                  <a:srgbClr val="D7A7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Model </a:t>
            </a:r>
            <a:r>
              <a:rPr lang="en-US" sz="2400" b="1" dirty="0">
                <a:solidFill>
                  <a:srgbClr val="52F2B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+ Harness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5989320" y="1234440"/>
            <a:ext cx="5577840" cy="1572768"/>
          </a:xfrm>
          <a:prstGeom prst="roundRect">
            <a:avLst>
              <a:gd name="adj" fmla="val 4651"/>
            </a:avLst>
          </a:prstGeom>
          <a:solidFill>
            <a:srgbClr val="1A1030"/>
          </a:solidFill>
          <a:ln w="12700">
            <a:solidFill>
              <a:srgbClr val="3A2E52"/>
            </a:solidFill>
            <a:prstDash val="solid"/>
          </a:ln>
          <a:effectLst>
            <a:outerShdw blurRad="1270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09360" y="14173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C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LENS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309360" y="16916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BF8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Reliability is a system property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309360" y="2167128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E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Sandbox, tools, memory, evals and policy decide whether a run succeeds — not the model alone.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989320" y="2971800"/>
            <a:ext cx="5577840" cy="1572768"/>
          </a:xfrm>
          <a:prstGeom prst="roundRect">
            <a:avLst>
              <a:gd name="adj" fmla="val 4651"/>
            </a:avLst>
          </a:prstGeom>
          <a:solidFill>
            <a:srgbClr val="1A1030"/>
          </a:solidFill>
          <a:ln w="12700">
            <a:solidFill>
              <a:srgbClr val="3A2E52"/>
            </a:solidFill>
            <a:prstDash val="solid"/>
          </a:ln>
          <a:effectLst>
            <a:outerShdw blurRad="1270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09360" y="31546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C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UNIT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309360" y="34290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BF8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Ship agents, not prompts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309360" y="3904488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E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deliverable is a governed runtime with traces and gates, not a clever instruction.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989320" y="4709160"/>
            <a:ext cx="5577840" cy="1572768"/>
          </a:xfrm>
          <a:prstGeom prst="roundRect">
            <a:avLst>
              <a:gd name="adj" fmla="val 4651"/>
            </a:avLst>
          </a:prstGeom>
          <a:solidFill>
            <a:srgbClr val="1A1030"/>
          </a:solidFill>
          <a:ln w="12700">
            <a:solidFill>
              <a:srgbClr val="3A2E52"/>
            </a:solidFill>
            <a:prstDash val="solid"/>
          </a:ln>
          <a:effectLst>
            <a:outerShdw blurRad="1270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09360" y="4892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C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IMPACT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309360" y="51663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BF8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Small prompt, large system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6309360" y="5641848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E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Planning, tool calls, retries, verification and approval all live in the harness.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0" y="6803136"/>
            <a:ext cx="2103120" cy="54864"/>
          </a:xfrm>
          <a:prstGeom prst="rect">
            <a:avLst/>
          </a:prstGeom>
          <a:solidFill>
            <a:srgbClr val="A10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02920" y="6419088"/>
            <a:ext cx="118872" cy="118872"/>
          </a:xfrm>
          <a:prstGeom prst="rect">
            <a:avLst/>
          </a:prstGeom>
          <a:solidFill>
            <a:srgbClr val="A10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13232" y="635508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A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 AI Podcast  |  Harness Engineering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0424160" y="635508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C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8D8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CONTAIN</a:t>
            </a:r>
            <a:r>
              <a:rPr lang="en-US" sz="2600" dirty="0">
                <a:solidFill>
                  <a:srgbClr val="8C7FA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  •  </a:t>
            </a:r>
            <a:r>
              <a:rPr lang="en-US" sz="2600" b="1" dirty="0">
                <a:solidFill>
                  <a:srgbClr val="D7A7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ORCHESTRATE</a:t>
            </a:r>
            <a:r>
              <a:rPr lang="en-US" sz="2600" dirty="0">
                <a:solidFill>
                  <a:srgbClr val="8C7FA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  •  </a:t>
            </a:r>
            <a:r>
              <a:rPr lang="en-US" sz="2600" b="1" dirty="0">
                <a:solidFill>
                  <a:srgbClr val="52F2B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VERIFY</a:t>
            </a:r>
            <a:r>
              <a:rPr lang="en-US" sz="2600" dirty="0">
                <a:solidFill>
                  <a:srgbClr val="8C7FA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  •  </a:t>
            </a:r>
            <a:r>
              <a:rPr lang="en-US" sz="2600" b="1" dirty="0">
                <a:solidFill>
                  <a:srgbClr val="E0B34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GOVERN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841248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AFA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harness-engineering toolkit — open-source projects and platforms mapped to the four pillars (a practical grouping of the ETCLOVG layers).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5614416" cy="2404872"/>
          </a:xfrm>
          <a:prstGeom prst="roundRect">
            <a:avLst>
              <a:gd name="adj" fmla="val 2281"/>
            </a:avLst>
          </a:prstGeom>
          <a:solidFill>
            <a:srgbClr val="0C1A24"/>
          </a:solidFill>
          <a:ln w="15875">
            <a:solidFill>
              <a:srgbClr val="38D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4360" y="1481328"/>
            <a:ext cx="566928" cy="566928"/>
          </a:xfrm>
          <a:prstGeom prst="ellipse">
            <a:avLst/>
          </a:prstGeom>
          <a:solidFill>
            <a:srgbClr val="38D8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1609344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463040"/>
            <a:ext cx="45171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8D8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1. </a:t>
            </a:r>
            <a:r>
              <a:rPr lang="en-US" sz="1900" b="1" dirty="0">
                <a:solidFill>
                  <a:srgbClr val="FBF8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CONTAIN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280160" y="1810512"/>
            <a:ext cx="45171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A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it &amp; give scoped tools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94360" y="2176272"/>
            <a:ext cx="2103120" cy="237744"/>
          </a:xfrm>
          <a:prstGeom prst="rect">
            <a:avLst/>
          </a:prstGeom>
          <a:solidFill>
            <a:srgbClr val="38D8FF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58368" y="217627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38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PROJECTS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94360" y="2468880"/>
            <a:ext cx="1207008" cy="786384"/>
          </a:xfrm>
          <a:prstGeom prst="roundRect">
            <a:avLst>
              <a:gd name="adj" fmla="val 5814"/>
            </a:avLst>
          </a:prstGeom>
          <a:solidFill>
            <a:srgbClr val="1A1030"/>
          </a:solidFill>
          <a:ln w="9525">
            <a:solidFill>
              <a:srgbClr val="3A2E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097280" y="2578608"/>
            <a:ext cx="201168" cy="201168"/>
          </a:xfrm>
          <a:prstGeom prst="ellipse">
            <a:avLst/>
          </a:prstGeom>
          <a:solidFill>
            <a:srgbClr val="38D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097280" y="25786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12648" y="2798064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E2B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822960" y="3035808"/>
            <a:ext cx="749808" cy="173736"/>
          </a:xfrm>
          <a:prstGeom prst="roundRect">
            <a:avLst>
              <a:gd name="adj" fmla="val 15789"/>
            </a:avLst>
          </a:prstGeom>
          <a:solidFill>
            <a:srgbClr val="38D8FF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22960" y="3035808"/>
            <a:ext cx="7498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0A0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Apache-2.0</a:t>
            </a:r>
            <a:endParaRPr lang="en-US" sz="680" dirty="0"/>
          </a:p>
        </p:txBody>
      </p:sp>
      <p:sp>
        <p:nvSpPr>
          <p:cNvPr id="17" name="Shape 14"/>
          <p:cNvSpPr/>
          <p:nvPr/>
        </p:nvSpPr>
        <p:spPr>
          <a:xfrm>
            <a:off x="1911096" y="2468880"/>
            <a:ext cx="1207008" cy="786384"/>
          </a:xfrm>
          <a:prstGeom prst="roundRect">
            <a:avLst>
              <a:gd name="adj" fmla="val 5814"/>
            </a:avLst>
          </a:prstGeom>
          <a:solidFill>
            <a:srgbClr val="1A1030"/>
          </a:solidFill>
          <a:ln w="9525">
            <a:solidFill>
              <a:srgbClr val="3A2E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2414016" y="2578608"/>
            <a:ext cx="201168" cy="201168"/>
          </a:xfrm>
          <a:prstGeom prst="ellipse">
            <a:avLst/>
          </a:prstGeom>
          <a:solidFill>
            <a:srgbClr val="38D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2414016" y="25786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929384" y="2798064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Firecracker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2139696" y="3035808"/>
            <a:ext cx="749808" cy="173736"/>
          </a:xfrm>
          <a:prstGeom prst="roundRect">
            <a:avLst>
              <a:gd name="adj" fmla="val 15789"/>
            </a:avLst>
          </a:prstGeom>
          <a:solidFill>
            <a:srgbClr val="38D8FF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2139696" y="3035808"/>
            <a:ext cx="7498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0A0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Apache-2.0</a:t>
            </a:r>
            <a:endParaRPr lang="en-US" sz="680" dirty="0"/>
          </a:p>
        </p:txBody>
      </p:sp>
      <p:sp>
        <p:nvSpPr>
          <p:cNvPr id="23" name="Shape 20"/>
          <p:cNvSpPr/>
          <p:nvPr/>
        </p:nvSpPr>
        <p:spPr>
          <a:xfrm>
            <a:off x="3227832" y="2468880"/>
            <a:ext cx="1207008" cy="786384"/>
          </a:xfrm>
          <a:prstGeom prst="roundRect">
            <a:avLst>
              <a:gd name="adj" fmla="val 5814"/>
            </a:avLst>
          </a:prstGeom>
          <a:solidFill>
            <a:srgbClr val="1A1030"/>
          </a:solidFill>
          <a:ln w="9525">
            <a:solidFill>
              <a:srgbClr val="3A2E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3730752" y="2578608"/>
            <a:ext cx="201168" cy="201168"/>
          </a:xfrm>
          <a:prstGeom prst="ellipse">
            <a:avLst/>
          </a:prstGeom>
          <a:solidFill>
            <a:srgbClr val="38D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3730752" y="25786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3246120" y="2798064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gVisor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3456432" y="3035808"/>
            <a:ext cx="749808" cy="173736"/>
          </a:xfrm>
          <a:prstGeom prst="roundRect">
            <a:avLst>
              <a:gd name="adj" fmla="val 15789"/>
            </a:avLst>
          </a:prstGeom>
          <a:solidFill>
            <a:srgbClr val="38D8FF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3456432" y="3035808"/>
            <a:ext cx="7498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0A0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Apache-2.0</a:t>
            </a:r>
            <a:endParaRPr lang="en-US" sz="680" dirty="0"/>
          </a:p>
        </p:txBody>
      </p:sp>
      <p:sp>
        <p:nvSpPr>
          <p:cNvPr id="29" name="Shape 26"/>
          <p:cNvSpPr/>
          <p:nvPr/>
        </p:nvSpPr>
        <p:spPr>
          <a:xfrm>
            <a:off x="4544568" y="2468880"/>
            <a:ext cx="1207008" cy="786384"/>
          </a:xfrm>
          <a:prstGeom prst="roundRect">
            <a:avLst>
              <a:gd name="adj" fmla="val 5814"/>
            </a:avLst>
          </a:prstGeom>
          <a:solidFill>
            <a:srgbClr val="1A1030"/>
          </a:solidFill>
          <a:ln w="9525">
            <a:solidFill>
              <a:srgbClr val="3A2E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5047488" y="2578608"/>
            <a:ext cx="201168" cy="201168"/>
          </a:xfrm>
          <a:prstGeom prst="ellipse">
            <a:avLst/>
          </a:prstGeom>
          <a:solidFill>
            <a:srgbClr val="38D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5047488" y="25786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4562856" y="2798064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4984394" y="3035808"/>
            <a:ext cx="327355" cy="173736"/>
          </a:xfrm>
          <a:prstGeom prst="roundRect">
            <a:avLst>
              <a:gd name="adj" fmla="val 15789"/>
            </a:avLst>
          </a:prstGeom>
          <a:solidFill>
            <a:srgbClr val="38D8FF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4984394" y="3035808"/>
            <a:ext cx="327355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0A0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endParaRPr lang="en-US" sz="680" dirty="0"/>
          </a:p>
        </p:txBody>
      </p:sp>
      <p:sp>
        <p:nvSpPr>
          <p:cNvPr id="35" name="Text 32"/>
          <p:cNvSpPr/>
          <p:nvPr/>
        </p:nvSpPr>
        <p:spPr>
          <a:xfrm>
            <a:off x="594360" y="3346704"/>
            <a:ext cx="5202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38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 </a:t>
            </a:r>
            <a:r>
              <a:rPr lang="en-US" sz="950" dirty="0">
                <a:solidFill>
                  <a:srgbClr val="DE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· Daytona · Northflank · Fly Machines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6217920" y="1280160"/>
            <a:ext cx="5614416" cy="2404872"/>
          </a:xfrm>
          <a:prstGeom prst="roundRect">
            <a:avLst>
              <a:gd name="adj" fmla="val 2281"/>
            </a:avLst>
          </a:prstGeom>
          <a:solidFill>
            <a:srgbClr val="17102A"/>
          </a:solidFill>
          <a:ln w="15875">
            <a:solidFill>
              <a:srgbClr val="D7A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6446520" y="1481328"/>
            <a:ext cx="566928" cy="566928"/>
          </a:xfrm>
          <a:prstGeom prst="ellipse">
            <a:avLst/>
          </a:prstGeom>
          <a:solidFill>
            <a:srgbClr val="D7A7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4536" y="1609344"/>
            <a:ext cx="310896" cy="310896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7132320" y="1463040"/>
            <a:ext cx="45171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7A7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2. </a:t>
            </a:r>
            <a:r>
              <a:rPr lang="en-US" sz="1900" b="1" dirty="0">
                <a:solidFill>
                  <a:srgbClr val="FBF8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ORCHESTRATE</a:t>
            </a:r>
            <a:endParaRPr lang="en-US" sz="1900" dirty="0"/>
          </a:p>
        </p:txBody>
      </p:sp>
      <p:sp>
        <p:nvSpPr>
          <p:cNvPr id="40" name="Text 36"/>
          <p:cNvSpPr/>
          <p:nvPr/>
        </p:nvSpPr>
        <p:spPr>
          <a:xfrm>
            <a:off x="7132320" y="1810512"/>
            <a:ext cx="45171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A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context, memory &amp; the loop</a:t>
            </a:r>
            <a:endParaRPr lang="en-US" sz="1150" dirty="0"/>
          </a:p>
        </p:txBody>
      </p:sp>
      <p:sp>
        <p:nvSpPr>
          <p:cNvPr id="41" name="Shape 37"/>
          <p:cNvSpPr/>
          <p:nvPr/>
        </p:nvSpPr>
        <p:spPr>
          <a:xfrm>
            <a:off x="6446520" y="2176272"/>
            <a:ext cx="2103120" cy="237744"/>
          </a:xfrm>
          <a:prstGeom prst="rect">
            <a:avLst/>
          </a:prstGeom>
          <a:solidFill>
            <a:srgbClr val="D7A7FF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8"/>
          <p:cNvSpPr/>
          <p:nvPr/>
        </p:nvSpPr>
        <p:spPr>
          <a:xfrm>
            <a:off x="6510528" y="217627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D7A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PROJECTS</a:t>
            </a:r>
            <a:endParaRPr lang="en-US" sz="850" dirty="0"/>
          </a:p>
        </p:txBody>
      </p:sp>
      <p:sp>
        <p:nvSpPr>
          <p:cNvPr id="43" name="Shape 39"/>
          <p:cNvSpPr/>
          <p:nvPr/>
        </p:nvSpPr>
        <p:spPr>
          <a:xfrm>
            <a:off x="6446520" y="2468880"/>
            <a:ext cx="1207008" cy="786384"/>
          </a:xfrm>
          <a:prstGeom prst="roundRect">
            <a:avLst>
              <a:gd name="adj" fmla="val 5814"/>
            </a:avLst>
          </a:prstGeom>
          <a:solidFill>
            <a:srgbClr val="1A1030"/>
          </a:solidFill>
          <a:ln w="9525">
            <a:solidFill>
              <a:srgbClr val="3A2E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0"/>
          <p:cNvSpPr/>
          <p:nvPr/>
        </p:nvSpPr>
        <p:spPr>
          <a:xfrm>
            <a:off x="6949440" y="2578608"/>
            <a:ext cx="201168" cy="201168"/>
          </a:xfrm>
          <a:prstGeom prst="ellipse">
            <a:avLst/>
          </a:prstGeom>
          <a:solidFill>
            <a:srgbClr val="D7A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1"/>
          <p:cNvSpPr/>
          <p:nvPr/>
        </p:nvSpPr>
        <p:spPr>
          <a:xfrm>
            <a:off x="6949440" y="25786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900" dirty="0"/>
          </a:p>
        </p:txBody>
      </p:sp>
      <p:sp>
        <p:nvSpPr>
          <p:cNvPr id="46" name="Text 42"/>
          <p:cNvSpPr/>
          <p:nvPr/>
        </p:nvSpPr>
        <p:spPr>
          <a:xfrm>
            <a:off x="6464808" y="2798064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900" dirty="0"/>
          </a:p>
        </p:txBody>
      </p:sp>
      <p:sp>
        <p:nvSpPr>
          <p:cNvPr id="47" name="Shape 43"/>
          <p:cNvSpPr/>
          <p:nvPr/>
        </p:nvSpPr>
        <p:spPr>
          <a:xfrm>
            <a:off x="6886346" y="3035808"/>
            <a:ext cx="327355" cy="173736"/>
          </a:xfrm>
          <a:prstGeom prst="roundRect">
            <a:avLst>
              <a:gd name="adj" fmla="val 15789"/>
            </a:avLst>
          </a:prstGeom>
          <a:solidFill>
            <a:srgbClr val="D7A7FF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4"/>
          <p:cNvSpPr/>
          <p:nvPr/>
        </p:nvSpPr>
        <p:spPr>
          <a:xfrm>
            <a:off x="6886346" y="3035808"/>
            <a:ext cx="327355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0A0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endParaRPr lang="en-US" sz="680" dirty="0"/>
          </a:p>
        </p:txBody>
      </p:sp>
      <p:sp>
        <p:nvSpPr>
          <p:cNvPr id="49" name="Shape 45"/>
          <p:cNvSpPr/>
          <p:nvPr/>
        </p:nvSpPr>
        <p:spPr>
          <a:xfrm>
            <a:off x="7763256" y="2468880"/>
            <a:ext cx="1207008" cy="786384"/>
          </a:xfrm>
          <a:prstGeom prst="roundRect">
            <a:avLst>
              <a:gd name="adj" fmla="val 5814"/>
            </a:avLst>
          </a:prstGeom>
          <a:solidFill>
            <a:srgbClr val="1A1030"/>
          </a:solidFill>
          <a:ln w="9525">
            <a:solidFill>
              <a:srgbClr val="3A2E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6"/>
          <p:cNvSpPr/>
          <p:nvPr/>
        </p:nvSpPr>
        <p:spPr>
          <a:xfrm>
            <a:off x="8266176" y="2578608"/>
            <a:ext cx="201168" cy="201168"/>
          </a:xfrm>
          <a:prstGeom prst="ellipse">
            <a:avLst/>
          </a:prstGeom>
          <a:solidFill>
            <a:srgbClr val="D7A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7"/>
          <p:cNvSpPr/>
          <p:nvPr/>
        </p:nvSpPr>
        <p:spPr>
          <a:xfrm>
            <a:off x="8266176" y="25786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00" dirty="0"/>
          </a:p>
        </p:txBody>
      </p:sp>
      <p:sp>
        <p:nvSpPr>
          <p:cNvPr id="52" name="Text 48"/>
          <p:cNvSpPr/>
          <p:nvPr/>
        </p:nvSpPr>
        <p:spPr>
          <a:xfrm>
            <a:off x="7781544" y="2798064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</a:t>
            </a:r>
            <a:endParaRPr lang="en-US" sz="900" dirty="0"/>
          </a:p>
        </p:txBody>
      </p:sp>
      <p:sp>
        <p:nvSpPr>
          <p:cNvPr id="53" name="Shape 49"/>
          <p:cNvSpPr/>
          <p:nvPr/>
        </p:nvSpPr>
        <p:spPr>
          <a:xfrm>
            <a:off x="8203082" y="3035808"/>
            <a:ext cx="327355" cy="173736"/>
          </a:xfrm>
          <a:prstGeom prst="roundRect">
            <a:avLst>
              <a:gd name="adj" fmla="val 15789"/>
            </a:avLst>
          </a:prstGeom>
          <a:solidFill>
            <a:srgbClr val="D7A7FF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0"/>
          <p:cNvSpPr/>
          <p:nvPr/>
        </p:nvSpPr>
        <p:spPr>
          <a:xfrm>
            <a:off x="8203082" y="3035808"/>
            <a:ext cx="327355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0A0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endParaRPr lang="en-US" sz="680" dirty="0"/>
          </a:p>
        </p:txBody>
      </p:sp>
      <p:sp>
        <p:nvSpPr>
          <p:cNvPr id="55" name="Shape 51"/>
          <p:cNvSpPr/>
          <p:nvPr/>
        </p:nvSpPr>
        <p:spPr>
          <a:xfrm>
            <a:off x="9079992" y="2468880"/>
            <a:ext cx="1207008" cy="786384"/>
          </a:xfrm>
          <a:prstGeom prst="roundRect">
            <a:avLst>
              <a:gd name="adj" fmla="val 5814"/>
            </a:avLst>
          </a:prstGeom>
          <a:solidFill>
            <a:srgbClr val="1A1030"/>
          </a:solidFill>
          <a:ln w="9525">
            <a:solidFill>
              <a:srgbClr val="3A2E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2"/>
          <p:cNvSpPr/>
          <p:nvPr/>
        </p:nvSpPr>
        <p:spPr>
          <a:xfrm>
            <a:off x="9582912" y="2578608"/>
            <a:ext cx="201168" cy="201168"/>
          </a:xfrm>
          <a:prstGeom prst="ellipse">
            <a:avLst/>
          </a:prstGeom>
          <a:solidFill>
            <a:srgbClr val="D7A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3"/>
          <p:cNvSpPr/>
          <p:nvPr/>
        </p:nvSpPr>
        <p:spPr>
          <a:xfrm>
            <a:off x="9582912" y="25786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900" dirty="0"/>
          </a:p>
        </p:txBody>
      </p:sp>
      <p:sp>
        <p:nvSpPr>
          <p:cNvPr id="58" name="Text 54"/>
          <p:cNvSpPr/>
          <p:nvPr/>
        </p:nvSpPr>
        <p:spPr>
          <a:xfrm>
            <a:off x="9098280" y="2798064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</a:t>
            </a:r>
            <a:endParaRPr lang="en-US" sz="900" dirty="0"/>
          </a:p>
        </p:txBody>
      </p:sp>
      <p:sp>
        <p:nvSpPr>
          <p:cNvPr id="59" name="Shape 55"/>
          <p:cNvSpPr/>
          <p:nvPr/>
        </p:nvSpPr>
        <p:spPr>
          <a:xfrm>
            <a:off x="9519818" y="3035808"/>
            <a:ext cx="327355" cy="173736"/>
          </a:xfrm>
          <a:prstGeom prst="roundRect">
            <a:avLst>
              <a:gd name="adj" fmla="val 15789"/>
            </a:avLst>
          </a:prstGeom>
          <a:solidFill>
            <a:srgbClr val="D7A7FF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6"/>
          <p:cNvSpPr/>
          <p:nvPr/>
        </p:nvSpPr>
        <p:spPr>
          <a:xfrm>
            <a:off x="9519818" y="3035808"/>
            <a:ext cx="327355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0A0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endParaRPr lang="en-US" sz="680" dirty="0"/>
          </a:p>
        </p:txBody>
      </p:sp>
      <p:sp>
        <p:nvSpPr>
          <p:cNvPr id="61" name="Shape 57"/>
          <p:cNvSpPr/>
          <p:nvPr/>
        </p:nvSpPr>
        <p:spPr>
          <a:xfrm>
            <a:off x="10396728" y="2468880"/>
            <a:ext cx="1207008" cy="786384"/>
          </a:xfrm>
          <a:prstGeom prst="roundRect">
            <a:avLst>
              <a:gd name="adj" fmla="val 5814"/>
            </a:avLst>
          </a:prstGeom>
          <a:solidFill>
            <a:srgbClr val="1A1030"/>
          </a:solidFill>
          <a:ln w="9525">
            <a:solidFill>
              <a:srgbClr val="3A2E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58"/>
          <p:cNvSpPr/>
          <p:nvPr/>
        </p:nvSpPr>
        <p:spPr>
          <a:xfrm>
            <a:off x="10899648" y="2578608"/>
            <a:ext cx="201168" cy="201168"/>
          </a:xfrm>
          <a:prstGeom prst="ellipse">
            <a:avLst/>
          </a:prstGeom>
          <a:solidFill>
            <a:srgbClr val="D7A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59"/>
          <p:cNvSpPr/>
          <p:nvPr/>
        </p:nvSpPr>
        <p:spPr>
          <a:xfrm>
            <a:off x="10899648" y="25786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900" dirty="0"/>
          </a:p>
        </p:txBody>
      </p:sp>
      <p:sp>
        <p:nvSpPr>
          <p:cNvPr id="64" name="Text 60"/>
          <p:cNvSpPr/>
          <p:nvPr/>
        </p:nvSpPr>
        <p:spPr>
          <a:xfrm>
            <a:off x="10415016" y="2798064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Mem0</a:t>
            </a:r>
            <a:endParaRPr lang="en-US" sz="900" dirty="0"/>
          </a:p>
        </p:txBody>
      </p:sp>
      <p:sp>
        <p:nvSpPr>
          <p:cNvPr id="65" name="Shape 61"/>
          <p:cNvSpPr/>
          <p:nvPr/>
        </p:nvSpPr>
        <p:spPr>
          <a:xfrm>
            <a:off x="10625328" y="3035808"/>
            <a:ext cx="749808" cy="173736"/>
          </a:xfrm>
          <a:prstGeom prst="roundRect">
            <a:avLst>
              <a:gd name="adj" fmla="val 15789"/>
            </a:avLst>
          </a:prstGeom>
          <a:solidFill>
            <a:srgbClr val="D7A7FF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2"/>
          <p:cNvSpPr/>
          <p:nvPr/>
        </p:nvSpPr>
        <p:spPr>
          <a:xfrm>
            <a:off x="10625328" y="3035808"/>
            <a:ext cx="7498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0A0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Apache-2.0</a:t>
            </a:r>
            <a:endParaRPr lang="en-US" sz="680" dirty="0"/>
          </a:p>
        </p:txBody>
      </p:sp>
      <p:sp>
        <p:nvSpPr>
          <p:cNvPr id="67" name="Text 63"/>
          <p:cNvSpPr/>
          <p:nvPr/>
        </p:nvSpPr>
        <p:spPr>
          <a:xfrm>
            <a:off x="6446520" y="3346704"/>
            <a:ext cx="5202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D7A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 </a:t>
            </a:r>
            <a:r>
              <a:rPr lang="en-US" sz="950" dirty="0">
                <a:solidFill>
                  <a:srgbClr val="DE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Agents · Vertex · Azure AI Foundry · Mosaic AI</a:t>
            </a:r>
            <a:endParaRPr lang="en-US" sz="950" dirty="0"/>
          </a:p>
        </p:txBody>
      </p:sp>
      <p:sp>
        <p:nvSpPr>
          <p:cNvPr id="68" name="Shape 64"/>
          <p:cNvSpPr/>
          <p:nvPr/>
        </p:nvSpPr>
        <p:spPr>
          <a:xfrm>
            <a:off x="365760" y="3886200"/>
            <a:ext cx="5614416" cy="2404872"/>
          </a:xfrm>
          <a:prstGeom prst="roundRect">
            <a:avLst>
              <a:gd name="adj" fmla="val 2281"/>
            </a:avLst>
          </a:prstGeom>
          <a:solidFill>
            <a:srgbClr val="0C2018"/>
          </a:solidFill>
          <a:ln w="15875">
            <a:solidFill>
              <a:srgbClr val="52F2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5"/>
          <p:cNvSpPr/>
          <p:nvPr/>
        </p:nvSpPr>
        <p:spPr>
          <a:xfrm>
            <a:off x="594360" y="4087368"/>
            <a:ext cx="566928" cy="566928"/>
          </a:xfrm>
          <a:prstGeom prst="ellipse">
            <a:avLst/>
          </a:prstGeom>
          <a:solidFill>
            <a:srgbClr val="52F2B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" y="4215384"/>
            <a:ext cx="310896" cy="310896"/>
          </a:xfrm>
          <a:prstGeom prst="rect">
            <a:avLst/>
          </a:prstGeom>
        </p:spPr>
      </p:pic>
      <p:sp>
        <p:nvSpPr>
          <p:cNvPr id="71" name="Text 66"/>
          <p:cNvSpPr/>
          <p:nvPr/>
        </p:nvSpPr>
        <p:spPr>
          <a:xfrm>
            <a:off x="1280160" y="4069080"/>
            <a:ext cx="45171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52F2B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3. </a:t>
            </a:r>
            <a:r>
              <a:rPr lang="en-US" sz="1900" b="1" dirty="0">
                <a:solidFill>
                  <a:srgbClr val="FBF8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VERIFY</a:t>
            </a:r>
            <a:endParaRPr lang="en-US" sz="1900" dirty="0"/>
          </a:p>
        </p:txBody>
      </p:sp>
      <p:sp>
        <p:nvSpPr>
          <p:cNvPr id="72" name="Text 67"/>
          <p:cNvSpPr/>
          <p:nvPr/>
        </p:nvSpPr>
        <p:spPr>
          <a:xfrm>
            <a:off x="1280160" y="4416552"/>
            <a:ext cx="45171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A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every run, gate on evals</a:t>
            </a:r>
            <a:endParaRPr lang="en-US" sz="1150" dirty="0"/>
          </a:p>
        </p:txBody>
      </p:sp>
      <p:sp>
        <p:nvSpPr>
          <p:cNvPr id="73" name="Shape 68"/>
          <p:cNvSpPr/>
          <p:nvPr/>
        </p:nvSpPr>
        <p:spPr>
          <a:xfrm>
            <a:off x="594360" y="4782312"/>
            <a:ext cx="2103120" cy="237744"/>
          </a:xfrm>
          <a:prstGeom prst="rect">
            <a:avLst/>
          </a:prstGeom>
          <a:solidFill>
            <a:srgbClr val="52F2B4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Text 69"/>
          <p:cNvSpPr/>
          <p:nvPr/>
        </p:nvSpPr>
        <p:spPr>
          <a:xfrm>
            <a:off x="658368" y="478231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52F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PROJECTS</a:t>
            </a:r>
            <a:endParaRPr lang="en-US" sz="850" dirty="0"/>
          </a:p>
        </p:txBody>
      </p:sp>
      <p:sp>
        <p:nvSpPr>
          <p:cNvPr id="75" name="Shape 70"/>
          <p:cNvSpPr/>
          <p:nvPr/>
        </p:nvSpPr>
        <p:spPr>
          <a:xfrm>
            <a:off x="594360" y="5074920"/>
            <a:ext cx="1207008" cy="786384"/>
          </a:xfrm>
          <a:prstGeom prst="roundRect">
            <a:avLst>
              <a:gd name="adj" fmla="val 5814"/>
            </a:avLst>
          </a:prstGeom>
          <a:solidFill>
            <a:srgbClr val="1A1030"/>
          </a:solidFill>
          <a:ln w="9525">
            <a:solidFill>
              <a:srgbClr val="3A2E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1"/>
          <p:cNvSpPr/>
          <p:nvPr/>
        </p:nvSpPr>
        <p:spPr>
          <a:xfrm>
            <a:off x="1097280" y="5184648"/>
            <a:ext cx="201168" cy="201168"/>
          </a:xfrm>
          <a:prstGeom prst="ellipse">
            <a:avLst/>
          </a:prstGeom>
          <a:solidFill>
            <a:srgbClr val="52F2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2"/>
          <p:cNvSpPr/>
          <p:nvPr/>
        </p:nvSpPr>
        <p:spPr>
          <a:xfrm>
            <a:off x="1097280" y="51846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900" dirty="0"/>
          </a:p>
        </p:txBody>
      </p:sp>
      <p:sp>
        <p:nvSpPr>
          <p:cNvPr id="78" name="Text 73"/>
          <p:cNvSpPr/>
          <p:nvPr/>
        </p:nvSpPr>
        <p:spPr>
          <a:xfrm>
            <a:off x="612648" y="5404104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</a:t>
            </a:r>
            <a:endParaRPr lang="en-US" sz="900" dirty="0"/>
          </a:p>
        </p:txBody>
      </p:sp>
      <p:sp>
        <p:nvSpPr>
          <p:cNvPr id="79" name="Shape 74"/>
          <p:cNvSpPr/>
          <p:nvPr/>
        </p:nvSpPr>
        <p:spPr>
          <a:xfrm>
            <a:off x="1034186" y="5641848"/>
            <a:ext cx="327355" cy="173736"/>
          </a:xfrm>
          <a:prstGeom prst="roundRect">
            <a:avLst>
              <a:gd name="adj" fmla="val 15789"/>
            </a:avLst>
          </a:prstGeom>
          <a:solidFill>
            <a:srgbClr val="52F2B4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Text 75"/>
          <p:cNvSpPr/>
          <p:nvPr/>
        </p:nvSpPr>
        <p:spPr>
          <a:xfrm>
            <a:off x="1034186" y="5641848"/>
            <a:ext cx="327355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0A0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endParaRPr lang="en-US" sz="680" dirty="0"/>
          </a:p>
        </p:txBody>
      </p:sp>
      <p:sp>
        <p:nvSpPr>
          <p:cNvPr id="81" name="Shape 76"/>
          <p:cNvSpPr/>
          <p:nvPr/>
        </p:nvSpPr>
        <p:spPr>
          <a:xfrm>
            <a:off x="1911096" y="5074920"/>
            <a:ext cx="1207008" cy="786384"/>
          </a:xfrm>
          <a:prstGeom prst="roundRect">
            <a:avLst>
              <a:gd name="adj" fmla="val 5814"/>
            </a:avLst>
          </a:prstGeom>
          <a:solidFill>
            <a:srgbClr val="1A1030"/>
          </a:solidFill>
          <a:ln w="9525">
            <a:solidFill>
              <a:srgbClr val="3A2E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77"/>
          <p:cNvSpPr/>
          <p:nvPr/>
        </p:nvSpPr>
        <p:spPr>
          <a:xfrm>
            <a:off x="2414016" y="5184648"/>
            <a:ext cx="201168" cy="201168"/>
          </a:xfrm>
          <a:prstGeom prst="ellipse">
            <a:avLst/>
          </a:prstGeom>
          <a:solidFill>
            <a:srgbClr val="52F2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Text 78"/>
          <p:cNvSpPr/>
          <p:nvPr/>
        </p:nvSpPr>
        <p:spPr>
          <a:xfrm>
            <a:off x="2414016" y="51846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900" dirty="0"/>
          </a:p>
        </p:txBody>
      </p:sp>
      <p:sp>
        <p:nvSpPr>
          <p:cNvPr id="84" name="Text 79"/>
          <p:cNvSpPr/>
          <p:nvPr/>
        </p:nvSpPr>
        <p:spPr>
          <a:xfrm>
            <a:off x="1929384" y="5404104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</a:t>
            </a:r>
            <a:endParaRPr lang="en-US" sz="900" dirty="0"/>
          </a:p>
        </p:txBody>
      </p:sp>
      <p:sp>
        <p:nvSpPr>
          <p:cNvPr id="85" name="Shape 80"/>
          <p:cNvSpPr/>
          <p:nvPr/>
        </p:nvSpPr>
        <p:spPr>
          <a:xfrm>
            <a:off x="2139696" y="5641848"/>
            <a:ext cx="749808" cy="173736"/>
          </a:xfrm>
          <a:prstGeom prst="roundRect">
            <a:avLst>
              <a:gd name="adj" fmla="val 15789"/>
            </a:avLst>
          </a:prstGeom>
          <a:solidFill>
            <a:srgbClr val="52F2B4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Text 81"/>
          <p:cNvSpPr/>
          <p:nvPr/>
        </p:nvSpPr>
        <p:spPr>
          <a:xfrm>
            <a:off x="2139696" y="5641848"/>
            <a:ext cx="7498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0A0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Apache-2.0</a:t>
            </a:r>
            <a:endParaRPr lang="en-US" sz="680" dirty="0"/>
          </a:p>
        </p:txBody>
      </p:sp>
      <p:sp>
        <p:nvSpPr>
          <p:cNvPr id="87" name="Shape 82"/>
          <p:cNvSpPr/>
          <p:nvPr/>
        </p:nvSpPr>
        <p:spPr>
          <a:xfrm>
            <a:off x="3227832" y="5074920"/>
            <a:ext cx="1207008" cy="786384"/>
          </a:xfrm>
          <a:prstGeom prst="roundRect">
            <a:avLst>
              <a:gd name="adj" fmla="val 5814"/>
            </a:avLst>
          </a:prstGeom>
          <a:solidFill>
            <a:srgbClr val="1A1030"/>
          </a:solidFill>
          <a:ln w="9525">
            <a:solidFill>
              <a:srgbClr val="3A2E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3"/>
          <p:cNvSpPr/>
          <p:nvPr/>
        </p:nvSpPr>
        <p:spPr>
          <a:xfrm>
            <a:off x="3730752" y="5184648"/>
            <a:ext cx="201168" cy="201168"/>
          </a:xfrm>
          <a:prstGeom prst="ellipse">
            <a:avLst/>
          </a:prstGeom>
          <a:solidFill>
            <a:srgbClr val="52F2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Text 84"/>
          <p:cNvSpPr/>
          <p:nvPr/>
        </p:nvSpPr>
        <p:spPr>
          <a:xfrm>
            <a:off x="3730752" y="51846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00" dirty="0"/>
          </a:p>
        </p:txBody>
      </p:sp>
      <p:sp>
        <p:nvSpPr>
          <p:cNvPr id="90" name="Text 85"/>
          <p:cNvSpPr/>
          <p:nvPr/>
        </p:nvSpPr>
        <p:spPr>
          <a:xfrm>
            <a:off x="3246120" y="5404104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DeepEval</a:t>
            </a:r>
            <a:endParaRPr lang="en-US" sz="900" dirty="0"/>
          </a:p>
        </p:txBody>
      </p:sp>
      <p:sp>
        <p:nvSpPr>
          <p:cNvPr id="91" name="Shape 86"/>
          <p:cNvSpPr/>
          <p:nvPr/>
        </p:nvSpPr>
        <p:spPr>
          <a:xfrm>
            <a:off x="3456432" y="5641848"/>
            <a:ext cx="749808" cy="173736"/>
          </a:xfrm>
          <a:prstGeom prst="roundRect">
            <a:avLst>
              <a:gd name="adj" fmla="val 15789"/>
            </a:avLst>
          </a:prstGeom>
          <a:solidFill>
            <a:srgbClr val="52F2B4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Text 87"/>
          <p:cNvSpPr/>
          <p:nvPr/>
        </p:nvSpPr>
        <p:spPr>
          <a:xfrm>
            <a:off x="3456432" y="5641848"/>
            <a:ext cx="7498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0A0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Apache-2.0</a:t>
            </a:r>
            <a:endParaRPr lang="en-US" sz="680" dirty="0"/>
          </a:p>
        </p:txBody>
      </p:sp>
      <p:sp>
        <p:nvSpPr>
          <p:cNvPr id="93" name="Shape 88"/>
          <p:cNvSpPr/>
          <p:nvPr/>
        </p:nvSpPr>
        <p:spPr>
          <a:xfrm>
            <a:off x="4544568" y="5074920"/>
            <a:ext cx="1207008" cy="786384"/>
          </a:xfrm>
          <a:prstGeom prst="roundRect">
            <a:avLst>
              <a:gd name="adj" fmla="val 5814"/>
            </a:avLst>
          </a:prstGeom>
          <a:solidFill>
            <a:srgbClr val="1A1030"/>
          </a:solidFill>
          <a:ln w="9525">
            <a:solidFill>
              <a:srgbClr val="3A2E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89"/>
          <p:cNvSpPr/>
          <p:nvPr/>
        </p:nvSpPr>
        <p:spPr>
          <a:xfrm>
            <a:off x="5047488" y="5184648"/>
            <a:ext cx="201168" cy="201168"/>
          </a:xfrm>
          <a:prstGeom prst="ellipse">
            <a:avLst/>
          </a:prstGeom>
          <a:solidFill>
            <a:srgbClr val="52F2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Text 90"/>
          <p:cNvSpPr/>
          <p:nvPr/>
        </p:nvSpPr>
        <p:spPr>
          <a:xfrm>
            <a:off x="5047488" y="51846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900" dirty="0"/>
          </a:p>
        </p:txBody>
      </p:sp>
      <p:sp>
        <p:nvSpPr>
          <p:cNvPr id="96" name="Text 91"/>
          <p:cNvSpPr/>
          <p:nvPr/>
        </p:nvSpPr>
        <p:spPr>
          <a:xfrm>
            <a:off x="4562856" y="5404104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promptfoo</a:t>
            </a:r>
            <a:endParaRPr lang="en-US" sz="900" dirty="0"/>
          </a:p>
        </p:txBody>
      </p:sp>
      <p:sp>
        <p:nvSpPr>
          <p:cNvPr id="97" name="Shape 92"/>
          <p:cNvSpPr/>
          <p:nvPr/>
        </p:nvSpPr>
        <p:spPr>
          <a:xfrm>
            <a:off x="4984394" y="5641848"/>
            <a:ext cx="327355" cy="173736"/>
          </a:xfrm>
          <a:prstGeom prst="roundRect">
            <a:avLst>
              <a:gd name="adj" fmla="val 15789"/>
            </a:avLst>
          </a:prstGeom>
          <a:solidFill>
            <a:srgbClr val="52F2B4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" name="Text 93"/>
          <p:cNvSpPr/>
          <p:nvPr/>
        </p:nvSpPr>
        <p:spPr>
          <a:xfrm>
            <a:off x="4984394" y="5641848"/>
            <a:ext cx="327355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0A0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endParaRPr lang="en-US" sz="680" dirty="0"/>
          </a:p>
        </p:txBody>
      </p:sp>
      <p:sp>
        <p:nvSpPr>
          <p:cNvPr id="99" name="Text 94"/>
          <p:cNvSpPr/>
          <p:nvPr/>
        </p:nvSpPr>
        <p:spPr>
          <a:xfrm>
            <a:off x="594360" y="5952744"/>
            <a:ext cx="5202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2F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 </a:t>
            </a:r>
            <a:r>
              <a:rPr lang="en-US" sz="950" dirty="0">
                <a:solidFill>
                  <a:srgbClr val="DE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· Braintrust · Arize · Galileo</a:t>
            </a:r>
            <a:endParaRPr lang="en-US" sz="950" dirty="0"/>
          </a:p>
        </p:txBody>
      </p:sp>
      <p:sp>
        <p:nvSpPr>
          <p:cNvPr id="100" name="Shape 95"/>
          <p:cNvSpPr/>
          <p:nvPr/>
        </p:nvSpPr>
        <p:spPr>
          <a:xfrm>
            <a:off x="6217920" y="3886200"/>
            <a:ext cx="5614416" cy="2404872"/>
          </a:xfrm>
          <a:prstGeom prst="roundRect">
            <a:avLst>
              <a:gd name="adj" fmla="val 2281"/>
            </a:avLst>
          </a:prstGeom>
          <a:solidFill>
            <a:srgbClr val="241C0C"/>
          </a:solidFill>
          <a:ln w="15875">
            <a:solidFill>
              <a:srgbClr val="E0B3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6"/>
          <p:cNvSpPr/>
          <p:nvPr/>
        </p:nvSpPr>
        <p:spPr>
          <a:xfrm>
            <a:off x="6446520" y="4087368"/>
            <a:ext cx="566928" cy="566928"/>
          </a:xfrm>
          <a:prstGeom prst="ellipse">
            <a:avLst/>
          </a:prstGeom>
          <a:solidFill>
            <a:srgbClr val="E0B34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4536" y="4215384"/>
            <a:ext cx="310896" cy="310896"/>
          </a:xfrm>
          <a:prstGeom prst="rect">
            <a:avLst/>
          </a:prstGeom>
        </p:spPr>
      </p:pic>
      <p:sp>
        <p:nvSpPr>
          <p:cNvPr id="103" name="Text 97"/>
          <p:cNvSpPr/>
          <p:nvPr/>
        </p:nvSpPr>
        <p:spPr>
          <a:xfrm>
            <a:off x="7132320" y="4069080"/>
            <a:ext cx="45171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0B34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4. </a:t>
            </a:r>
            <a:r>
              <a:rPr lang="en-US" sz="1900" b="1" dirty="0">
                <a:solidFill>
                  <a:srgbClr val="FBF8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GOVERN</a:t>
            </a:r>
            <a:endParaRPr lang="en-US" sz="1900" dirty="0"/>
          </a:p>
        </p:txBody>
      </p:sp>
      <p:sp>
        <p:nvSpPr>
          <p:cNvPr id="104" name="Text 98"/>
          <p:cNvSpPr/>
          <p:nvPr/>
        </p:nvSpPr>
        <p:spPr>
          <a:xfrm>
            <a:off x="7132320" y="4416552"/>
            <a:ext cx="45171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A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policy, guardrails &amp; approval</a:t>
            </a:r>
            <a:endParaRPr lang="en-US" sz="1150" dirty="0"/>
          </a:p>
        </p:txBody>
      </p:sp>
      <p:sp>
        <p:nvSpPr>
          <p:cNvPr id="105" name="Shape 99"/>
          <p:cNvSpPr/>
          <p:nvPr/>
        </p:nvSpPr>
        <p:spPr>
          <a:xfrm>
            <a:off x="6446520" y="4782312"/>
            <a:ext cx="2103120" cy="237744"/>
          </a:xfrm>
          <a:prstGeom prst="rect">
            <a:avLst/>
          </a:prstGeom>
          <a:solidFill>
            <a:srgbClr val="E0B341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" name="Text 100"/>
          <p:cNvSpPr/>
          <p:nvPr/>
        </p:nvSpPr>
        <p:spPr>
          <a:xfrm>
            <a:off x="6510528" y="478231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E0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PROJECTS</a:t>
            </a:r>
            <a:endParaRPr lang="en-US" sz="850" dirty="0"/>
          </a:p>
        </p:txBody>
      </p:sp>
      <p:sp>
        <p:nvSpPr>
          <p:cNvPr id="107" name="Shape 101"/>
          <p:cNvSpPr/>
          <p:nvPr/>
        </p:nvSpPr>
        <p:spPr>
          <a:xfrm>
            <a:off x="6446520" y="5074920"/>
            <a:ext cx="1207008" cy="786384"/>
          </a:xfrm>
          <a:prstGeom prst="roundRect">
            <a:avLst>
              <a:gd name="adj" fmla="val 5814"/>
            </a:avLst>
          </a:prstGeom>
          <a:solidFill>
            <a:srgbClr val="1A1030"/>
          </a:solidFill>
          <a:ln w="9525">
            <a:solidFill>
              <a:srgbClr val="3A2E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2"/>
          <p:cNvSpPr/>
          <p:nvPr/>
        </p:nvSpPr>
        <p:spPr>
          <a:xfrm>
            <a:off x="6949440" y="5184648"/>
            <a:ext cx="201168" cy="201168"/>
          </a:xfrm>
          <a:prstGeom prst="ellipse">
            <a:avLst/>
          </a:prstGeom>
          <a:solidFill>
            <a:srgbClr val="E0B3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" name="Text 103"/>
          <p:cNvSpPr/>
          <p:nvPr/>
        </p:nvSpPr>
        <p:spPr>
          <a:xfrm>
            <a:off x="6949440" y="51846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900" dirty="0"/>
          </a:p>
        </p:txBody>
      </p:sp>
      <p:sp>
        <p:nvSpPr>
          <p:cNvPr id="110" name="Text 104"/>
          <p:cNvSpPr/>
          <p:nvPr/>
        </p:nvSpPr>
        <p:spPr>
          <a:xfrm>
            <a:off x="6464808" y="5404104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</a:t>
            </a:r>
            <a:endParaRPr lang="en-US" sz="900" dirty="0"/>
          </a:p>
        </p:txBody>
      </p:sp>
      <p:sp>
        <p:nvSpPr>
          <p:cNvPr id="111" name="Shape 105"/>
          <p:cNvSpPr/>
          <p:nvPr/>
        </p:nvSpPr>
        <p:spPr>
          <a:xfrm>
            <a:off x="6675120" y="5641848"/>
            <a:ext cx="749808" cy="173736"/>
          </a:xfrm>
          <a:prstGeom prst="roundRect">
            <a:avLst>
              <a:gd name="adj" fmla="val 15789"/>
            </a:avLst>
          </a:prstGeom>
          <a:solidFill>
            <a:srgbClr val="E0B341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2" name="Text 106"/>
          <p:cNvSpPr/>
          <p:nvPr/>
        </p:nvSpPr>
        <p:spPr>
          <a:xfrm>
            <a:off x="6675120" y="5641848"/>
            <a:ext cx="7498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0A0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Apache-2.0</a:t>
            </a:r>
            <a:endParaRPr lang="en-US" sz="680" dirty="0"/>
          </a:p>
        </p:txBody>
      </p:sp>
      <p:sp>
        <p:nvSpPr>
          <p:cNvPr id="113" name="Shape 107"/>
          <p:cNvSpPr/>
          <p:nvPr/>
        </p:nvSpPr>
        <p:spPr>
          <a:xfrm>
            <a:off x="7763256" y="5074920"/>
            <a:ext cx="1207008" cy="786384"/>
          </a:xfrm>
          <a:prstGeom prst="roundRect">
            <a:avLst>
              <a:gd name="adj" fmla="val 5814"/>
            </a:avLst>
          </a:prstGeom>
          <a:solidFill>
            <a:srgbClr val="1A1030"/>
          </a:solidFill>
          <a:ln w="9525">
            <a:solidFill>
              <a:srgbClr val="3A2E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08"/>
          <p:cNvSpPr/>
          <p:nvPr/>
        </p:nvSpPr>
        <p:spPr>
          <a:xfrm>
            <a:off x="8266176" y="5184648"/>
            <a:ext cx="201168" cy="201168"/>
          </a:xfrm>
          <a:prstGeom prst="ellipse">
            <a:avLst/>
          </a:prstGeom>
          <a:solidFill>
            <a:srgbClr val="E0B3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" name="Text 109"/>
          <p:cNvSpPr/>
          <p:nvPr/>
        </p:nvSpPr>
        <p:spPr>
          <a:xfrm>
            <a:off x="8266176" y="51846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900" dirty="0"/>
          </a:p>
        </p:txBody>
      </p:sp>
      <p:sp>
        <p:nvSpPr>
          <p:cNvPr id="116" name="Text 110"/>
          <p:cNvSpPr/>
          <p:nvPr/>
        </p:nvSpPr>
        <p:spPr>
          <a:xfrm>
            <a:off x="7781544" y="5404104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900" dirty="0"/>
          </a:p>
        </p:txBody>
      </p:sp>
      <p:sp>
        <p:nvSpPr>
          <p:cNvPr id="117" name="Shape 111"/>
          <p:cNvSpPr/>
          <p:nvPr/>
        </p:nvSpPr>
        <p:spPr>
          <a:xfrm>
            <a:off x="7991856" y="5641848"/>
            <a:ext cx="749808" cy="173736"/>
          </a:xfrm>
          <a:prstGeom prst="roundRect">
            <a:avLst>
              <a:gd name="adj" fmla="val 15789"/>
            </a:avLst>
          </a:prstGeom>
          <a:solidFill>
            <a:srgbClr val="E0B341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8" name="Text 112"/>
          <p:cNvSpPr/>
          <p:nvPr/>
        </p:nvSpPr>
        <p:spPr>
          <a:xfrm>
            <a:off x="7991856" y="5641848"/>
            <a:ext cx="7498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0A0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Apache-2.0</a:t>
            </a:r>
            <a:endParaRPr lang="en-US" sz="680" dirty="0"/>
          </a:p>
        </p:txBody>
      </p:sp>
      <p:sp>
        <p:nvSpPr>
          <p:cNvPr id="119" name="Shape 113"/>
          <p:cNvSpPr/>
          <p:nvPr/>
        </p:nvSpPr>
        <p:spPr>
          <a:xfrm>
            <a:off x="9079992" y="5074920"/>
            <a:ext cx="1207008" cy="786384"/>
          </a:xfrm>
          <a:prstGeom prst="roundRect">
            <a:avLst>
              <a:gd name="adj" fmla="val 5814"/>
            </a:avLst>
          </a:prstGeom>
          <a:solidFill>
            <a:srgbClr val="1A1030"/>
          </a:solidFill>
          <a:ln w="9525">
            <a:solidFill>
              <a:srgbClr val="3A2E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114"/>
          <p:cNvSpPr/>
          <p:nvPr/>
        </p:nvSpPr>
        <p:spPr>
          <a:xfrm>
            <a:off x="9582912" y="5184648"/>
            <a:ext cx="201168" cy="201168"/>
          </a:xfrm>
          <a:prstGeom prst="ellipse">
            <a:avLst/>
          </a:prstGeom>
          <a:solidFill>
            <a:srgbClr val="E0B3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1" name="Text 115"/>
          <p:cNvSpPr/>
          <p:nvPr/>
        </p:nvSpPr>
        <p:spPr>
          <a:xfrm>
            <a:off x="9582912" y="51846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900" dirty="0"/>
          </a:p>
        </p:txBody>
      </p:sp>
      <p:sp>
        <p:nvSpPr>
          <p:cNvPr id="122" name="Text 116"/>
          <p:cNvSpPr/>
          <p:nvPr/>
        </p:nvSpPr>
        <p:spPr>
          <a:xfrm>
            <a:off x="9098280" y="5404104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</a:t>
            </a:r>
            <a:endParaRPr lang="en-US" sz="900" dirty="0"/>
          </a:p>
        </p:txBody>
      </p:sp>
      <p:sp>
        <p:nvSpPr>
          <p:cNvPr id="123" name="Shape 117"/>
          <p:cNvSpPr/>
          <p:nvPr/>
        </p:nvSpPr>
        <p:spPr>
          <a:xfrm>
            <a:off x="9308592" y="5641848"/>
            <a:ext cx="749808" cy="173736"/>
          </a:xfrm>
          <a:prstGeom prst="roundRect">
            <a:avLst>
              <a:gd name="adj" fmla="val 15789"/>
            </a:avLst>
          </a:prstGeom>
          <a:solidFill>
            <a:srgbClr val="E0B341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4" name="Text 118"/>
          <p:cNvSpPr/>
          <p:nvPr/>
        </p:nvSpPr>
        <p:spPr>
          <a:xfrm>
            <a:off x="9308592" y="5641848"/>
            <a:ext cx="7498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0A0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Apache-2.0</a:t>
            </a:r>
            <a:endParaRPr lang="en-US" sz="680" dirty="0"/>
          </a:p>
        </p:txBody>
      </p:sp>
      <p:sp>
        <p:nvSpPr>
          <p:cNvPr id="125" name="Shape 119"/>
          <p:cNvSpPr/>
          <p:nvPr/>
        </p:nvSpPr>
        <p:spPr>
          <a:xfrm>
            <a:off x="10396728" y="5074920"/>
            <a:ext cx="1207008" cy="786384"/>
          </a:xfrm>
          <a:prstGeom prst="roundRect">
            <a:avLst>
              <a:gd name="adj" fmla="val 5814"/>
            </a:avLst>
          </a:prstGeom>
          <a:solidFill>
            <a:srgbClr val="1A1030"/>
          </a:solidFill>
          <a:ln w="9525">
            <a:solidFill>
              <a:srgbClr val="3A2E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Shape 120"/>
          <p:cNvSpPr/>
          <p:nvPr/>
        </p:nvSpPr>
        <p:spPr>
          <a:xfrm>
            <a:off x="10899648" y="5184648"/>
            <a:ext cx="201168" cy="201168"/>
          </a:xfrm>
          <a:prstGeom prst="ellipse">
            <a:avLst/>
          </a:prstGeom>
          <a:solidFill>
            <a:srgbClr val="E0B3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7" name="Text 121"/>
          <p:cNvSpPr/>
          <p:nvPr/>
        </p:nvSpPr>
        <p:spPr>
          <a:xfrm>
            <a:off x="10899648" y="51846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900" dirty="0"/>
          </a:p>
        </p:txBody>
      </p:sp>
      <p:sp>
        <p:nvSpPr>
          <p:cNvPr id="128" name="Text 122"/>
          <p:cNvSpPr/>
          <p:nvPr/>
        </p:nvSpPr>
        <p:spPr>
          <a:xfrm>
            <a:off x="10415016" y="5404104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Presidio</a:t>
            </a:r>
            <a:endParaRPr lang="en-US" sz="900" dirty="0"/>
          </a:p>
        </p:txBody>
      </p:sp>
      <p:sp>
        <p:nvSpPr>
          <p:cNvPr id="129" name="Shape 123"/>
          <p:cNvSpPr/>
          <p:nvPr/>
        </p:nvSpPr>
        <p:spPr>
          <a:xfrm>
            <a:off x="10836554" y="5641848"/>
            <a:ext cx="327355" cy="173736"/>
          </a:xfrm>
          <a:prstGeom prst="roundRect">
            <a:avLst>
              <a:gd name="adj" fmla="val 15789"/>
            </a:avLst>
          </a:prstGeom>
          <a:solidFill>
            <a:srgbClr val="E0B341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0" name="Text 124"/>
          <p:cNvSpPr/>
          <p:nvPr/>
        </p:nvSpPr>
        <p:spPr>
          <a:xfrm>
            <a:off x="10836554" y="5641848"/>
            <a:ext cx="327355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0A0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endParaRPr lang="en-US" sz="680" dirty="0"/>
          </a:p>
        </p:txBody>
      </p:sp>
      <p:sp>
        <p:nvSpPr>
          <p:cNvPr id="131" name="Text 125"/>
          <p:cNvSpPr/>
          <p:nvPr/>
        </p:nvSpPr>
        <p:spPr>
          <a:xfrm>
            <a:off x="6446520" y="5952744"/>
            <a:ext cx="5202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0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 </a:t>
            </a:r>
            <a:r>
              <a:rPr lang="en-US" sz="950" dirty="0">
                <a:solidFill>
                  <a:srgbClr val="DE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Lakera · Protect AI · Robust Intelligence</a:t>
            </a:r>
            <a:endParaRPr lang="en-US" sz="950" dirty="0"/>
          </a:p>
        </p:txBody>
      </p:sp>
      <p:sp>
        <p:nvSpPr>
          <p:cNvPr id="132" name="Shape 126"/>
          <p:cNvSpPr/>
          <p:nvPr/>
        </p:nvSpPr>
        <p:spPr>
          <a:xfrm>
            <a:off x="0" y="6803136"/>
            <a:ext cx="2103120" cy="54864"/>
          </a:xfrm>
          <a:prstGeom prst="rect">
            <a:avLst/>
          </a:prstGeom>
          <a:solidFill>
            <a:srgbClr val="A10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3" name="Shape 127"/>
          <p:cNvSpPr/>
          <p:nvPr/>
        </p:nvSpPr>
        <p:spPr>
          <a:xfrm>
            <a:off x="502920" y="6419088"/>
            <a:ext cx="118872" cy="118872"/>
          </a:xfrm>
          <a:prstGeom prst="rect">
            <a:avLst/>
          </a:prstGeom>
          <a:solidFill>
            <a:srgbClr val="A10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4" name="Text 128"/>
          <p:cNvSpPr/>
          <p:nvPr/>
        </p:nvSpPr>
        <p:spPr>
          <a:xfrm>
            <a:off x="713232" y="635508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A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 AI Podcast  |  Harness Engineering</a:t>
            </a:r>
            <a:endParaRPr lang="en-US" sz="1050" dirty="0"/>
          </a:p>
        </p:txBody>
      </p:sp>
      <p:sp>
        <p:nvSpPr>
          <p:cNvPr id="135" name="Text 129"/>
          <p:cNvSpPr/>
          <p:nvPr/>
        </p:nvSpPr>
        <p:spPr>
          <a:xfrm>
            <a:off x="10424160" y="635508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C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52F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MATRIX  |  THE WIDER TOOLCHAIN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9973361" y="384048"/>
            <a:ext cx="1578254" cy="502920"/>
          </a:xfrm>
          <a:prstGeom prst="roundRect">
            <a:avLst>
              <a:gd name="adj" fmla="val 16364"/>
            </a:avLst>
          </a:prstGeom>
          <a:solidFill>
            <a:srgbClr val="1A1030"/>
          </a:solidFill>
          <a:ln w="12700">
            <a:solidFill>
              <a:srgbClr val="D7A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973361" y="384048"/>
            <a:ext cx="157825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7A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 projects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21792" y="9144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BF8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More of the harness ecosystem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57276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FA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four pillars — the fuller open-source toolchain teams reach for, grouped by where it fits.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5577840" cy="2148840"/>
          </a:xfrm>
          <a:prstGeom prst="roundRect">
            <a:avLst>
              <a:gd name="adj" fmla="val 2553"/>
            </a:avLst>
          </a:prstGeom>
          <a:solidFill>
            <a:srgbClr val="1A1030"/>
          </a:solidFill>
          <a:ln w="12700">
            <a:solidFill>
              <a:srgbClr val="3A2E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0080" y="1965960"/>
            <a:ext cx="91440" cy="2148840"/>
          </a:xfrm>
          <a:prstGeom prst="rect">
            <a:avLst/>
          </a:prstGeom>
          <a:solidFill>
            <a:srgbClr val="D7A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213055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7A7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Agent &amp; workflow frameworks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4400" y="2624328"/>
            <a:ext cx="887882" cy="365760"/>
          </a:xfrm>
          <a:prstGeom prst="roundRect">
            <a:avLst>
              <a:gd name="adj" fmla="val 15000"/>
            </a:avLst>
          </a:prstGeom>
          <a:solidFill>
            <a:srgbClr val="1C133A"/>
          </a:solidFill>
          <a:ln w="6350">
            <a:solidFill>
              <a:srgbClr val="D7A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2624328"/>
            <a:ext cx="8878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E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AutoGen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930298" y="2624328"/>
            <a:ext cx="1568196" cy="365760"/>
          </a:xfrm>
          <a:prstGeom prst="roundRect">
            <a:avLst>
              <a:gd name="adj" fmla="val 15000"/>
            </a:avLst>
          </a:prstGeom>
          <a:solidFill>
            <a:srgbClr val="1C133A"/>
          </a:solidFill>
          <a:ln w="6350">
            <a:solidFill>
              <a:srgbClr val="D7A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930298" y="2624328"/>
            <a:ext cx="15681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E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Kernel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26510" y="2624328"/>
            <a:ext cx="1143000" cy="365760"/>
          </a:xfrm>
          <a:prstGeom prst="roundRect">
            <a:avLst>
              <a:gd name="adj" fmla="val 15000"/>
            </a:avLst>
          </a:prstGeom>
          <a:solidFill>
            <a:srgbClr val="1C133A"/>
          </a:solidFill>
          <a:ln w="6350">
            <a:solidFill>
              <a:srgbClr val="D7A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26510" y="262432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E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LlamaIndex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97526" y="2624328"/>
            <a:ext cx="632765" cy="365760"/>
          </a:xfrm>
          <a:prstGeom prst="roundRect">
            <a:avLst>
              <a:gd name="adj" fmla="val 15000"/>
            </a:avLst>
          </a:prstGeom>
          <a:solidFill>
            <a:srgbClr val="1C133A"/>
          </a:solidFill>
          <a:ln w="6350">
            <a:solidFill>
              <a:srgbClr val="D7A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97526" y="2624328"/>
            <a:ext cx="63276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E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14400" y="3081528"/>
            <a:ext cx="972922" cy="365760"/>
          </a:xfrm>
          <a:prstGeom prst="roundRect">
            <a:avLst>
              <a:gd name="adj" fmla="val 15000"/>
            </a:avLst>
          </a:prstGeom>
          <a:solidFill>
            <a:srgbClr val="1C133A"/>
          </a:solidFill>
          <a:ln w="6350">
            <a:solidFill>
              <a:srgbClr val="D7A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14400" y="3081528"/>
            <a:ext cx="9729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E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Haystack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015338" y="3081528"/>
            <a:ext cx="1143000" cy="365760"/>
          </a:xfrm>
          <a:prstGeom prst="roundRect">
            <a:avLst>
              <a:gd name="adj" fmla="val 15000"/>
            </a:avLst>
          </a:prstGeom>
          <a:solidFill>
            <a:srgbClr val="1C133A"/>
          </a:solidFill>
          <a:ln w="6350">
            <a:solidFill>
              <a:srgbClr val="D7A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015338" y="308152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E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PydanticAI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86354" y="3081528"/>
            <a:ext cx="1143000" cy="365760"/>
          </a:xfrm>
          <a:prstGeom prst="roundRect">
            <a:avLst>
              <a:gd name="adj" fmla="val 15000"/>
            </a:avLst>
          </a:prstGeom>
          <a:solidFill>
            <a:srgbClr val="1C133A"/>
          </a:solidFill>
          <a:ln w="6350">
            <a:solidFill>
              <a:srgbClr val="D7A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86354" y="308152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E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SmolAgents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57370" y="3081528"/>
            <a:ext cx="632765" cy="365760"/>
          </a:xfrm>
          <a:prstGeom prst="roundRect">
            <a:avLst>
              <a:gd name="adj" fmla="val 15000"/>
            </a:avLst>
          </a:prstGeom>
          <a:solidFill>
            <a:srgbClr val="1C133A"/>
          </a:solidFill>
          <a:ln w="6350">
            <a:solidFill>
              <a:srgbClr val="D7A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57370" y="3081528"/>
            <a:ext cx="63276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E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Agno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14400" y="3538728"/>
            <a:ext cx="887882" cy="365760"/>
          </a:xfrm>
          <a:prstGeom prst="roundRect">
            <a:avLst>
              <a:gd name="adj" fmla="val 15000"/>
            </a:avLst>
          </a:prstGeom>
          <a:solidFill>
            <a:srgbClr val="1C133A"/>
          </a:solidFill>
          <a:ln w="6350">
            <a:solidFill>
              <a:srgbClr val="D7A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14400" y="3538728"/>
            <a:ext cx="8878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E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Prefect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930298" y="3538728"/>
            <a:ext cx="887882" cy="365760"/>
          </a:xfrm>
          <a:prstGeom prst="roundRect">
            <a:avLst>
              <a:gd name="adj" fmla="val 15000"/>
            </a:avLst>
          </a:prstGeom>
          <a:solidFill>
            <a:srgbClr val="1C133A"/>
          </a:solidFill>
          <a:ln w="6350">
            <a:solidFill>
              <a:srgbClr val="D7A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930298" y="3538728"/>
            <a:ext cx="8878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E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Dagster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946197" y="3538728"/>
            <a:ext cx="887882" cy="365760"/>
          </a:xfrm>
          <a:prstGeom prst="roundRect">
            <a:avLst>
              <a:gd name="adj" fmla="val 15000"/>
            </a:avLst>
          </a:prstGeom>
          <a:solidFill>
            <a:srgbClr val="1C133A"/>
          </a:solidFill>
          <a:ln w="6350">
            <a:solidFill>
              <a:srgbClr val="D7A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946197" y="3538728"/>
            <a:ext cx="8878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E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962095" y="3538728"/>
            <a:ext cx="1483157" cy="365760"/>
          </a:xfrm>
          <a:prstGeom prst="roundRect">
            <a:avLst>
              <a:gd name="adj" fmla="val 15000"/>
            </a:avLst>
          </a:prstGeom>
          <a:solidFill>
            <a:srgbClr val="1C133A"/>
          </a:solidFill>
          <a:ln w="6350">
            <a:solidFill>
              <a:srgbClr val="D7A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962095" y="3538728"/>
            <a:ext cx="148315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E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 Workflows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73952" y="1965960"/>
            <a:ext cx="5577840" cy="2148840"/>
          </a:xfrm>
          <a:prstGeom prst="roundRect">
            <a:avLst>
              <a:gd name="adj" fmla="val 2553"/>
            </a:avLst>
          </a:prstGeom>
          <a:solidFill>
            <a:srgbClr val="1A1030"/>
          </a:solidFill>
          <a:ln w="12700">
            <a:solidFill>
              <a:srgbClr val="3A2E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473952" y="1965960"/>
            <a:ext cx="91440" cy="2148840"/>
          </a:xfrm>
          <a:prstGeom prst="rect">
            <a:avLst/>
          </a:prstGeom>
          <a:solidFill>
            <a:srgbClr val="38D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748272" y="213055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D8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Context, memory &amp; serving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748272" y="2624328"/>
            <a:ext cx="802843" cy="365760"/>
          </a:xfrm>
          <a:prstGeom prst="roundRect">
            <a:avLst>
              <a:gd name="adj" fmla="val 15000"/>
            </a:avLst>
          </a:prstGeom>
          <a:solidFill>
            <a:srgbClr val="1C133A"/>
          </a:solidFill>
          <a:ln w="6350">
            <a:solidFill>
              <a:srgbClr val="38D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748272" y="2624328"/>
            <a:ext cx="8028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E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Milvus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679131" y="2624328"/>
            <a:ext cx="972922" cy="365760"/>
          </a:xfrm>
          <a:prstGeom prst="roundRect">
            <a:avLst>
              <a:gd name="adj" fmla="val 15000"/>
            </a:avLst>
          </a:prstGeom>
          <a:solidFill>
            <a:srgbClr val="1C133A"/>
          </a:solidFill>
          <a:ln w="6350">
            <a:solidFill>
              <a:srgbClr val="38D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679131" y="2624328"/>
            <a:ext cx="9729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E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Weaviate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8780069" y="2624328"/>
            <a:ext cx="547726" cy="365760"/>
          </a:xfrm>
          <a:prstGeom prst="roundRect">
            <a:avLst>
              <a:gd name="adj" fmla="val 15000"/>
            </a:avLst>
          </a:prstGeom>
          <a:solidFill>
            <a:srgbClr val="1C133A"/>
          </a:solidFill>
          <a:ln w="6350">
            <a:solidFill>
              <a:srgbClr val="38D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780069" y="2624328"/>
            <a:ext cx="5477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E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9455810" y="2624328"/>
            <a:ext cx="887882" cy="365760"/>
          </a:xfrm>
          <a:prstGeom prst="roundRect">
            <a:avLst>
              <a:gd name="adj" fmla="val 15000"/>
            </a:avLst>
          </a:prstGeom>
          <a:solidFill>
            <a:srgbClr val="1C133A"/>
          </a:solidFill>
          <a:ln w="6350">
            <a:solidFill>
              <a:srgbClr val="38D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9455810" y="2624328"/>
            <a:ext cx="8878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E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LMCache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10471709" y="2624328"/>
            <a:ext cx="632765" cy="365760"/>
          </a:xfrm>
          <a:prstGeom prst="roundRect">
            <a:avLst>
              <a:gd name="adj" fmla="val 15000"/>
            </a:avLst>
          </a:prstGeom>
          <a:solidFill>
            <a:srgbClr val="1C133A"/>
          </a:solidFill>
          <a:ln w="6350">
            <a:solidFill>
              <a:srgbClr val="38D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10471709" y="2624328"/>
            <a:ext cx="63276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E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748272" y="3081528"/>
            <a:ext cx="802843" cy="365760"/>
          </a:xfrm>
          <a:prstGeom prst="roundRect">
            <a:avLst>
              <a:gd name="adj" fmla="val 15000"/>
            </a:avLst>
          </a:prstGeom>
          <a:solidFill>
            <a:srgbClr val="1C133A"/>
          </a:solidFill>
          <a:ln w="6350">
            <a:solidFill>
              <a:srgbClr val="38D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748272" y="3081528"/>
            <a:ext cx="8028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E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SGLang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7679131" y="3081528"/>
            <a:ext cx="1057961" cy="365760"/>
          </a:xfrm>
          <a:prstGeom prst="roundRect">
            <a:avLst>
              <a:gd name="adj" fmla="val 15000"/>
            </a:avLst>
          </a:prstGeom>
          <a:solidFill>
            <a:srgbClr val="1C133A"/>
          </a:solidFill>
          <a:ln w="6350">
            <a:solidFill>
              <a:srgbClr val="38D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679131" y="3081528"/>
            <a:ext cx="105796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E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 Serve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8865108" y="3081528"/>
            <a:ext cx="887882" cy="365760"/>
          </a:xfrm>
          <a:prstGeom prst="roundRect">
            <a:avLst>
              <a:gd name="adj" fmla="val 15000"/>
            </a:avLst>
          </a:prstGeom>
          <a:solidFill>
            <a:srgbClr val="1C133A"/>
          </a:solidFill>
          <a:ln w="6350">
            <a:solidFill>
              <a:srgbClr val="38D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8865108" y="3081528"/>
            <a:ext cx="8878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E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BentoML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9881006" y="3081528"/>
            <a:ext cx="802843" cy="365760"/>
          </a:xfrm>
          <a:prstGeom prst="roundRect">
            <a:avLst>
              <a:gd name="adj" fmla="val 15000"/>
            </a:avLst>
          </a:prstGeom>
          <a:solidFill>
            <a:srgbClr val="1C133A"/>
          </a:solidFill>
          <a:ln w="6350">
            <a:solidFill>
              <a:srgbClr val="38D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9881006" y="3081528"/>
            <a:ext cx="8028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E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KServe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10811866" y="3081528"/>
            <a:ext cx="887882" cy="365760"/>
          </a:xfrm>
          <a:prstGeom prst="roundRect">
            <a:avLst>
              <a:gd name="adj" fmla="val 15000"/>
            </a:avLst>
          </a:prstGeom>
          <a:solidFill>
            <a:srgbClr val="1C133A"/>
          </a:solidFill>
          <a:ln w="6350">
            <a:solidFill>
              <a:srgbClr val="38D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10811866" y="3081528"/>
            <a:ext cx="8878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E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Repomix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6748272" y="3538728"/>
            <a:ext cx="972922" cy="365760"/>
          </a:xfrm>
          <a:prstGeom prst="roundRect">
            <a:avLst>
              <a:gd name="adj" fmla="val 15000"/>
            </a:avLst>
          </a:prstGeom>
          <a:solidFill>
            <a:srgbClr val="1C133A"/>
          </a:solidFill>
          <a:ln w="6350">
            <a:solidFill>
              <a:srgbClr val="38D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748272" y="3538728"/>
            <a:ext cx="9729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E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640080" y="4297680"/>
            <a:ext cx="5577840" cy="2148840"/>
          </a:xfrm>
          <a:prstGeom prst="roundRect">
            <a:avLst>
              <a:gd name="adj" fmla="val 2553"/>
            </a:avLst>
          </a:prstGeom>
          <a:solidFill>
            <a:srgbClr val="1A1030"/>
          </a:solidFill>
          <a:ln w="12700">
            <a:solidFill>
              <a:srgbClr val="3A2E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640080" y="4297680"/>
            <a:ext cx="91440" cy="2148840"/>
          </a:xfrm>
          <a:prstGeom prst="rect">
            <a:avLst/>
          </a:prstGeom>
          <a:solidFill>
            <a:srgbClr val="52F2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914400" y="446227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2F2B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Eval, tracing &amp; observability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914400" y="4956048"/>
            <a:ext cx="887882" cy="365760"/>
          </a:xfrm>
          <a:prstGeom prst="roundRect">
            <a:avLst>
              <a:gd name="adj" fmla="val 15000"/>
            </a:avLst>
          </a:prstGeom>
          <a:solidFill>
            <a:srgbClr val="1C133A"/>
          </a:solidFill>
          <a:ln w="6350">
            <a:solidFill>
              <a:srgbClr val="52F2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914400" y="4956048"/>
            <a:ext cx="8878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E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OpenLIT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1930298" y="4956048"/>
            <a:ext cx="1398118" cy="365760"/>
          </a:xfrm>
          <a:prstGeom prst="roundRect">
            <a:avLst>
              <a:gd name="adj" fmla="val 15000"/>
            </a:avLst>
          </a:prstGeom>
          <a:solidFill>
            <a:srgbClr val="1C133A"/>
          </a:solidFill>
          <a:ln w="6350">
            <a:solidFill>
              <a:srgbClr val="52F2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1930298" y="4956048"/>
            <a:ext cx="13981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E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Arize Phoenix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3456432" y="4956048"/>
            <a:ext cx="1057961" cy="365760"/>
          </a:xfrm>
          <a:prstGeom prst="roundRect">
            <a:avLst>
              <a:gd name="adj" fmla="val 15000"/>
            </a:avLst>
          </a:prstGeom>
          <a:solidFill>
            <a:srgbClr val="1C133A"/>
          </a:solidFill>
          <a:ln w="6350">
            <a:solidFill>
              <a:srgbClr val="52F2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3456432" y="4956048"/>
            <a:ext cx="105796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E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Evidently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4642409" y="4956048"/>
            <a:ext cx="972922" cy="365760"/>
          </a:xfrm>
          <a:prstGeom prst="roundRect">
            <a:avLst>
              <a:gd name="adj" fmla="val 15000"/>
            </a:avLst>
          </a:prstGeom>
          <a:solidFill>
            <a:srgbClr val="1C133A"/>
          </a:solidFill>
          <a:ln w="6350">
            <a:solidFill>
              <a:srgbClr val="52F2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4642409" y="4956048"/>
            <a:ext cx="9729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E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Helicone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914400" y="5413248"/>
            <a:ext cx="887882" cy="365760"/>
          </a:xfrm>
          <a:prstGeom prst="roundRect">
            <a:avLst>
              <a:gd name="adj" fmla="val 15000"/>
            </a:avLst>
          </a:prstGeom>
          <a:solidFill>
            <a:srgbClr val="1C133A"/>
          </a:solidFill>
          <a:ln w="6350">
            <a:solidFill>
              <a:srgbClr val="52F2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914400" y="5413248"/>
            <a:ext cx="8878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E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TruLens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1930298" y="5413248"/>
            <a:ext cx="1313078" cy="365760"/>
          </a:xfrm>
          <a:prstGeom prst="roundRect">
            <a:avLst>
              <a:gd name="adj" fmla="val 15000"/>
            </a:avLst>
          </a:prstGeom>
          <a:solidFill>
            <a:srgbClr val="1C133A"/>
          </a:solidFill>
          <a:ln w="6350">
            <a:solidFill>
              <a:srgbClr val="52F2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1930298" y="5413248"/>
            <a:ext cx="13130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E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Evals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3371393" y="5413248"/>
            <a:ext cx="1057961" cy="365760"/>
          </a:xfrm>
          <a:prstGeom prst="roundRect">
            <a:avLst>
              <a:gd name="adj" fmla="val 15000"/>
            </a:avLst>
          </a:prstGeom>
          <a:solidFill>
            <a:srgbClr val="1C133A"/>
          </a:solidFill>
          <a:ln w="6350">
            <a:solidFill>
              <a:srgbClr val="52F2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3371393" y="5413248"/>
            <a:ext cx="105796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E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W&amp;B Weave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4557370" y="5413248"/>
            <a:ext cx="1057961" cy="365760"/>
          </a:xfrm>
          <a:prstGeom prst="roundRect">
            <a:avLst>
              <a:gd name="adj" fmla="val 15000"/>
            </a:avLst>
          </a:prstGeom>
          <a:solidFill>
            <a:srgbClr val="1C133A"/>
          </a:solidFill>
          <a:ln w="6350">
            <a:solidFill>
              <a:srgbClr val="52F2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4557370" y="5413248"/>
            <a:ext cx="105796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E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6473952" y="4297680"/>
            <a:ext cx="5577840" cy="2148840"/>
          </a:xfrm>
          <a:prstGeom prst="roundRect">
            <a:avLst>
              <a:gd name="adj" fmla="val 2553"/>
            </a:avLst>
          </a:prstGeom>
          <a:solidFill>
            <a:srgbClr val="1A1030"/>
          </a:solidFill>
          <a:ln w="12700">
            <a:solidFill>
              <a:srgbClr val="3A2E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6473952" y="4297680"/>
            <a:ext cx="91440" cy="2148840"/>
          </a:xfrm>
          <a:prstGeom prst="rect">
            <a:avLst/>
          </a:prstGeom>
          <a:solidFill>
            <a:srgbClr val="E0B3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6748272" y="446227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B34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Guardrails, policy &amp; security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6748272" y="4956048"/>
            <a:ext cx="1228039" cy="365760"/>
          </a:xfrm>
          <a:prstGeom prst="roundRect">
            <a:avLst>
              <a:gd name="adj" fmla="val 15000"/>
            </a:avLst>
          </a:prstGeom>
          <a:solidFill>
            <a:srgbClr val="1C133A"/>
          </a:solidFill>
          <a:ln w="6350">
            <a:solidFill>
              <a:srgbClr val="E0B3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6748272" y="4956048"/>
            <a:ext cx="12280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E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Guard</a:t>
            </a:r>
            <a:endParaRPr lang="en-US" sz="1050" dirty="0"/>
          </a:p>
        </p:txBody>
      </p:sp>
      <p:sp>
        <p:nvSpPr>
          <p:cNvPr id="83" name="Shape 81"/>
          <p:cNvSpPr/>
          <p:nvPr/>
        </p:nvSpPr>
        <p:spPr>
          <a:xfrm>
            <a:off x="8104327" y="4956048"/>
            <a:ext cx="802843" cy="365760"/>
          </a:xfrm>
          <a:prstGeom prst="roundRect">
            <a:avLst>
              <a:gd name="adj" fmla="val 15000"/>
            </a:avLst>
          </a:prstGeom>
          <a:solidFill>
            <a:srgbClr val="1C133A"/>
          </a:solidFill>
          <a:ln w="6350">
            <a:solidFill>
              <a:srgbClr val="E0B3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8104327" y="4956048"/>
            <a:ext cx="8028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E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Rebuff</a:t>
            </a:r>
            <a:endParaRPr lang="en-US" sz="1050" dirty="0"/>
          </a:p>
        </p:txBody>
      </p:sp>
      <p:sp>
        <p:nvSpPr>
          <p:cNvPr id="85" name="Shape 83"/>
          <p:cNvSpPr/>
          <p:nvPr/>
        </p:nvSpPr>
        <p:spPr>
          <a:xfrm>
            <a:off x="9035186" y="4956048"/>
            <a:ext cx="717804" cy="365760"/>
          </a:xfrm>
          <a:prstGeom prst="roundRect">
            <a:avLst>
              <a:gd name="adj" fmla="val 15000"/>
            </a:avLst>
          </a:prstGeom>
          <a:solidFill>
            <a:srgbClr val="1C133A"/>
          </a:solidFill>
          <a:ln w="6350">
            <a:solidFill>
              <a:srgbClr val="E0B3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9035186" y="4956048"/>
            <a:ext cx="7178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E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Garak</a:t>
            </a:r>
            <a:endParaRPr lang="en-US" sz="1050" dirty="0"/>
          </a:p>
        </p:txBody>
      </p:sp>
      <p:sp>
        <p:nvSpPr>
          <p:cNvPr id="87" name="Shape 85"/>
          <p:cNvSpPr/>
          <p:nvPr/>
        </p:nvSpPr>
        <p:spPr>
          <a:xfrm>
            <a:off x="9881006" y="4956048"/>
            <a:ext cx="1228039" cy="365760"/>
          </a:xfrm>
          <a:prstGeom prst="roundRect">
            <a:avLst>
              <a:gd name="adj" fmla="val 15000"/>
            </a:avLst>
          </a:prstGeom>
          <a:solidFill>
            <a:srgbClr val="1C133A"/>
          </a:solidFill>
          <a:ln w="6350">
            <a:solidFill>
              <a:srgbClr val="E0B3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9881006" y="4956048"/>
            <a:ext cx="12280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E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PromptGuard</a:t>
            </a:r>
            <a:endParaRPr lang="en-US" sz="1050" dirty="0"/>
          </a:p>
        </p:txBody>
      </p:sp>
      <p:sp>
        <p:nvSpPr>
          <p:cNvPr id="89" name="Shape 87"/>
          <p:cNvSpPr/>
          <p:nvPr/>
        </p:nvSpPr>
        <p:spPr>
          <a:xfrm>
            <a:off x="6748272" y="5413248"/>
            <a:ext cx="1653235" cy="365760"/>
          </a:xfrm>
          <a:prstGeom prst="roundRect">
            <a:avLst>
              <a:gd name="adj" fmla="val 15000"/>
            </a:avLst>
          </a:prstGeom>
          <a:solidFill>
            <a:srgbClr val="1C133A"/>
          </a:solidFill>
          <a:ln w="6350">
            <a:solidFill>
              <a:srgbClr val="E0B3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6748272" y="5413248"/>
            <a:ext cx="16532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E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 / Gatekeeper</a:t>
            </a:r>
            <a:endParaRPr lang="en-US" sz="1050" dirty="0"/>
          </a:p>
        </p:txBody>
      </p:sp>
      <p:sp>
        <p:nvSpPr>
          <p:cNvPr id="91" name="Shape 89"/>
          <p:cNvSpPr/>
          <p:nvPr/>
        </p:nvSpPr>
        <p:spPr>
          <a:xfrm>
            <a:off x="8529523" y="5413248"/>
            <a:ext cx="1568196" cy="365760"/>
          </a:xfrm>
          <a:prstGeom prst="roundRect">
            <a:avLst>
              <a:gd name="adj" fmla="val 15000"/>
            </a:avLst>
          </a:prstGeom>
          <a:solidFill>
            <a:srgbClr val="1C133A"/>
          </a:solidFill>
          <a:ln w="6350">
            <a:solidFill>
              <a:srgbClr val="E0B3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8529523" y="5413248"/>
            <a:ext cx="15681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E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Security</a:t>
            </a:r>
            <a:endParaRPr lang="en-US" sz="1050" dirty="0"/>
          </a:p>
        </p:txBody>
      </p:sp>
      <p:sp>
        <p:nvSpPr>
          <p:cNvPr id="93" name="Shape 91"/>
          <p:cNvSpPr/>
          <p:nvPr/>
        </p:nvSpPr>
        <p:spPr>
          <a:xfrm>
            <a:off x="6748272" y="5870448"/>
            <a:ext cx="1908353" cy="365760"/>
          </a:xfrm>
          <a:prstGeom prst="roundRect">
            <a:avLst>
              <a:gd name="adj" fmla="val 15000"/>
            </a:avLst>
          </a:prstGeom>
          <a:solidFill>
            <a:srgbClr val="1C133A"/>
          </a:solidFill>
          <a:ln w="6350">
            <a:solidFill>
              <a:srgbClr val="E0B3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6748272" y="5870448"/>
            <a:ext cx="190835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E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Intelligence</a:t>
            </a:r>
            <a:endParaRPr lang="en-US" sz="1050" dirty="0"/>
          </a:p>
        </p:txBody>
      </p:sp>
      <p:sp>
        <p:nvSpPr>
          <p:cNvPr id="95" name="Shape 93"/>
          <p:cNvSpPr/>
          <p:nvPr/>
        </p:nvSpPr>
        <p:spPr>
          <a:xfrm>
            <a:off x="0" y="6803136"/>
            <a:ext cx="2103120" cy="54864"/>
          </a:xfrm>
          <a:prstGeom prst="rect">
            <a:avLst/>
          </a:prstGeom>
          <a:solidFill>
            <a:srgbClr val="A10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502920" y="6419088"/>
            <a:ext cx="118872" cy="118872"/>
          </a:xfrm>
          <a:prstGeom prst="rect">
            <a:avLst/>
          </a:prstGeom>
          <a:solidFill>
            <a:srgbClr val="A10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713232" y="635508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A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 AI Podcast  |  Harness Engineering</a:t>
            </a:r>
            <a:endParaRPr lang="en-US" sz="1050" dirty="0"/>
          </a:p>
        </p:txBody>
      </p:sp>
      <p:sp>
        <p:nvSpPr>
          <p:cNvPr id="98" name="Text 96"/>
          <p:cNvSpPr/>
          <p:nvPr/>
        </p:nvSpPr>
        <p:spPr>
          <a:xfrm>
            <a:off x="10424160" y="635508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C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52F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 |  THE RUNTIME LOOP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10242194" y="384048"/>
            <a:ext cx="1309421" cy="502920"/>
          </a:xfrm>
          <a:prstGeom prst="roundRect">
            <a:avLst>
              <a:gd name="adj" fmla="val 16364"/>
            </a:avLst>
          </a:prstGeom>
          <a:solidFill>
            <a:srgbClr val="1A1030"/>
          </a:solidFill>
          <a:ln w="12700">
            <a:solidFill>
              <a:srgbClr val="38D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242194" y="384048"/>
            <a:ext cx="130942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flow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21792" y="9144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BF8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actually happens on every run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57276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FA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task enters the harness and moves through contain → orchestrate → verify → govern. Failures retry or escalate; only verified, approved work ships.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1298448" cy="1371600"/>
          </a:xfrm>
          <a:prstGeom prst="roundRect">
            <a:avLst>
              <a:gd name="adj" fmla="val 4225"/>
            </a:avLst>
          </a:prstGeom>
          <a:solidFill>
            <a:srgbClr val="1A1030"/>
          </a:solidFill>
          <a:ln w="15875">
            <a:solidFill>
              <a:srgbClr val="D7A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33272" y="2651760"/>
            <a:ext cx="512064" cy="512064"/>
          </a:xfrm>
          <a:prstGeom prst="ellipse">
            <a:avLst/>
          </a:prstGeom>
          <a:solidFill>
            <a:srgbClr val="D7A7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761488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3218688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B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in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76656" y="3502152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FA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+ constraints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1920240" y="3081528"/>
            <a:ext cx="146304" cy="146304"/>
          </a:xfrm>
          <a:prstGeom prst="ellipse">
            <a:avLst/>
          </a:prstGeom>
          <a:solidFill>
            <a:srgbClr val="8C7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2048256" y="2468880"/>
            <a:ext cx="1298448" cy="1371600"/>
          </a:xfrm>
          <a:prstGeom prst="roundRect">
            <a:avLst>
              <a:gd name="adj" fmla="val 4225"/>
            </a:avLst>
          </a:prstGeom>
          <a:solidFill>
            <a:srgbClr val="1A1030"/>
          </a:solidFill>
          <a:ln w="15875">
            <a:solidFill>
              <a:srgbClr val="D7A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441448" y="2651760"/>
            <a:ext cx="512064" cy="512064"/>
          </a:xfrm>
          <a:prstGeom prst="ellipse">
            <a:avLst/>
          </a:prstGeom>
          <a:solidFill>
            <a:srgbClr val="D7A7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1176" y="2761488"/>
            <a:ext cx="292608" cy="29260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048256" y="3218688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B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2084832" y="3502152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FA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 steps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3328416" y="3081528"/>
            <a:ext cx="146304" cy="146304"/>
          </a:xfrm>
          <a:prstGeom prst="ellipse">
            <a:avLst/>
          </a:prstGeom>
          <a:solidFill>
            <a:srgbClr val="8C7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3456432" y="2468880"/>
            <a:ext cx="1298448" cy="1371600"/>
          </a:xfrm>
          <a:prstGeom prst="roundRect">
            <a:avLst>
              <a:gd name="adj" fmla="val 4225"/>
            </a:avLst>
          </a:prstGeom>
          <a:solidFill>
            <a:srgbClr val="1A1030"/>
          </a:solidFill>
          <a:ln w="15875">
            <a:solidFill>
              <a:srgbClr val="38D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3849624" y="2651760"/>
            <a:ext cx="512064" cy="512064"/>
          </a:xfrm>
          <a:prstGeom prst="ellipse">
            <a:avLst/>
          </a:prstGeom>
          <a:solidFill>
            <a:srgbClr val="38D8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9352" y="2761488"/>
            <a:ext cx="292608" cy="29260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456432" y="3218688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B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3493008" y="3502152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FA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MCP tools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4736592" y="3081528"/>
            <a:ext cx="146304" cy="146304"/>
          </a:xfrm>
          <a:prstGeom prst="ellipse">
            <a:avLst/>
          </a:prstGeom>
          <a:solidFill>
            <a:srgbClr val="8C7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4864608" y="2468880"/>
            <a:ext cx="1298448" cy="1371600"/>
          </a:xfrm>
          <a:prstGeom prst="roundRect">
            <a:avLst>
              <a:gd name="adj" fmla="val 4225"/>
            </a:avLst>
          </a:prstGeom>
          <a:solidFill>
            <a:srgbClr val="1A1030"/>
          </a:solidFill>
          <a:ln w="15875">
            <a:solidFill>
              <a:srgbClr val="38D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5257800" y="2651760"/>
            <a:ext cx="512064" cy="512064"/>
          </a:xfrm>
          <a:prstGeom prst="ellipse">
            <a:avLst/>
          </a:prstGeom>
          <a:solidFill>
            <a:srgbClr val="38D8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7528" y="2761488"/>
            <a:ext cx="292608" cy="29260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4864608" y="3218688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B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4901184" y="3502152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FA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sandbox</a:t>
            </a:r>
            <a:endParaRPr lang="en-US" sz="850" dirty="0"/>
          </a:p>
        </p:txBody>
      </p:sp>
      <p:sp>
        <p:nvSpPr>
          <p:cNvPr id="30" name="Shape 24"/>
          <p:cNvSpPr/>
          <p:nvPr/>
        </p:nvSpPr>
        <p:spPr>
          <a:xfrm>
            <a:off x="6144768" y="3081528"/>
            <a:ext cx="146304" cy="146304"/>
          </a:xfrm>
          <a:prstGeom prst="ellipse">
            <a:avLst/>
          </a:prstGeom>
          <a:solidFill>
            <a:srgbClr val="8C7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5"/>
          <p:cNvSpPr/>
          <p:nvPr/>
        </p:nvSpPr>
        <p:spPr>
          <a:xfrm>
            <a:off x="6272784" y="2468880"/>
            <a:ext cx="1298448" cy="1371600"/>
          </a:xfrm>
          <a:prstGeom prst="roundRect">
            <a:avLst>
              <a:gd name="adj" fmla="val 4225"/>
            </a:avLst>
          </a:prstGeom>
          <a:solidFill>
            <a:srgbClr val="1A1030"/>
          </a:solidFill>
          <a:ln w="15875">
            <a:solidFill>
              <a:srgbClr val="52F2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6"/>
          <p:cNvSpPr/>
          <p:nvPr/>
        </p:nvSpPr>
        <p:spPr>
          <a:xfrm>
            <a:off x="6665976" y="2651760"/>
            <a:ext cx="512064" cy="512064"/>
          </a:xfrm>
          <a:prstGeom prst="ellipse">
            <a:avLst/>
          </a:prstGeom>
          <a:solidFill>
            <a:srgbClr val="52F2B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75704" y="2761488"/>
            <a:ext cx="292608" cy="292608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6272784" y="3218688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B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6309360" y="3502152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FA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+ cost</a:t>
            </a:r>
            <a:endParaRPr lang="en-US" sz="850" dirty="0"/>
          </a:p>
        </p:txBody>
      </p:sp>
      <p:sp>
        <p:nvSpPr>
          <p:cNvPr id="36" name="Shape 29"/>
          <p:cNvSpPr/>
          <p:nvPr/>
        </p:nvSpPr>
        <p:spPr>
          <a:xfrm>
            <a:off x="7552944" y="3081528"/>
            <a:ext cx="146304" cy="146304"/>
          </a:xfrm>
          <a:prstGeom prst="ellipse">
            <a:avLst/>
          </a:prstGeom>
          <a:solidFill>
            <a:srgbClr val="8C7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0"/>
          <p:cNvSpPr/>
          <p:nvPr/>
        </p:nvSpPr>
        <p:spPr>
          <a:xfrm>
            <a:off x="7680960" y="2468880"/>
            <a:ext cx="1298448" cy="1371600"/>
          </a:xfrm>
          <a:prstGeom prst="roundRect">
            <a:avLst>
              <a:gd name="adj" fmla="val 4225"/>
            </a:avLst>
          </a:prstGeom>
          <a:solidFill>
            <a:srgbClr val="1A1030"/>
          </a:solidFill>
          <a:ln w="15875">
            <a:solidFill>
              <a:srgbClr val="52F2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1"/>
          <p:cNvSpPr/>
          <p:nvPr/>
        </p:nvSpPr>
        <p:spPr>
          <a:xfrm>
            <a:off x="8074152" y="2651760"/>
            <a:ext cx="512064" cy="512064"/>
          </a:xfrm>
          <a:prstGeom prst="ellipse">
            <a:avLst/>
          </a:prstGeom>
          <a:solidFill>
            <a:srgbClr val="52F2B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83880" y="2761488"/>
            <a:ext cx="292608" cy="292608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7680960" y="3218688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B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200" dirty="0"/>
          </a:p>
        </p:txBody>
      </p:sp>
      <p:sp>
        <p:nvSpPr>
          <p:cNvPr id="41" name="Text 33"/>
          <p:cNvSpPr/>
          <p:nvPr/>
        </p:nvSpPr>
        <p:spPr>
          <a:xfrm>
            <a:off x="7717536" y="3502152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FA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gate</a:t>
            </a:r>
            <a:endParaRPr lang="en-US" sz="850" dirty="0"/>
          </a:p>
        </p:txBody>
      </p:sp>
      <p:sp>
        <p:nvSpPr>
          <p:cNvPr id="42" name="Shape 34"/>
          <p:cNvSpPr/>
          <p:nvPr/>
        </p:nvSpPr>
        <p:spPr>
          <a:xfrm>
            <a:off x="8961120" y="3081528"/>
            <a:ext cx="146304" cy="146304"/>
          </a:xfrm>
          <a:prstGeom prst="ellipse">
            <a:avLst/>
          </a:prstGeom>
          <a:solidFill>
            <a:srgbClr val="8C7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35"/>
          <p:cNvSpPr/>
          <p:nvPr/>
        </p:nvSpPr>
        <p:spPr>
          <a:xfrm>
            <a:off x="9089136" y="2468880"/>
            <a:ext cx="1298448" cy="1371600"/>
          </a:xfrm>
          <a:prstGeom prst="roundRect">
            <a:avLst>
              <a:gd name="adj" fmla="val 4225"/>
            </a:avLst>
          </a:prstGeom>
          <a:solidFill>
            <a:srgbClr val="1A1030"/>
          </a:solidFill>
          <a:ln w="15875">
            <a:solidFill>
              <a:srgbClr val="E0B3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36"/>
          <p:cNvSpPr/>
          <p:nvPr/>
        </p:nvSpPr>
        <p:spPr>
          <a:xfrm>
            <a:off x="9482328" y="2651760"/>
            <a:ext cx="512064" cy="512064"/>
          </a:xfrm>
          <a:prstGeom prst="ellipse">
            <a:avLst/>
          </a:prstGeom>
          <a:solidFill>
            <a:srgbClr val="E0B34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92056" y="2761488"/>
            <a:ext cx="292608" cy="292608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9089136" y="3218688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B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</a:t>
            </a:r>
            <a:endParaRPr lang="en-US" sz="1200" dirty="0"/>
          </a:p>
        </p:txBody>
      </p:sp>
      <p:sp>
        <p:nvSpPr>
          <p:cNvPr id="47" name="Text 38"/>
          <p:cNvSpPr/>
          <p:nvPr/>
        </p:nvSpPr>
        <p:spPr>
          <a:xfrm>
            <a:off x="9125712" y="3502152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FA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+ approve</a:t>
            </a:r>
            <a:endParaRPr lang="en-US" sz="850" dirty="0"/>
          </a:p>
        </p:txBody>
      </p:sp>
      <p:sp>
        <p:nvSpPr>
          <p:cNvPr id="48" name="Shape 39"/>
          <p:cNvSpPr/>
          <p:nvPr/>
        </p:nvSpPr>
        <p:spPr>
          <a:xfrm>
            <a:off x="10369296" y="3081528"/>
            <a:ext cx="146304" cy="146304"/>
          </a:xfrm>
          <a:prstGeom prst="ellipse">
            <a:avLst/>
          </a:prstGeom>
          <a:solidFill>
            <a:srgbClr val="8C7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0"/>
          <p:cNvSpPr/>
          <p:nvPr/>
        </p:nvSpPr>
        <p:spPr>
          <a:xfrm>
            <a:off x="10497312" y="2468880"/>
            <a:ext cx="1298448" cy="1371600"/>
          </a:xfrm>
          <a:prstGeom prst="roundRect">
            <a:avLst>
              <a:gd name="adj" fmla="val 4225"/>
            </a:avLst>
          </a:prstGeom>
          <a:solidFill>
            <a:srgbClr val="1A1030"/>
          </a:solidFill>
          <a:ln w="15875">
            <a:solidFill>
              <a:srgbClr val="52F2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1"/>
          <p:cNvSpPr/>
          <p:nvPr/>
        </p:nvSpPr>
        <p:spPr>
          <a:xfrm>
            <a:off x="10890504" y="2651760"/>
            <a:ext cx="512064" cy="512064"/>
          </a:xfrm>
          <a:prstGeom prst="ellipse">
            <a:avLst/>
          </a:prstGeom>
          <a:solidFill>
            <a:srgbClr val="52F2B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00232" y="2761488"/>
            <a:ext cx="292608" cy="292608"/>
          </a:xfrm>
          <a:prstGeom prst="rect">
            <a:avLst/>
          </a:prstGeom>
        </p:spPr>
      </p:pic>
      <p:sp>
        <p:nvSpPr>
          <p:cNvPr id="52" name="Text 42"/>
          <p:cNvSpPr/>
          <p:nvPr/>
        </p:nvSpPr>
        <p:spPr>
          <a:xfrm>
            <a:off x="10497312" y="3218688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B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200" dirty="0"/>
          </a:p>
        </p:txBody>
      </p:sp>
      <p:sp>
        <p:nvSpPr>
          <p:cNvPr id="53" name="Text 43"/>
          <p:cNvSpPr/>
          <p:nvPr/>
        </p:nvSpPr>
        <p:spPr>
          <a:xfrm>
            <a:off x="10533888" y="3502152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FA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value</a:t>
            </a:r>
            <a:endParaRPr lang="en-US" sz="850" dirty="0"/>
          </a:p>
        </p:txBody>
      </p:sp>
      <p:sp>
        <p:nvSpPr>
          <p:cNvPr id="54" name="Shape 44"/>
          <p:cNvSpPr/>
          <p:nvPr/>
        </p:nvSpPr>
        <p:spPr>
          <a:xfrm>
            <a:off x="640080" y="4206240"/>
            <a:ext cx="5257800" cy="1234440"/>
          </a:xfrm>
          <a:prstGeom prst="roundRect">
            <a:avLst>
              <a:gd name="adj" fmla="val 4444"/>
            </a:avLst>
          </a:prstGeom>
          <a:solidFill>
            <a:srgbClr val="2D1010"/>
          </a:solidFill>
          <a:ln w="12700">
            <a:solidFill>
              <a:srgbClr val="7A2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45"/>
          <p:cNvSpPr/>
          <p:nvPr/>
        </p:nvSpPr>
        <p:spPr>
          <a:xfrm>
            <a:off x="868680" y="43434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 Retry / re-plan</a:t>
            </a:r>
            <a:endParaRPr lang="en-US" sz="1400" dirty="0"/>
          </a:p>
        </p:txBody>
      </p:sp>
      <p:sp>
        <p:nvSpPr>
          <p:cNvPr id="56" name="Text 46"/>
          <p:cNvSpPr/>
          <p:nvPr/>
        </p:nvSpPr>
        <p:spPr>
          <a:xfrm>
            <a:off x="868680" y="466344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Observe or Verify fails, the loop re-plans or retries with a different tool or model — bounded by a budget so it can't spin forever.</a:t>
            </a:r>
            <a:endParaRPr lang="en-US" sz="1200" dirty="0"/>
          </a:p>
        </p:txBody>
      </p:sp>
      <p:sp>
        <p:nvSpPr>
          <p:cNvPr id="57" name="Shape 47"/>
          <p:cNvSpPr/>
          <p:nvPr/>
        </p:nvSpPr>
        <p:spPr>
          <a:xfrm>
            <a:off x="6080760" y="4206240"/>
            <a:ext cx="5486400" cy="1234440"/>
          </a:xfrm>
          <a:prstGeom prst="roundRect">
            <a:avLst>
              <a:gd name="adj" fmla="val 4444"/>
            </a:avLst>
          </a:prstGeom>
          <a:solidFill>
            <a:srgbClr val="0F3F3A"/>
          </a:solidFill>
          <a:ln w="12700">
            <a:solidFill>
              <a:srgbClr val="1D6B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48"/>
          <p:cNvSpPr/>
          <p:nvPr/>
        </p:nvSpPr>
        <p:spPr>
          <a:xfrm>
            <a:off x="6309360" y="43434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2F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Escalate on evidence</a:t>
            </a:r>
            <a:endParaRPr lang="en-US" sz="1400" dirty="0"/>
          </a:p>
        </p:txBody>
      </p:sp>
      <p:sp>
        <p:nvSpPr>
          <p:cNvPr id="59" name="Text 49"/>
          <p:cNvSpPr/>
          <p:nvPr/>
        </p:nvSpPr>
        <p:spPr>
          <a:xfrm>
            <a:off x="6309360" y="4663440"/>
            <a:ext cx="5074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E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reasoning and human approval are escalation paths triggered by complexity, risk, or a failed check — not the default road.</a:t>
            </a:r>
            <a:endParaRPr lang="en-US" sz="1200" dirty="0"/>
          </a:p>
        </p:txBody>
      </p:sp>
      <p:sp>
        <p:nvSpPr>
          <p:cNvPr id="60" name="Shape 50"/>
          <p:cNvSpPr/>
          <p:nvPr/>
        </p:nvSpPr>
        <p:spPr>
          <a:xfrm>
            <a:off x="0" y="6803136"/>
            <a:ext cx="2103120" cy="54864"/>
          </a:xfrm>
          <a:prstGeom prst="rect">
            <a:avLst/>
          </a:prstGeom>
          <a:solidFill>
            <a:srgbClr val="A10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1"/>
          <p:cNvSpPr/>
          <p:nvPr/>
        </p:nvSpPr>
        <p:spPr>
          <a:xfrm>
            <a:off x="502920" y="6419088"/>
            <a:ext cx="118872" cy="118872"/>
          </a:xfrm>
          <a:prstGeom prst="rect">
            <a:avLst/>
          </a:prstGeom>
          <a:solidFill>
            <a:srgbClr val="A10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52"/>
          <p:cNvSpPr/>
          <p:nvPr/>
        </p:nvSpPr>
        <p:spPr>
          <a:xfrm>
            <a:off x="713232" y="635508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A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 AI Podcast  |  Harness Engineering</a:t>
            </a:r>
            <a:endParaRPr lang="en-US" sz="1050" dirty="0"/>
          </a:p>
        </p:txBody>
      </p:sp>
      <p:sp>
        <p:nvSpPr>
          <p:cNvPr id="63" name="Text 53"/>
          <p:cNvSpPr/>
          <p:nvPr/>
        </p:nvSpPr>
        <p:spPr>
          <a:xfrm>
            <a:off x="10424160" y="635508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C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52F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ACTION  |  "DOCUMENTS RECEIVED" CLAIM STATUS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21792" y="86868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BF8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From a raw model call to a harnessed agent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3520440" cy="4343400"/>
          </a:xfrm>
          <a:prstGeom prst="roundRect">
            <a:avLst>
              <a:gd name="adj" fmla="val 1818"/>
            </a:avLst>
          </a:prstGeom>
          <a:solidFill>
            <a:srgbClr val="2D1010"/>
          </a:solidFill>
          <a:ln w="15875">
            <a:solidFill>
              <a:srgbClr val="7A2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96596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3A1414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965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MODEL CALL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58368" y="2606040"/>
            <a:ext cx="3108960" cy="713232"/>
          </a:xfrm>
          <a:prstGeom prst="roundRect">
            <a:avLst>
              <a:gd name="adj" fmla="val 6410"/>
            </a:avLst>
          </a:prstGeom>
          <a:solidFill>
            <a:srgbClr val="24100F"/>
          </a:solidFill>
          <a:ln w="9525">
            <a:solidFill>
              <a:srgbClr val="7A2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2825496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70432" y="269748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the whole repo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70432" y="299008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more context than needed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58368" y="3429000"/>
            <a:ext cx="3108960" cy="713232"/>
          </a:xfrm>
          <a:prstGeom prst="roundRect">
            <a:avLst>
              <a:gd name="adj" fmla="val 6410"/>
            </a:avLst>
          </a:prstGeom>
          <a:solidFill>
            <a:srgbClr val="24100F"/>
          </a:solidFill>
          <a:ln w="9525">
            <a:solidFill>
              <a:srgbClr val="7A2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3648456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70432" y="352044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wide open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170432" y="381304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 access from step one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58368" y="4251960"/>
            <a:ext cx="3108960" cy="713232"/>
          </a:xfrm>
          <a:prstGeom prst="roundRect">
            <a:avLst>
              <a:gd name="adj" fmla="val 6410"/>
            </a:avLst>
          </a:prstGeom>
          <a:solidFill>
            <a:srgbClr val="24100F"/>
          </a:solidFill>
          <a:ln w="9525">
            <a:solidFill>
              <a:srgbClr val="7A2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4471416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70432" y="434340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model by default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1170432" y="463600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reasoning for trivial steps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58368" y="5074920"/>
            <a:ext cx="3108960" cy="713232"/>
          </a:xfrm>
          <a:prstGeom prst="roundRect">
            <a:avLst>
              <a:gd name="adj" fmla="val 6410"/>
            </a:avLst>
          </a:prstGeom>
          <a:solidFill>
            <a:srgbClr val="24100F"/>
          </a:solidFill>
          <a:ln w="9525">
            <a:solidFill>
              <a:srgbClr val="7A2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5294376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70432" y="516636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trace, no gate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1170432" y="545896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“hope it worked”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4206240" y="1737360"/>
            <a:ext cx="3776472" cy="4343400"/>
          </a:xfrm>
          <a:prstGeom prst="roundRect">
            <a:avLst>
              <a:gd name="adj" fmla="val 1695"/>
            </a:avLst>
          </a:prstGeom>
          <a:solidFill>
            <a:srgbClr val="1A1030"/>
          </a:solidFill>
          <a:ln w="15875">
            <a:solidFill>
              <a:srgbClr val="4A2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8"/>
          <p:cNvSpPr/>
          <p:nvPr/>
        </p:nvSpPr>
        <p:spPr>
          <a:xfrm>
            <a:off x="4206240" y="1938528"/>
            <a:ext cx="3776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D7A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HARNESS  ·  ETCLOVG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4407408" y="2423160"/>
            <a:ext cx="3374136" cy="585216"/>
          </a:xfrm>
          <a:prstGeom prst="roundRect">
            <a:avLst>
              <a:gd name="adj" fmla="val 7813"/>
            </a:avLst>
          </a:prstGeom>
          <a:solidFill>
            <a:srgbClr val="1C133A"/>
          </a:solidFill>
          <a:ln w="9525">
            <a:solidFill>
              <a:srgbClr val="38D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4407408" y="2423160"/>
            <a:ext cx="73152" cy="585216"/>
          </a:xfrm>
          <a:prstGeom prst="rect">
            <a:avLst/>
          </a:prstGeom>
          <a:solidFill>
            <a:srgbClr val="38D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/>
          <p:nvPr/>
        </p:nvSpPr>
        <p:spPr>
          <a:xfrm>
            <a:off x="4590288" y="247802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4590288" y="2734056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E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+ scoped tools (E, T)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4407408" y="3118104"/>
            <a:ext cx="3374136" cy="585216"/>
          </a:xfrm>
          <a:prstGeom prst="roundRect">
            <a:avLst>
              <a:gd name="adj" fmla="val 7813"/>
            </a:avLst>
          </a:prstGeom>
          <a:solidFill>
            <a:srgbClr val="1C133A"/>
          </a:solidFill>
          <a:ln w="9525">
            <a:solidFill>
              <a:srgbClr val="D7A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4407408" y="3118104"/>
            <a:ext cx="73152" cy="585216"/>
          </a:xfrm>
          <a:prstGeom prst="rect">
            <a:avLst/>
          </a:prstGeom>
          <a:solidFill>
            <a:srgbClr val="D7A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/>
          <p:nvPr/>
        </p:nvSpPr>
        <p:spPr>
          <a:xfrm>
            <a:off x="4590288" y="317296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7A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4590288" y="342900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E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context, memory, loop (C, L)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4407408" y="3813048"/>
            <a:ext cx="3374136" cy="585216"/>
          </a:xfrm>
          <a:prstGeom prst="roundRect">
            <a:avLst>
              <a:gd name="adj" fmla="val 7813"/>
            </a:avLst>
          </a:prstGeom>
          <a:solidFill>
            <a:srgbClr val="1C133A"/>
          </a:solidFill>
          <a:ln w="9525">
            <a:solidFill>
              <a:srgbClr val="52F2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28"/>
          <p:cNvSpPr/>
          <p:nvPr/>
        </p:nvSpPr>
        <p:spPr>
          <a:xfrm>
            <a:off x="4407408" y="3813048"/>
            <a:ext cx="73152" cy="585216"/>
          </a:xfrm>
          <a:prstGeom prst="rect">
            <a:avLst/>
          </a:prstGeom>
          <a:solidFill>
            <a:srgbClr val="52F2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29"/>
          <p:cNvSpPr/>
          <p:nvPr/>
        </p:nvSpPr>
        <p:spPr>
          <a:xfrm>
            <a:off x="4590288" y="386791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2F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300" dirty="0"/>
          </a:p>
        </p:txBody>
      </p:sp>
      <p:sp>
        <p:nvSpPr>
          <p:cNvPr id="36" name="Text 30"/>
          <p:cNvSpPr/>
          <p:nvPr/>
        </p:nvSpPr>
        <p:spPr>
          <a:xfrm>
            <a:off x="4590288" y="4123944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E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traces, cost, latency (O)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4407408" y="4507992"/>
            <a:ext cx="3374136" cy="585216"/>
          </a:xfrm>
          <a:prstGeom prst="roundRect">
            <a:avLst>
              <a:gd name="adj" fmla="val 7813"/>
            </a:avLst>
          </a:prstGeom>
          <a:solidFill>
            <a:srgbClr val="1C133A"/>
          </a:solidFill>
          <a:ln w="9525">
            <a:solidFill>
              <a:srgbClr val="52F2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2"/>
          <p:cNvSpPr/>
          <p:nvPr/>
        </p:nvSpPr>
        <p:spPr>
          <a:xfrm>
            <a:off x="4407408" y="4507992"/>
            <a:ext cx="73152" cy="585216"/>
          </a:xfrm>
          <a:prstGeom prst="rect">
            <a:avLst/>
          </a:prstGeom>
          <a:solidFill>
            <a:srgbClr val="52F2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3"/>
          <p:cNvSpPr/>
          <p:nvPr/>
        </p:nvSpPr>
        <p:spPr>
          <a:xfrm>
            <a:off x="4590288" y="456285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2F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300" dirty="0"/>
          </a:p>
        </p:txBody>
      </p:sp>
      <p:sp>
        <p:nvSpPr>
          <p:cNvPr id="40" name="Text 34"/>
          <p:cNvSpPr/>
          <p:nvPr/>
        </p:nvSpPr>
        <p:spPr>
          <a:xfrm>
            <a:off x="4590288" y="4818888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E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gates + validation (V)</a:t>
            </a:r>
            <a:endParaRPr lang="en-US" sz="1000" dirty="0"/>
          </a:p>
        </p:txBody>
      </p:sp>
      <p:sp>
        <p:nvSpPr>
          <p:cNvPr id="41" name="Shape 35"/>
          <p:cNvSpPr/>
          <p:nvPr/>
        </p:nvSpPr>
        <p:spPr>
          <a:xfrm>
            <a:off x="4407408" y="5202936"/>
            <a:ext cx="3374136" cy="585216"/>
          </a:xfrm>
          <a:prstGeom prst="roundRect">
            <a:avLst>
              <a:gd name="adj" fmla="val 7813"/>
            </a:avLst>
          </a:prstGeom>
          <a:solidFill>
            <a:srgbClr val="1C133A"/>
          </a:solidFill>
          <a:ln w="9525">
            <a:solidFill>
              <a:srgbClr val="E0B3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6"/>
          <p:cNvSpPr/>
          <p:nvPr/>
        </p:nvSpPr>
        <p:spPr>
          <a:xfrm>
            <a:off x="4407408" y="5202936"/>
            <a:ext cx="73152" cy="585216"/>
          </a:xfrm>
          <a:prstGeom prst="rect">
            <a:avLst/>
          </a:prstGeom>
          <a:solidFill>
            <a:srgbClr val="E0B3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37"/>
          <p:cNvSpPr/>
          <p:nvPr/>
        </p:nvSpPr>
        <p:spPr>
          <a:xfrm>
            <a:off x="4590288" y="52578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</a:t>
            </a:r>
            <a:endParaRPr lang="en-US" sz="1300" dirty="0"/>
          </a:p>
        </p:txBody>
      </p:sp>
      <p:sp>
        <p:nvSpPr>
          <p:cNvPr id="44" name="Text 38"/>
          <p:cNvSpPr/>
          <p:nvPr/>
        </p:nvSpPr>
        <p:spPr>
          <a:xfrm>
            <a:off x="4590288" y="551383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E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policy, budget, approval (G)</a:t>
            </a:r>
            <a:endParaRPr lang="en-US" sz="1000" dirty="0"/>
          </a:p>
        </p:txBody>
      </p:sp>
      <p:sp>
        <p:nvSpPr>
          <p:cNvPr id="45" name="Shape 39"/>
          <p:cNvSpPr/>
          <p:nvPr/>
        </p:nvSpPr>
        <p:spPr>
          <a:xfrm>
            <a:off x="8211312" y="1737360"/>
            <a:ext cx="3520440" cy="4343400"/>
          </a:xfrm>
          <a:prstGeom prst="roundRect">
            <a:avLst>
              <a:gd name="adj" fmla="val 1818"/>
            </a:avLst>
          </a:prstGeom>
          <a:solidFill>
            <a:srgbClr val="0F3F3A"/>
          </a:solidFill>
          <a:ln w="15875">
            <a:solidFill>
              <a:srgbClr val="1D6B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0"/>
          <p:cNvSpPr/>
          <p:nvPr/>
        </p:nvSpPr>
        <p:spPr>
          <a:xfrm>
            <a:off x="8439912" y="196596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0E2A22"/>
          </a:solidFill>
          <a:ln w="12700">
            <a:solidFill>
              <a:srgbClr val="52F2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1"/>
          <p:cNvSpPr/>
          <p:nvPr/>
        </p:nvSpPr>
        <p:spPr>
          <a:xfrm>
            <a:off x="8439912" y="1965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2F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HARNESSED AGENT</a:t>
            </a:r>
            <a:endParaRPr lang="en-US" sz="1200" dirty="0"/>
          </a:p>
        </p:txBody>
      </p:sp>
      <p:sp>
        <p:nvSpPr>
          <p:cNvPr id="48" name="Shape 42"/>
          <p:cNvSpPr/>
          <p:nvPr/>
        </p:nvSpPr>
        <p:spPr>
          <a:xfrm>
            <a:off x="8412480" y="2606040"/>
            <a:ext cx="3108960" cy="713232"/>
          </a:xfrm>
          <a:prstGeom prst="roundRect">
            <a:avLst>
              <a:gd name="adj" fmla="val 6410"/>
            </a:avLst>
          </a:prstGeom>
          <a:solidFill>
            <a:srgbClr val="0C2018"/>
          </a:solidFill>
          <a:ln w="9525">
            <a:solidFill>
              <a:srgbClr val="1D6B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0496" y="2825496"/>
            <a:ext cx="274320" cy="274320"/>
          </a:xfrm>
          <a:prstGeom prst="rect">
            <a:avLst/>
          </a:prstGeom>
        </p:spPr>
      </p:pic>
      <p:sp>
        <p:nvSpPr>
          <p:cNvPr id="50" name="Text 43"/>
          <p:cNvSpPr/>
          <p:nvPr/>
        </p:nvSpPr>
        <p:spPr>
          <a:xfrm>
            <a:off x="8924544" y="269748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only what's needed</a:t>
            </a:r>
            <a:endParaRPr lang="en-US" sz="1200" dirty="0"/>
          </a:p>
        </p:txBody>
      </p:sp>
      <p:sp>
        <p:nvSpPr>
          <p:cNvPr id="51" name="Text 44"/>
          <p:cNvSpPr/>
          <p:nvPr/>
        </p:nvSpPr>
        <p:spPr>
          <a:xfrm>
            <a:off x="8924544" y="299008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2F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modules, not the repo</a:t>
            </a:r>
            <a:endParaRPr lang="en-US" sz="1000" dirty="0"/>
          </a:p>
        </p:txBody>
      </p:sp>
      <p:sp>
        <p:nvSpPr>
          <p:cNvPr id="52" name="Shape 45"/>
          <p:cNvSpPr/>
          <p:nvPr/>
        </p:nvSpPr>
        <p:spPr>
          <a:xfrm>
            <a:off x="8412480" y="3429000"/>
            <a:ext cx="3108960" cy="713232"/>
          </a:xfrm>
          <a:prstGeom prst="roundRect">
            <a:avLst>
              <a:gd name="adj" fmla="val 6410"/>
            </a:avLst>
          </a:prstGeom>
          <a:solidFill>
            <a:srgbClr val="0C2018"/>
          </a:solidFill>
          <a:ln w="9525">
            <a:solidFill>
              <a:srgbClr val="1D6B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3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0496" y="3648456"/>
            <a:ext cx="274320" cy="274320"/>
          </a:xfrm>
          <a:prstGeom prst="rect">
            <a:avLst/>
          </a:prstGeom>
        </p:spPr>
      </p:pic>
      <p:sp>
        <p:nvSpPr>
          <p:cNvPr id="54" name="Text 46"/>
          <p:cNvSpPr/>
          <p:nvPr/>
        </p:nvSpPr>
        <p:spPr>
          <a:xfrm>
            <a:off x="8924544" y="352044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model per step</a:t>
            </a:r>
            <a:endParaRPr lang="en-US" sz="1200" dirty="0"/>
          </a:p>
        </p:txBody>
      </p:sp>
      <p:sp>
        <p:nvSpPr>
          <p:cNvPr id="55" name="Text 47"/>
          <p:cNvSpPr/>
          <p:nvPr/>
        </p:nvSpPr>
        <p:spPr>
          <a:xfrm>
            <a:off x="8924544" y="381304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2F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to premium rarely</a:t>
            </a:r>
            <a:endParaRPr lang="en-US" sz="1000" dirty="0"/>
          </a:p>
        </p:txBody>
      </p:sp>
      <p:sp>
        <p:nvSpPr>
          <p:cNvPr id="56" name="Shape 48"/>
          <p:cNvSpPr/>
          <p:nvPr/>
        </p:nvSpPr>
        <p:spPr>
          <a:xfrm>
            <a:off x="8412480" y="4251960"/>
            <a:ext cx="3108960" cy="713232"/>
          </a:xfrm>
          <a:prstGeom prst="roundRect">
            <a:avLst>
              <a:gd name="adj" fmla="val 6410"/>
            </a:avLst>
          </a:prstGeom>
          <a:solidFill>
            <a:srgbClr val="0C2018"/>
          </a:solidFill>
          <a:ln w="9525">
            <a:solidFill>
              <a:srgbClr val="1D6B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7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0496" y="4471416"/>
            <a:ext cx="274320" cy="274320"/>
          </a:xfrm>
          <a:prstGeom prst="rect">
            <a:avLst/>
          </a:prstGeom>
        </p:spPr>
      </p:pic>
      <p:sp>
        <p:nvSpPr>
          <p:cNvPr id="58" name="Text 49"/>
          <p:cNvSpPr/>
          <p:nvPr/>
        </p:nvSpPr>
        <p:spPr>
          <a:xfrm>
            <a:off x="8924544" y="434340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observable</a:t>
            </a:r>
            <a:endParaRPr lang="en-US" sz="1200" dirty="0"/>
          </a:p>
        </p:txBody>
      </p:sp>
      <p:sp>
        <p:nvSpPr>
          <p:cNvPr id="59" name="Text 50"/>
          <p:cNvSpPr/>
          <p:nvPr/>
        </p:nvSpPr>
        <p:spPr>
          <a:xfrm>
            <a:off x="8924544" y="463600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2F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traces, cost, retries, latency</a:t>
            </a:r>
            <a:endParaRPr lang="en-US" sz="1000" dirty="0"/>
          </a:p>
        </p:txBody>
      </p:sp>
      <p:sp>
        <p:nvSpPr>
          <p:cNvPr id="60" name="Shape 51"/>
          <p:cNvSpPr/>
          <p:nvPr/>
        </p:nvSpPr>
        <p:spPr>
          <a:xfrm>
            <a:off x="8412480" y="5074920"/>
            <a:ext cx="3108960" cy="713232"/>
          </a:xfrm>
          <a:prstGeom prst="roundRect">
            <a:avLst>
              <a:gd name="adj" fmla="val 6410"/>
            </a:avLst>
          </a:prstGeom>
          <a:solidFill>
            <a:srgbClr val="0C2018"/>
          </a:solidFill>
          <a:ln w="9525">
            <a:solidFill>
              <a:srgbClr val="1D6B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1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0496" y="5294376"/>
            <a:ext cx="274320" cy="274320"/>
          </a:xfrm>
          <a:prstGeom prst="rect">
            <a:avLst/>
          </a:prstGeom>
        </p:spPr>
      </p:pic>
      <p:sp>
        <p:nvSpPr>
          <p:cNvPr id="62" name="Text 52"/>
          <p:cNvSpPr/>
          <p:nvPr/>
        </p:nvSpPr>
        <p:spPr>
          <a:xfrm>
            <a:off x="8924544" y="516636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only verified work</a:t>
            </a:r>
            <a:endParaRPr lang="en-US" sz="1200" dirty="0"/>
          </a:p>
        </p:txBody>
      </p:sp>
      <p:sp>
        <p:nvSpPr>
          <p:cNvPr id="63" name="Text 53"/>
          <p:cNvSpPr/>
          <p:nvPr/>
        </p:nvSpPr>
        <p:spPr>
          <a:xfrm>
            <a:off x="8924544" y="545896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2F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+ policy + approval</a:t>
            </a:r>
            <a:endParaRPr lang="en-US" sz="1000" dirty="0"/>
          </a:p>
        </p:txBody>
      </p:sp>
      <p:pic>
        <p:nvPicPr>
          <p:cNvPr id="64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3360" y="3657600"/>
            <a:ext cx="256032" cy="256032"/>
          </a:xfrm>
          <a:prstGeom prst="rect">
            <a:avLst/>
          </a:prstGeom>
        </p:spPr>
      </p:pic>
      <p:pic>
        <p:nvPicPr>
          <p:cNvPr id="65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3568" y="3657600"/>
            <a:ext cx="256032" cy="256032"/>
          </a:xfrm>
          <a:prstGeom prst="rect">
            <a:avLst/>
          </a:prstGeom>
        </p:spPr>
      </p:pic>
      <p:sp>
        <p:nvSpPr>
          <p:cNvPr id="66" name="Shape 54"/>
          <p:cNvSpPr/>
          <p:nvPr/>
        </p:nvSpPr>
        <p:spPr>
          <a:xfrm>
            <a:off x="0" y="6803136"/>
            <a:ext cx="2103120" cy="54864"/>
          </a:xfrm>
          <a:prstGeom prst="rect">
            <a:avLst/>
          </a:prstGeom>
          <a:solidFill>
            <a:srgbClr val="A10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55"/>
          <p:cNvSpPr/>
          <p:nvPr/>
        </p:nvSpPr>
        <p:spPr>
          <a:xfrm>
            <a:off x="502920" y="6419088"/>
            <a:ext cx="118872" cy="118872"/>
          </a:xfrm>
          <a:prstGeom prst="rect">
            <a:avLst/>
          </a:prstGeom>
          <a:solidFill>
            <a:srgbClr val="A10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56"/>
          <p:cNvSpPr/>
          <p:nvPr/>
        </p:nvSpPr>
        <p:spPr>
          <a:xfrm>
            <a:off x="713232" y="635508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A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 AI Podcast  |  Harness Engineering</a:t>
            </a:r>
            <a:endParaRPr lang="en-US" sz="1050" dirty="0"/>
          </a:p>
        </p:txBody>
      </p:sp>
      <p:sp>
        <p:nvSpPr>
          <p:cNvPr id="69" name="Text 57"/>
          <p:cNvSpPr/>
          <p:nvPr/>
        </p:nvSpPr>
        <p:spPr>
          <a:xfrm>
            <a:off x="10424160" y="635508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C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52F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2  |  THE HARNESS BECOMES THE PRODUCT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9883750" y="384048"/>
            <a:ext cx="1667866" cy="502920"/>
          </a:xfrm>
          <a:prstGeom prst="roundRect">
            <a:avLst>
              <a:gd name="adj" fmla="val 16364"/>
            </a:avLst>
          </a:prstGeom>
          <a:solidFill>
            <a:srgbClr val="1A1030"/>
          </a:solidFill>
          <a:ln w="12700">
            <a:solidFill>
              <a:srgbClr val="52F2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883750" y="384048"/>
            <a:ext cx="166786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2F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frontier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21792" y="9144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BF8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Automating the harness itself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57276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FA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harness drives reliability, the next move is to compose, optimize, and even synthesize it automatically.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057400"/>
            <a:ext cx="5577840" cy="1965960"/>
          </a:xfrm>
          <a:prstGeom prst="roundRect">
            <a:avLst>
              <a:gd name="adj" fmla="val 2791"/>
            </a:avLst>
          </a:prstGeom>
          <a:solidFill>
            <a:srgbClr val="1A1030"/>
          </a:solidFill>
          <a:ln w="12700">
            <a:solidFill>
              <a:srgbClr val="D7A7FF"/>
            </a:solidFill>
            <a:prstDash val="solid"/>
          </a:ln>
          <a:effectLst>
            <a:outerShdw blurRad="1270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14400" y="2331720"/>
            <a:ext cx="713232" cy="713232"/>
          </a:xfrm>
          <a:prstGeom prst="ellipse">
            <a:avLst/>
          </a:prstGeom>
          <a:solidFill>
            <a:srgbClr val="1C133A"/>
          </a:solidFill>
          <a:ln w="12700">
            <a:solidFill>
              <a:srgbClr val="D7A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" y="2505456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10512" y="231343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BF8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Omnigent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810512" y="267919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7A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· Apache-2.0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932688" y="3081528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E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meta-harness: one layer over Claude Code, Codex, Cursor &amp; custom agents. Swap harness or model in one line of YAML; add policies, sandboxing &amp; shared sessions.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73952" y="2057400"/>
            <a:ext cx="5577840" cy="1965960"/>
          </a:xfrm>
          <a:prstGeom prst="roundRect">
            <a:avLst>
              <a:gd name="adj" fmla="val 2791"/>
            </a:avLst>
          </a:prstGeom>
          <a:solidFill>
            <a:srgbClr val="1A1030"/>
          </a:solidFill>
          <a:ln w="12700">
            <a:solidFill>
              <a:srgbClr val="52F2B4"/>
            </a:solidFill>
            <a:prstDash val="solid"/>
          </a:ln>
          <a:effectLst>
            <a:outerShdw blurRad="1270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748272" y="2331720"/>
            <a:ext cx="713232" cy="713232"/>
          </a:xfrm>
          <a:prstGeom prst="ellipse">
            <a:avLst/>
          </a:prstGeom>
          <a:solidFill>
            <a:srgbClr val="1C133A"/>
          </a:solidFill>
          <a:ln w="12700">
            <a:solidFill>
              <a:srgbClr val="52F2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008" y="2505456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644384" y="231343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BF8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Meta-Harness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7644384" y="267919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2F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· 2026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6766560" y="3081528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E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Treats harness design as end-to-end optimization — a loop that proposes, validates and scores improvements to prompts, tools and policies.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640080" y="4224528"/>
            <a:ext cx="5577840" cy="1965960"/>
          </a:xfrm>
          <a:prstGeom prst="roundRect">
            <a:avLst>
              <a:gd name="adj" fmla="val 2791"/>
            </a:avLst>
          </a:prstGeom>
          <a:solidFill>
            <a:srgbClr val="1A1030"/>
          </a:solidFill>
          <a:ln w="12700">
            <a:solidFill>
              <a:srgbClr val="38D8FF"/>
            </a:solidFill>
            <a:prstDash val="solid"/>
          </a:ln>
          <a:effectLst>
            <a:outerShdw blurRad="1270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914400" y="4498848"/>
            <a:ext cx="713232" cy="713232"/>
          </a:xfrm>
          <a:prstGeom prst="ellipse">
            <a:avLst/>
          </a:prstGeom>
          <a:solidFill>
            <a:srgbClr val="1C133A"/>
          </a:solidFill>
          <a:ln w="12700">
            <a:solidFill>
              <a:srgbClr val="38D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136" y="4672584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810512" y="44805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BF8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AutoHarness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1810512" y="48463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8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DeepMind · 2026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932688" y="5248656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E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Synthesizes a code harness from tool schemas. A small model + AutoHarness eliminated all illegal moves and beat larger models — cheaper and more capable.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6473952" y="4224528"/>
            <a:ext cx="5577840" cy="1965960"/>
          </a:xfrm>
          <a:prstGeom prst="roundRect">
            <a:avLst>
              <a:gd name="adj" fmla="val 2791"/>
            </a:avLst>
          </a:prstGeom>
          <a:solidFill>
            <a:srgbClr val="1A1030"/>
          </a:solidFill>
          <a:ln w="12700">
            <a:solidFill>
              <a:srgbClr val="E0B341"/>
            </a:solidFill>
            <a:prstDash val="solid"/>
          </a:ln>
          <a:effectLst>
            <a:outerShdw blurRad="1270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6748272" y="4498848"/>
            <a:ext cx="713232" cy="713232"/>
          </a:xfrm>
          <a:prstGeom prst="ellipse">
            <a:avLst/>
          </a:prstGeom>
          <a:solidFill>
            <a:srgbClr val="1C133A"/>
          </a:solidFill>
          <a:ln w="12700">
            <a:solidFill>
              <a:srgbClr val="E0B3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22008" y="4672584"/>
            <a:ext cx="365760" cy="36576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644384" y="44805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BF8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NL Agent Harnesses</a:t>
            </a:r>
            <a:endParaRPr lang="en-US" sz="1800" dirty="0"/>
          </a:p>
        </p:txBody>
      </p:sp>
      <p:sp>
        <p:nvSpPr>
          <p:cNvPr id="29" name="Text 23"/>
          <p:cNvSpPr/>
          <p:nvPr/>
        </p:nvSpPr>
        <p:spPr>
          <a:xfrm>
            <a:off x="7644384" y="48463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0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NLAH + IHR · 2026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6766560" y="5248656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E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logic as editable natural-language documents run by a shared runtime — domain experts tune orchestration without touching code.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0" y="6803136"/>
            <a:ext cx="2103120" cy="54864"/>
          </a:xfrm>
          <a:prstGeom prst="rect">
            <a:avLst/>
          </a:prstGeom>
          <a:solidFill>
            <a:srgbClr val="A10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6"/>
          <p:cNvSpPr/>
          <p:nvPr/>
        </p:nvSpPr>
        <p:spPr>
          <a:xfrm>
            <a:off x="502920" y="6419088"/>
            <a:ext cx="118872" cy="118872"/>
          </a:xfrm>
          <a:prstGeom prst="rect">
            <a:avLst/>
          </a:prstGeom>
          <a:solidFill>
            <a:srgbClr val="A10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/>
          <p:nvPr/>
        </p:nvSpPr>
        <p:spPr>
          <a:xfrm>
            <a:off x="713232" y="635508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A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 AI Podcast  |  Harness Engineering</a:t>
            </a:r>
            <a:endParaRPr lang="en-US" sz="1050" dirty="0"/>
          </a:p>
        </p:txBody>
      </p:sp>
      <p:sp>
        <p:nvSpPr>
          <p:cNvPr id="34" name="Text 28"/>
          <p:cNvSpPr/>
          <p:nvPr/>
        </p:nvSpPr>
        <p:spPr>
          <a:xfrm>
            <a:off x="10424160" y="635508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C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52F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3  |  SHIPPING WITH CONFIDENCE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10331806" y="384048"/>
            <a:ext cx="1219810" cy="502920"/>
          </a:xfrm>
          <a:prstGeom prst="roundRect">
            <a:avLst>
              <a:gd name="adj" fmla="val 16364"/>
            </a:avLst>
          </a:prstGeom>
          <a:solidFill>
            <a:srgbClr val="1A1030"/>
          </a:solidFill>
          <a:ln w="12700">
            <a:solidFill>
              <a:srgbClr val="E0B3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331806" y="384048"/>
            <a:ext cx="121981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AgentOps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21792" y="9144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BF8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Release agents like software, gated by evals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2103120" cy="1417320"/>
          </a:xfrm>
          <a:prstGeom prst="roundRect">
            <a:avLst>
              <a:gd name="adj" fmla="val 3871"/>
            </a:avLst>
          </a:prstGeom>
          <a:solidFill>
            <a:srgbClr val="1A1030"/>
          </a:solidFill>
          <a:ln w="15875">
            <a:solidFill>
              <a:srgbClr val="D7A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399032" y="2212848"/>
            <a:ext cx="585216" cy="585216"/>
          </a:xfrm>
          <a:prstGeom prst="ellipse">
            <a:avLst/>
          </a:prstGeom>
          <a:solidFill>
            <a:srgbClr val="D7A7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" y="2340864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288950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316382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FA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as code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761488" y="2647188"/>
            <a:ext cx="146304" cy="146304"/>
          </a:xfrm>
          <a:prstGeom prst="ellipse">
            <a:avLst/>
          </a:prstGeom>
          <a:solidFill>
            <a:srgbClr val="52F2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926080" y="2011680"/>
            <a:ext cx="2103120" cy="1417320"/>
          </a:xfrm>
          <a:prstGeom prst="roundRect">
            <a:avLst>
              <a:gd name="adj" fmla="val 3871"/>
            </a:avLst>
          </a:prstGeom>
          <a:solidFill>
            <a:srgbClr val="1A1030"/>
          </a:solidFill>
          <a:ln w="15875">
            <a:solidFill>
              <a:srgbClr val="52F2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685032" y="2212848"/>
            <a:ext cx="585216" cy="585216"/>
          </a:xfrm>
          <a:prstGeom prst="ellipse">
            <a:avLst/>
          </a:prstGeom>
          <a:solidFill>
            <a:srgbClr val="52F2B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3048" y="2340864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926080" y="288950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gate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2926080" y="316382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FA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+ regression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047488" y="2647188"/>
            <a:ext cx="146304" cy="146304"/>
          </a:xfrm>
          <a:prstGeom prst="ellipse">
            <a:avLst/>
          </a:prstGeom>
          <a:solidFill>
            <a:srgbClr val="52F2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5212080" y="2011680"/>
            <a:ext cx="2103120" cy="1417320"/>
          </a:xfrm>
          <a:prstGeom prst="roundRect">
            <a:avLst>
              <a:gd name="adj" fmla="val 3871"/>
            </a:avLst>
          </a:prstGeom>
          <a:solidFill>
            <a:srgbClr val="1A1030"/>
          </a:solidFill>
          <a:ln w="15875">
            <a:solidFill>
              <a:srgbClr val="38D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5971032" y="2212848"/>
            <a:ext cx="585216" cy="585216"/>
          </a:xfrm>
          <a:prstGeom prst="ellipse">
            <a:avLst/>
          </a:prstGeom>
          <a:solidFill>
            <a:srgbClr val="38D8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9048" y="2340864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212080" y="288950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5212080" y="316382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FA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/ canary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7333488" y="2647188"/>
            <a:ext cx="146304" cy="146304"/>
          </a:xfrm>
          <a:prstGeom prst="ellipse">
            <a:avLst/>
          </a:prstGeom>
          <a:solidFill>
            <a:srgbClr val="52F2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7498080" y="2011680"/>
            <a:ext cx="2103120" cy="1417320"/>
          </a:xfrm>
          <a:prstGeom prst="roundRect">
            <a:avLst>
              <a:gd name="adj" fmla="val 3871"/>
            </a:avLst>
          </a:prstGeom>
          <a:solidFill>
            <a:srgbClr val="1A1030"/>
          </a:solidFill>
          <a:ln w="15875">
            <a:solidFill>
              <a:srgbClr val="E0B3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8257032" y="2212848"/>
            <a:ext cx="585216" cy="585216"/>
          </a:xfrm>
          <a:prstGeom prst="ellipse">
            <a:avLst/>
          </a:prstGeom>
          <a:solidFill>
            <a:srgbClr val="E0B34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5048" y="2340864"/>
            <a:ext cx="329184" cy="32918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498080" y="288950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7498080" y="316382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FA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+ policy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9619488" y="2647188"/>
            <a:ext cx="146304" cy="146304"/>
          </a:xfrm>
          <a:prstGeom prst="ellipse">
            <a:avLst/>
          </a:prstGeom>
          <a:solidFill>
            <a:srgbClr val="52F2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9784080" y="2011680"/>
            <a:ext cx="2103120" cy="1417320"/>
          </a:xfrm>
          <a:prstGeom prst="roundRect">
            <a:avLst>
              <a:gd name="adj" fmla="val 3871"/>
            </a:avLst>
          </a:prstGeom>
          <a:solidFill>
            <a:srgbClr val="1A1030"/>
          </a:solidFill>
          <a:ln w="15875">
            <a:solidFill>
              <a:srgbClr val="52F2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5"/>
          <p:cNvSpPr/>
          <p:nvPr/>
        </p:nvSpPr>
        <p:spPr>
          <a:xfrm>
            <a:off x="10543032" y="2212848"/>
            <a:ext cx="585216" cy="585216"/>
          </a:xfrm>
          <a:prstGeom prst="ellipse">
            <a:avLst/>
          </a:prstGeom>
          <a:solidFill>
            <a:srgbClr val="52F2B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71048" y="2340864"/>
            <a:ext cx="329184" cy="329184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9784080" y="288950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1400" dirty="0"/>
          </a:p>
        </p:txBody>
      </p:sp>
      <p:sp>
        <p:nvSpPr>
          <p:cNvPr id="34" name="Text 27"/>
          <p:cNvSpPr/>
          <p:nvPr/>
        </p:nvSpPr>
        <p:spPr>
          <a:xfrm>
            <a:off x="9784080" y="316382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FA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rollout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640080" y="3794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BF8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Progressive release strategies</a:t>
            </a:r>
            <a:endParaRPr lang="en-US" sz="1700" dirty="0"/>
          </a:p>
        </p:txBody>
      </p:sp>
      <p:sp>
        <p:nvSpPr>
          <p:cNvPr id="36" name="Shape 29"/>
          <p:cNvSpPr/>
          <p:nvPr/>
        </p:nvSpPr>
        <p:spPr>
          <a:xfrm>
            <a:off x="640080" y="4251960"/>
            <a:ext cx="2697480" cy="1463040"/>
          </a:xfrm>
          <a:prstGeom prst="roundRect">
            <a:avLst>
              <a:gd name="adj" fmla="val 3750"/>
            </a:avLst>
          </a:prstGeom>
          <a:solidFill>
            <a:srgbClr val="1A1030"/>
          </a:solidFill>
          <a:ln w="12700">
            <a:solidFill>
              <a:srgbClr val="3A2E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0"/>
          <p:cNvSpPr/>
          <p:nvPr/>
        </p:nvSpPr>
        <p:spPr>
          <a:xfrm>
            <a:off x="640080" y="4251960"/>
            <a:ext cx="2697480" cy="82296"/>
          </a:xfrm>
          <a:prstGeom prst="rect">
            <a:avLst/>
          </a:prstGeom>
          <a:solidFill>
            <a:srgbClr val="52F2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1"/>
          <p:cNvSpPr/>
          <p:nvPr/>
        </p:nvSpPr>
        <p:spPr>
          <a:xfrm>
            <a:off x="868680" y="44805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2F2B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Canary</a:t>
            </a:r>
            <a:endParaRPr lang="en-US" sz="1700" dirty="0"/>
          </a:p>
        </p:txBody>
      </p:sp>
      <p:sp>
        <p:nvSpPr>
          <p:cNvPr id="39" name="Text 32"/>
          <p:cNvSpPr/>
          <p:nvPr/>
        </p:nvSpPr>
        <p:spPr>
          <a:xfrm>
            <a:off x="868680" y="4910328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E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% of traffic first; watch evals before scaling.</a:t>
            </a:r>
            <a:endParaRPr lang="en-US" sz="1200" dirty="0"/>
          </a:p>
        </p:txBody>
      </p:sp>
      <p:sp>
        <p:nvSpPr>
          <p:cNvPr id="40" name="Shape 33"/>
          <p:cNvSpPr/>
          <p:nvPr/>
        </p:nvSpPr>
        <p:spPr>
          <a:xfrm>
            <a:off x="3474720" y="4251960"/>
            <a:ext cx="2697480" cy="1463040"/>
          </a:xfrm>
          <a:prstGeom prst="roundRect">
            <a:avLst>
              <a:gd name="adj" fmla="val 3750"/>
            </a:avLst>
          </a:prstGeom>
          <a:solidFill>
            <a:srgbClr val="1A1030"/>
          </a:solidFill>
          <a:ln w="12700">
            <a:solidFill>
              <a:srgbClr val="3A2E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4"/>
          <p:cNvSpPr/>
          <p:nvPr/>
        </p:nvSpPr>
        <p:spPr>
          <a:xfrm>
            <a:off x="3474720" y="4251960"/>
            <a:ext cx="2697480" cy="82296"/>
          </a:xfrm>
          <a:prstGeom prst="rect">
            <a:avLst/>
          </a:prstGeom>
          <a:solidFill>
            <a:srgbClr val="38D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5"/>
          <p:cNvSpPr/>
          <p:nvPr/>
        </p:nvSpPr>
        <p:spPr>
          <a:xfrm>
            <a:off x="3703320" y="44805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8D8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Shadow</a:t>
            </a:r>
            <a:endParaRPr lang="en-US" sz="1700" dirty="0"/>
          </a:p>
        </p:txBody>
      </p:sp>
      <p:sp>
        <p:nvSpPr>
          <p:cNvPr id="43" name="Text 36"/>
          <p:cNvSpPr/>
          <p:nvPr/>
        </p:nvSpPr>
        <p:spPr>
          <a:xfrm>
            <a:off x="3703320" y="4910328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E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 real traffic without serving output.</a:t>
            </a:r>
            <a:endParaRPr lang="en-US" sz="1200" dirty="0"/>
          </a:p>
        </p:txBody>
      </p:sp>
      <p:sp>
        <p:nvSpPr>
          <p:cNvPr id="44" name="Shape 37"/>
          <p:cNvSpPr/>
          <p:nvPr/>
        </p:nvSpPr>
        <p:spPr>
          <a:xfrm>
            <a:off x="6309360" y="4251960"/>
            <a:ext cx="2697480" cy="1463040"/>
          </a:xfrm>
          <a:prstGeom prst="roundRect">
            <a:avLst>
              <a:gd name="adj" fmla="val 3750"/>
            </a:avLst>
          </a:prstGeom>
          <a:solidFill>
            <a:srgbClr val="1A1030"/>
          </a:solidFill>
          <a:ln w="12700">
            <a:solidFill>
              <a:srgbClr val="3A2E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38"/>
          <p:cNvSpPr/>
          <p:nvPr/>
        </p:nvSpPr>
        <p:spPr>
          <a:xfrm>
            <a:off x="6309360" y="4251960"/>
            <a:ext cx="2697480" cy="82296"/>
          </a:xfrm>
          <a:prstGeom prst="rect">
            <a:avLst/>
          </a:prstGeom>
          <a:solidFill>
            <a:srgbClr val="D7A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39"/>
          <p:cNvSpPr/>
          <p:nvPr/>
        </p:nvSpPr>
        <p:spPr>
          <a:xfrm>
            <a:off x="6537960" y="44805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7A7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Blue-Green</a:t>
            </a:r>
            <a:endParaRPr lang="en-US" sz="1700" dirty="0"/>
          </a:p>
        </p:txBody>
      </p:sp>
      <p:sp>
        <p:nvSpPr>
          <p:cNvPr id="47" name="Text 40"/>
          <p:cNvSpPr/>
          <p:nvPr/>
        </p:nvSpPr>
        <p:spPr>
          <a:xfrm>
            <a:off x="6537960" y="4910328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E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live versions; switch and roll back instantly.</a:t>
            </a:r>
            <a:endParaRPr lang="en-US" sz="1200" dirty="0"/>
          </a:p>
        </p:txBody>
      </p:sp>
      <p:sp>
        <p:nvSpPr>
          <p:cNvPr id="48" name="Shape 41"/>
          <p:cNvSpPr/>
          <p:nvPr/>
        </p:nvSpPr>
        <p:spPr>
          <a:xfrm>
            <a:off x="9144000" y="4251960"/>
            <a:ext cx="2697480" cy="1463040"/>
          </a:xfrm>
          <a:prstGeom prst="roundRect">
            <a:avLst>
              <a:gd name="adj" fmla="val 3750"/>
            </a:avLst>
          </a:prstGeom>
          <a:solidFill>
            <a:srgbClr val="1A1030"/>
          </a:solidFill>
          <a:ln w="12700">
            <a:solidFill>
              <a:srgbClr val="3A2E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2"/>
          <p:cNvSpPr/>
          <p:nvPr/>
        </p:nvSpPr>
        <p:spPr>
          <a:xfrm>
            <a:off x="9144000" y="4251960"/>
            <a:ext cx="2697480" cy="82296"/>
          </a:xfrm>
          <a:prstGeom prst="rect">
            <a:avLst/>
          </a:prstGeom>
          <a:solidFill>
            <a:srgbClr val="E0B3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3"/>
          <p:cNvSpPr/>
          <p:nvPr/>
        </p:nvSpPr>
        <p:spPr>
          <a:xfrm>
            <a:off x="9372600" y="44805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0B34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A/B</a:t>
            </a:r>
            <a:endParaRPr lang="en-US" sz="1700" dirty="0"/>
          </a:p>
        </p:txBody>
      </p:sp>
      <p:sp>
        <p:nvSpPr>
          <p:cNvPr id="51" name="Text 44"/>
          <p:cNvSpPr/>
          <p:nvPr/>
        </p:nvSpPr>
        <p:spPr>
          <a:xfrm>
            <a:off x="9372600" y="4910328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E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users to compare quality, cost &amp; satisfaction.</a:t>
            </a:r>
            <a:endParaRPr lang="en-US" sz="1200" dirty="0"/>
          </a:p>
        </p:txBody>
      </p:sp>
      <p:sp>
        <p:nvSpPr>
          <p:cNvPr id="52" name="Shape 45"/>
          <p:cNvSpPr/>
          <p:nvPr/>
        </p:nvSpPr>
        <p:spPr>
          <a:xfrm>
            <a:off x="0" y="6803136"/>
            <a:ext cx="2103120" cy="54864"/>
          </a:xfrm>
          <a:prstGeom prst="rect">
            <a:avLst/>
          </a:prstGeom>
          <a:solidFill>
            <a:srgbClr val="A10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46"/>
          <p:cNvSpPr/>
          <p:nvPr/>
        </p:nvSpPr>
        <p:spPr>
          <a:xfrm>
            <a:off x="502920" y="6419088"/>
            <a:ext cx="118872" cy="118872"/>
          </a:xfrm>
          <a:prstGeom prst="rect">
            <a:avLst/>
          </a:prstGeom>
          <a:solidFill>
            <a:srgbClr val="A10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47"/>
          <p:cNvSpPr/>
          <p:nvPr/>
        </p:nvSpPr>
        <p:spPr>
          <a:xfrm>
            <a:off x="713232" y="635508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A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 AI Podcast  |  Harness Engineering</a:t>
            </a:r>
            <a:endParaRPr lang="en-US" sz="1050" dirty="0"/>
          </a:p>
        </p:txBody>
      </p:sp>
      <p:sp>
        <p:nvSpPr>
          <p:cNvPr id="55" name="Text 48"/>
          <p:cNvSpPr/>
          <p:nvPr/>
        </p:nvSpPr>
        <p:spPr>
          <a:xfrm>
            <a:off x="10424160" y="635508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C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BF8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Simple Team Exercise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DE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one agent in a </a:t>
            </a:r>
            <a:r>
              <a:rPr lang="en-US" sz="1500" b="1" dirty="0">
                <a:solidFill>
                  <a:srgbClr val="52F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</a:t>
            </a:r>
            <a:r>
              <a:rPr lang="en-US" sz="1500" dirty="0">
                <a:solidFill>
                  <a:srgbClr val="DE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Measure what matters. Ship </a:t>
            </a:r>
            <a:r>
              <a:rPr lang="en-US" sz="1500" b="1" dirty="0">
                <a:solidFill>
                  <a:srgbClr val="38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r>
              <a:rPr lang="en-US" sz="1500" dirty="0">
                <a:solidFill>
                  <a:srgbClr val="DE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outcomes.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1A1030"/>
          </a:solidFill>
          <a:ln w="12700">
            <a:solidFill>
              <a:srgbClr val="D7A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508760"/>
            <a:ext cx="64008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7A7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554480" y="161848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BF8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Pick one real agent task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202082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A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current sprint — a ticket an AI agent would take end to end.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937760" y="1709928"/>
            <a:ext cx="548640" cy="548640"/>
          </a:xfrm>
          <a:prstGeom prst="roundRect">
            <a:avLst>
              <a:gd name="adj" fmla="val 8333"/>
            </a:avLst>
          </a:prstGeom>
          <a:solidFill>
            <a:srgbClr val="1C133A"/>
          </a:solidFill>
          <a:ln w="12700">
            <a:solidFill>
              <a:srgbClr val="D7A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7760" y="17099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7A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36208" y="1709928"/>
            <a:ext cx="548640" cy="548640"/>
          </a:xfrm>
          <a:prstGeom prst="roundRect">
            <a:avLst>
              <a:gd name="adj" fmla="val 8333"/>
            </a:avLst>
          </a:prstGeom>
          <a:solidFill>
            <a:srgbClr val="1C133A"/>
          </a:solidFill>
          <a:ln w="12700">
            <a:solidFill>
              <a:srgbClr val="D7A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36208" y="17099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7A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534656" y="1709928"/>
            <a:ext cx="548640" cy="548640"/>
          </a:xfrm>
          <a:prstGeom prst="roundRect">
            <a:avLst>
              <a:gd name="adj" fmla="val 8333"/>
            </a:avLst>
          </a:prstGeom>
          <a:solidFill>
            <a:srgbClr val="1C133A"/>
          </a:solidFill>
          <a:ln w="12700">
            <a:solidFill>
              <a:srgbClr val="D7A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534656" y="17099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7A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833104" y="1709928"/>
            <a:ext cx="548640" cy="548640"/>
          </a:xfrm>
          <a:prstGeom prst="roundRect">
            <a:avLst>
              <a:gd name="adj" fmla="val 8333"/>
            </a:avLst>
          </a:prstGeom>
          <a:solidFill>
            <a:srgbClr val="1C133A"/>
          </a:solidFill>
          <a:ln w="12700">
            <a:solidFill>
              <a:srgbClr val="D7A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833104" y="17099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7A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0131552" y="1709928"/>
            <a:ext cx="548640" cy="548640"/>
          </a:xfrm>
          <a:prstGeom prst="roundRect">
            <a:avLst>
              <a:gd name="adj" fmla="val 8333"/>
            </a:avLst>
          </a:prstGeom>
          <a:solidFill>
            <a:srgbClr val="1C133A"/>
          </a:solidFill>
          <a:ln w="12700">
            <a:solidFill>
              <a:srgbClr val="D7A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131552" y="17099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7A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2569464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1A1030"/>
          </a:solidFill>
          <a:ln w="12700">
            <a:solidFill>
              <a:srgbClr val="38D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22960" y="2569464"/>
            <a:ext cx="64008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38D8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1554480" y="267919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BF8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Wrap it in the four pillars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937760" y="2807208"/>
            <a:ext cx="1481328" cy="457200"/>
          </a:xfrm>
          <a:prstGeom prst="roundRect">
            <a:avLst>
              <a:gd name="adj" fmla="val 12000"/>
            </a:avLst>
          </a:prstGeom>
          <a:solidFill>
            <a:srgbClr val="1C133A"/>
          </a:solidFill>
          <a:ln w="12700">
            <a:solidFill>
              <a:srgbClr val="38D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37760" y="2807208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8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565392" y="2807208"/>
            <a:ext cx="1481328" cy="457200"/>
          </a:xfrm>
          <a:prstGeom prst="roundRect">
            <a:avLst>
              <a:gd name="adj" fmla="val 12000"/>
            </a:avLst>
          </a:prstGeom>
          <a:solidFill>
            <a:srgbClr val="1C133A"/>
          </a:solidFill>
          <a:ln w="12700">
            <a:solidFill>
              <a:srgbClr val="D7A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565392" y="2807208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7A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193024" y="2807208"/>
            <a:ext cx="1481328" cy="457200"/>
          </a:xfrm>
          <a:prstGeom prst="roundRect">
            <a:avLst>
              <a:gd name="adj" fmla="val 12000"/>
            </a:avLst>
          </a:prstGeom>
          <a:solidFill>
            <a:srgbClr val="1C133A"/>
          </a:solidFill>
          <a:ln w="12700">
            <a:solidFill>
              <a:srgbClr val="52F2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193024" y="2807208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2F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820656" y="2807208"/>
            <a:ext cx="1481328" cy="457200"/>
          </a:xfrm>
          <a:prstGeom prst="roundRect">
            <a:avLst>
              <a:gd name="adj" fmla="val 12000"/>
            </a:avLst>
          </a:prstGeom>
          <a:solidFill>
            <a:srgbClr val="1C133A"/>
          </a:solidFill>
          <a:ln w="12700">
            <a:solidFill>
              <a:srgbClr val="E0B3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820656" y="2807208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0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" y="3630168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1A1030"/>
          </a:solidFill>
          <a:ln w="12700">
            <a:solidFill>
              <a:srgbClr val="52F2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22960" y="3630168"/>
            <a:ext cx="64008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52F2B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3400" dirty="0"/>
          </a:p>
        </p:txBody>
      </p:sp>
      <p:sp>
        <p:nvSpPr>
          <p:cNvPr id="31" name="Text 29"/>
          <p:cNvSpPr/>
          <p:nvPr/>
        </p:nvSpPr>
        <p:spPr>
          <a:xfrm>
            <a:off x="1554480" y="3739896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BF8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Measure four simple metrics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937760" y="3813048"/>
            <a:ext cx="1572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2F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 </a:t>
            </a:r>
            <a:r>
              <a:rPr lang="en-US" sz="1050" dirty="0">
                <a:solidFill>
                  <a:srgbClr val="DE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/ accepted task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565392" y="3813048"/>
            <a:ext cx="1572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2F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DE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first-pass acceptance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193024" y="3813048"/>
            <a:ext cx="1572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2F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 </a:t>
            </a:r>
            <a:r>
              <a:rPr lang="en-US" sz="1050" dirty="0">
                <a:solidFill>
                  <a:srgbClr val="DE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 per run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820656" y="3813048"/>
            <a:ext cx="1572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2F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</a:t>
            </a:r>
            <a:r>
              <a:rPr lang="en-US" sz="1050" dirty="0">
                <a:solidFill>
                  <a:srgbClr val="DE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accepted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640080" y="4690872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1A1030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22960" y="4690872"/>
            <a:ext cx="64008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9616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3400" dirty="0"/>
          </a:p>
        </p:txBody>
      </p:sp>
      <p:sp>
        <p:nvSpPr>
          <p:cNvPr id="38" name="Text 36"/>
          <p:cNvSpPr/>
          <p:nvPr/>
        </p:nvSpPr>
        <p:spPr>
          <a:xfrm>
            <a:off x="1554480" y="48006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BF8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Evaluate the outcome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937760" y="4782312"/>
            <a:ext cx="3657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E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or better quality with </a:t>
            </a:r>
            <a:r>
              <a:rPr lang="en-US" sz="1250" b="1" dirty="0">
                <a:solidFill>
                  <a:srgbClr val="52F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cost</a:t>
            </a:r>
            <a:r>
              <a:rPr lang="en-US" sz="1250" dirty="0">
                <a:solidFill>
                  <a:srgbClr val="DE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 b="1" dirty="0">
                <a:solidFill>
                  <a:srgbClr val="38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effort</a:t>
            </a:r>
            <a:r>
              <a:rPr lang="en-US" sz="1250" dirty="0">
                <a:solidFill>
                  <a:srgbClr val="DE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delivery</a:t>
            </a:r>
            <a:r>
              <a:rPr lang="en-US" sz="1250" dirty="0">
                <a:solidFill>
                  <a:srgbClr val="DE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8869680" y="4855464"/>
            <a:ext cx="2514600" cy="603504"/>
          </a:xfrm>
          <a:prstGeom prst="roundRect">
            <a:avLst>
              <a:gd name="adj" fmla="val 9091"/>
            </a:avLst>
          </a:prstGeom>
          <a:solidFill>
            <a:srgbClr val="24101A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0" y="4974336"/>
            <a:ext cx="347472" cy="347472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9418320" y="4855464"/>
            <a:ext cx="1920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yes</a:t>
            </a:r>
            <a:r>
              <a:rPr lang="en-US" sz="1050" dirty="0">
                <a:solidFill>
                  <a:srgbClr val="F5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harness is paying off.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640080" y="5687568"/>
            <a:ext cx="10908792" cy="548640"/>
          </a:xfrm>
          <a:prstGeom prst="roundRect">
            <a:avLst>
              <a:gd name="adj" fmla="val 10000"/>
            </a:avLst>
          </a:prstGeom>
          <a:solidFill>
            <a:srgbClr val="1C133A"/>
          </a:solidFill>
          <a:ln w="12700">
            <a:solidFill>
              <a:srgbClr val="4A2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806440"/>
            <a:ext cx="329184" cy="329184"/>
          </a:xfrm>
          <a:prstGeom prst="rect">
            <a:avLst/>
          </a:prstGeom>
        </p:spPr>
      </p:pic>
      <p:sp>
        <p:nvSpPr>
          <p:cNvPr id="45" name="Text 41"/>
          <p:cNvSpPr/>
          <p:nvPr/>
        </p:nvSpPr>
        <p:spPr>
          <a:xfrm>
            <a:off x="1371600" y="5687568"/>
            <a:ext cx="9948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B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engineering isn't about the biggest model — </a:t>
            </a:r>
            <a:r>
              <a:rPr lang="en-US" sz="1350" b="1" dirty="0">
                <a:solidFill>
                  <a:srgbClr val="52F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smartest path from prompt → accepted business value.</a:t>
            </a:r>
            <a:endParaRPr lang="en-US" sz="1350" dirty="0"/>
          </a:p>
        </p:txBody>
      </p:sp>
      <p:sp>
        <p:nvSpPr>
          <p:cNvPr id="46" name="Shape 42"/>
          <p:cNvSpPr/>
          <p:nvPr/>
        </p:nvSpPr>
        <p:spPr>
          <a:xfrm>
            <a:off x="0" y="6803136"/>
            <a:ext cx="2103120" cy="54864"/>
          </a:xfrm>
          <a:prstGeom prst="rect">
            <a:avLst/>
          </a:prstGeom>
          <a:solidFill>
            <a:srgbClr val="A10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3"/>
          <p:cNvSpPr/>
          <p:nvPr/>
        </p:nvSpPr>
        <p:spPr>
          <a:xfrm>
            <a:off x="502920" y="6419088"/>
            <a:ext cx="118872" cy="118872"/>
          </a:xfrm>
          <a:prstGeom prst="rect">
            <a:avLst/>
          </a:prstGeom>
          <a:solidFill>
            <a:srgbClr val="A10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4"/>
          <p:cNvSpPr/>
          <p:nvPr/>
        </p:nvSpPr>
        <p:spPr>
          <a:xfrm>
            <a:off x="713232" y="635508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A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 AI Podcast  |  Harness Engineering</a:t>
            </a:r>
            <a:endParaRPr lang="en-US" sz="1050" dirty="0"/>
          </a:p>
        </p:txBody>
      </p:sp>
      <p:sp>
        <p:nvSpPr>
          <p:cNvPr id="49" name="Text 45"/>
          <p:cNvSpPr/>
          <p:nvPr/>
        </p:nvSpPr>
        <p:spPr>
          <a:xfrm>
            <a:off x="10424160" y="635508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C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554480"/>
            <a:ext cx="4389120" cy="4389120"/>
          </a:xfrm>
          <a:prstGeom prst="ellipse">
            <a:avLst/>
          </a:prstGeom>
          <a:solidFill>
            <a:srgbClr val="4A2888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881360" y="4572000"/>
            <a:ext cx="2926080" cy="2926080"/>
          </a:xfrm>
          <a:prstGeom prst="ellipse">
            <a:avLst/>
          </a:prstGeom>
          <a:solidFill>
            <a:srgbClr val="1D6B6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52F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 |  KEY TAKEAWAYS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03504" y="10972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BF8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harness is the product.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7315200" cy="1051560"/>
          </a:xfrm>
          <a:prstGeom prst="roundRect">
            <a:avLst>
              <a:gd name="adj" fmla="val 6087"/>
            </a:avLst>
          </a:prstGeom>
          <a:solidFill>
            <a:srgbClr val="1A1030"/>
          </a:solidFill>
          <a:ln w="12700">
            <a:solidFill>
              <a:srgbClr val="3A2E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91440" cy="1051560"/>
          </a:xfrm>
          <a:prstGeom prst="rect">
            <a:avLst/>
          </a:prstGeom>
          <a:solidFill>
            <a:srgbClr val="38D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233172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8D8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965960" y="251460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BF8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Reliability lives in the harness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965960" y="2935224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E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model, different runtime = different results. Engineer the whole system.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529584"/>
            <a:ext cx="7315200" cy="1051560"/>
          </a:xfrm>
          <a:prstGeom prst="roundRect">
            <a:avLst>
              <a:gd name="adj" fmla="val 6087"/>
            </a:avLst>
          </a:prstGeom>
          <a:solidFill>
            <a:srgbClr val="1A1030"/>
          </a:solidFill>
          <a:ln w="12700">
            <a:solidFill>
              <a:srgbClr val="3A2E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40080" y="3529584"/>
            <a:ext cx="91440" cy="1051560"/>
          </a:xfrm>
          <a:prstGeom prst="rect">
            <a:avLst/>
          </a:prstGeom>
          <a:solidFill>
            <a:srgbClr val="D7A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3529584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7A7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965960" y="3712464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BF8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Use the four pillars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965960" y="4133088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E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 · Orchestrate · Verify · Govern — real tools in every layer.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727448"/>
            <a:ext cx="7315200" cy="1051560"/>
          </a:xfrm>
          <a:prstGeom prst="roundRect">
            <a:avLst>
              <a:gd name="adj" fmla="val 6087"/>
            </a:avLst>
          </a:prstGeom>
          <a:solidFill>
            <a:srgbClr val="1A1030"/>
          </a:solidFill>
          <a:ln w="12700">
            <a:solidFill>
              <a:srgbClr val="3A2E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0080" y="4727448"/>
            <a:ext cx="91440" cy="1051560"/>
          </a:xfrm>
          <a:prstGeom prst="rect">
            <a:avLst/>
          </a:prstGeom>
          <a:solidFill>
            <a:srgbClr val="52F2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68680" y="4727448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52F2B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1965960" y="4910328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BF8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Adopt a meta-harness early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965960" y="5330952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E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Compose, swap and govern agents without rewrites; then automate the harness.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183880" y="2331720"/>
            <a:ext cx="3383280" cy="3447288"/>
          </a:xfrm>
          <a:prstGeom prst="roundRect">
            <a:avLst>
              <a:gd name="adj" fmla="val 2162"/>
            </a:avLst>
          </a:prstGeom>
          <a:solidFill>
            <a:srgbClr val="1A1030"/>
          </a:solidFill>
          <a:ln w="15875">
            <a:solidFill>
              <a:srgbClr val="52F2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412480" y="2514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2F2B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Start this week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549640" y="3017520"/>
            <a:ext cx="28803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→"/>
            </a:pPr>
            <a:r>
              <a:rPr lang="en-US" sz="1300" dirty="0">
                <a:solidFill>
                  <a:srgbClr val="DE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+ eval one agent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→"/>
            </a:pPr>
            <a:r>
              <a:rPr lang="en-US" sz="1300" dirty="0">
                <a:solidFill>
                  <a:srgbClr val="DE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gates &amp; rollback to CI/CD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→"/>
            </a:pPr>
            <a:r>
              <a:rPr lang="en-US" sz="1300" dirty="0">
                <a:solidFill>
                  <a:srgbClr val="DE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tools; sandbox execution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→"/>
            </a:pPr>
            <a:r>
              <a:rPr lang="en-US" sz="1300" dirty="0">
                <a:solidFill>
                  <a:srgbClr val="DE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a meta-harness layer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→"/>
            </a:pPr>
            <a:r>
              <a:rPr lang="en-US" sz="1300" dirty="0">
                <a:solidFill>
                  <a:srgbClr val="DE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policy &amp; approval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5806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2F2B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Thank you  ·  Questions?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0" y="6803136"/>
            <a:ext cx="2103120" cy="54864"/>
          </a:xfrm>
          <a:prstGeom prst="rect">
            <a:avLst/>
          </a:prstGeom>
          <a:solidFill>
            <a:srgbClr val="A10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02920" y="6419088"/>
            <a:ext cx="118872" cy="118872"/>
          </a:xfrm>
          <a:prstGeom prst="rect">
            <a:avLst/>
          </a:prstGeom>
          <a:solidFill>
            <a:srgbClr val="A10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13232" y="635508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A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 AI Podcast  |  Harness Engineering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0424160" y="635508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C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1319</Words>
  <Application>Microsoft Office PowerPoint</Application>
  <PresentationFormat>Widescreen</PresentationFormat>
  <Paragraphs>312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Bookman Old Style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Harness Engineering</dc:title>
  <dc:subject>PptxGenJS Presentation</dc:subject>
  <dc:creator>BIC AI Podcast</dc:creator>
  <cp:lastModifiedBy>Raja, Senthilnathan</cp:lastModifiedBy>
  <cp:revision>2</cp:revision>
  <dcterms:created xsi:type="dcterms:W3CDTF">2026-07-29T12:29:40Z</dcterms:created>
  <dcterms:modified xsi:type="dcterms:W3CDTF">2026-07-29T12:42:36Z</dcterms:modified>
</cp:coreProperties>
</file>