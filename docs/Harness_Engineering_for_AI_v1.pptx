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5573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6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6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6366F1">
              <a:alpha val="2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98480" y="4297680"/>
            <a:ext cx="2834640" cy="283464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430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216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AI ENGINEERING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Engineering</a:t>
            </a:r>
            <a:endParaRPr lang="en-US" sz="74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AI</a:t>
            </a:r>
            <a:endParaRPr lang="en-US" sz="7400" dirty="0"/>
          </a:p>
        </p:txBody>
      </p:sp>
      <p:sp>
        <p:nvSpPr>
          <p:cNvPr id="9" name="Text 6"/>
          <p:cNvSpPr/>
          <p:nvPr/>
        </p:nvSpPr>
        <p:spPr>
          <a:xfrm>
            <a:off x="868680" y="43434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layer around the model — how reliable, governable AI agents are actually built, evaluated, and shipped to production.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1152144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5806440"/>
            <a:ext cx="1152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276856" y="5806440"/>
            <a:ext cx="1362456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276856" y="5806440"/>
            <a:ext cx="1362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895344" y="5806440"/>
            <a:ext cx="2308860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95344" y="5806440"/>
            <a:ext cx="23088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Omnigent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60236" y="5806440"/>
            <a:ext cx="1783080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60236" y="580644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Ops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99348" y="5806440"/>
            <a:ext cx="1362456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499348" y="5806440"/>
            <a:ext cx="1362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4688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17520" y="2167128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14400" y="30449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33832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context to harness engineering — and why it matters.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80560" y="1965960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80560" y="1965960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228600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688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0" y="2167128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4754880" y="30449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ETCLOVG Layers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754880" y="33832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seven-layer anatomy of a production agent harness.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321040" y="1965960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321040" y="1965960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595360" y="228600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46888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698480" y="2167128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8595360" y="30449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Landscape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595360" y="33832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workflow, eval, deployment &amp; guardrail ecosystems.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0080" y="4005072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40080" y="4005072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914400" y="4325112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507992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017520" y="420624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400" dirty="0"/>
          </a:p>
        </p:txBody>
      </p:sp>
      <p:sp>
        <p:nvSpPr>
          <p:cNvPr id="31" name="Text 25"/>
          <p:cNvSpPr/>
          <p:nvPr/>
        </p:nvSpPr>
        <p:spPr>
          <a:xfrm>
            <a:off x="914400" y="5084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Optimization</a:t>
            </a:r>
            <a:endParaRPr lang="en-US" sz="1700" dirty="0"/>
          </a:p>
        </p:txBody>
      </p:sp>
      <p:sp>
        <p:nvSpPr>
          <p:cNvPr id="32" name="Text 26"/>
          <p:cNvSpPr/>
          <p:nvPr/>
        </p:nvSpPr>
        <p:spPr>
          <a:xfrm>
            <a:off x="914400" y="542239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Omnigent, Meta-Harness, AutoHarness &amp; natural-language harnesses.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4480560" y="4005072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4480560" y="4005072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4754880" y="4325112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507992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858000" y="420624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400" dirty="0"/>
          </a:p>
        </p:txBody>
      </p:sp>
      <p:sp>
        <p:nvSpPr>
          <p:cNvPr id="38" name="Text 31"/>
          <p:cNvSpPr/>
          <p:nvPr/>
        </p:nvSpPr>
        <p:spPr>
          <a:xfrm>
            <a:off x="4754880" y="5084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Operations</a:t>
            </a:r>
            <a:endParaRPr lang="en-US" sz="1700" dirty="0"/>
          </a:p>
        </p:txBody>
      </p:sp>
      <p:sp>
        <p:nvSpPr>
          <p:cNvPr id="39" name="Text 32"/>
          <p:cNvSpPr/>
          <p:nvPr/>
        </p:nvSpPr>
        <p:spPr>
          <a:xfrm>
            <a:off x="4754880" y="542239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→ AgentOps, CI/CD, release strategies &amp; observability.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8321040" y="4005072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8321040" y="4005072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8595360" y="4325112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507992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698480" y="420624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400" dirty="0"/>
          </a:p>
        </p:txBody>
      </p:sp>
      <p:sp>
        <p:nvSpPr>
          <p:cNvPr id="45" name="Text 37"/>
          <p:cNvSpPr/>
          <p:nvPr/>
        </p:nvSpPr>
        <p:spPr>
          <a:xfrm>
            <a:off x="8595360" y="5084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&amp; Roadmap</a:t>
            </a:r>
            <a:endParaRPr lang="en-US" sz="1700" dirty="0"/>
          </a:p>
        </p:txBody>
      </p:sp>
      <p:sp>
        <p:nvSpPr>
          <p:cNvPr id="46" name="Text 38"/>
          <p:cNvSpPr/>
          <p:nvPr/>
        </p:nvSpPr>
        <p:spPr>
          <a:xfrm>
            <a:off x="8595360" y="542239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value, best practices, and how to get started.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shift: prompt → context → harness engineering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agents moved from demos to production, the engineering focus climbed the stack. Each phase kept the previous one and added a new layer of control.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429000" cy="3200400"/>
          </a:xfrm>
          <a:prstGeom prst="rect">
            <a:avLst/>
          </a:prstGeom>
          <a:solidFill>
            <a:srgbClr val="F1F5F9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2788920"/>
            <a:ext cx="868680" cy="86868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9992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146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~2022–23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4526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instruction. Focus on wording, examples, and formatting to steer a single model call.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096512" y="376732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3895344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26280" y="2423160"/>
            <a:ext cx="3429000" cy="3200400"/>
          </a:xfrm>
          <a:prstGeom prst="rect">
            <a:avLst/>
          </a:prstGeom>
          <a:solidFill>
            <a:srgbClr val="F1F5F9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46320" y="2788920"/>
            <a:ext cx="868680" cy="868680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299923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~2023–24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4632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Engineering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4846320" y="4526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what the model sees. Retrieval, memory, and context budgets assemble the right information.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982712" y="376732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3895344"/>
            <a:ext cx="274320" cy="274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412480" y="2423160"/>
            <a:ext cx="3429000" cy="3200400"/>
          </a:xfrm>
          <a:prstGeom prst="rect">
            <a:avLst/>
          </a:prstGeom>
          <a:solidFill>
            <a:srgbClr val="0E1626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732520" y="278892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2832" y="2999232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2870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2025–26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873252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Engineering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8732520" y="4526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the whole runtime around the model: execution, tools, orchestration, verification, governance.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additive — harness engineering subsumes the earlier ones as the new frontier of reliability.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harness engineering exists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1051560"/>
          </a:xfrm>
          <a:prstGeom prst="rect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</a:t>
            </a:r>
            <a:r>
              <a:rPr lang="en-US" sz="3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</a:t>
            </a:r>
            <a:r>
              <a:rPr lang="en-US" sz="34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</a:t>
            </a:r>
            <a:r>
              <a:rPr lang="en-US" sz="3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Harness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35040" y="160020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reasons. The harness does everything else — and it is the primary determinant of reliability at scale.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96112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419856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 / unsafe actions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96112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models attempt actions the environment forbids. In one chess benchmark, 78% of a model's losses came from illegal moves.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65576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465576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721608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056" y="3419856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21608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state or memory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721608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 tasks lose context ("context rot"); the agent forgets goals and repeats work.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91072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291072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547104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3419856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47104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Unverifiable output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547104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validation gates and traces, you can't tell whether a run succeeded or why it failed.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116568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9116568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9372600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48" y="3419856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72600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Ungoverned &amp; unshippable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372600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permissions, budgets, or audit means it never clears security or production review.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agent harness?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760720" cy="4160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728" cy="41605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5257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harness is the external execution system around a model that organizes a task run — the scaffolding that decides where the agent runs, what it can call, what it sees, how the loop is orchestrated, and whether the result is safe and correct.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central claim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5257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using the same model can differ hugely in reliability. Benchmark scores are a property of a model–harness–environment system, not the model alone.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75120" y="1691640"/>
            <a:ext cx="4846320" cy="4160520"/>
          </a:xfrm>
          <a:prstGeom prst="rect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03720" y="18745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sits inside the harness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8040" y="2238451"/>
            <a:ext cx="3840480" cy="2381098"/>
          </a:xfrm>
          <a:prstGeom prst="ellipse">
            <a:avLst/>
          </a:prstGeom>
          <a:solidFill>
            <a:srgbClr val="18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89520" y="2493569"/>
            <a:ext cx="3017520" cy="1870862"/>
          </a:xfrm>
          <a:prstGeom prst="ellipse">
            <a:avLst/>
          </a:prstGeom>
          <a:solidFill>
            <a:srgbClr val="223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01000" y="2748686"/>
            <a:ext cx="2194560" cy="1360627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0" y="3003804"/>
            <a:ext cx="1371600" cy="850392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4983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· Tools · Context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ETCLOVG seven-layer taxonomy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map of what a complete harness contains. The first four layers are the structural core; the last three are the control plane that makes a system inspectable, measurable, and safe.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 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37360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Sandboxes, runtimes &amp; where code runs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02152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30752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30752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99432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58184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schemas, APIs &amp; MCP interfaces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64224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92824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92824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461504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0256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memory &amp; context budgets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26296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454896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454896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323576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82328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 &amp; orchestration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3639312" cy="1417320"/>
          </a:xfrm>
          <a:prstGeom prst="rect">
            <a:avLst/>
          </a:prstGeom>
          <a:solidFill>
            <a:srgbClr val="0E1626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96112" y="5276088"/>
            <a:ext cx="713232" cy="713232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6112" y="52760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737360" y="507492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737360" y="55321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Tracing, logging, cost &amp; latency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53128" y="4892040"/>
            <a:ext cx="3639312" cy="1417320"/>
          </a:xfrm>
          <a:prstGeom prst="rect">
            <a:avLst/>
          </a:prstGeom>
          <a:solidFill>
            <a:srgbClr val="0E1626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5276088"/>
            <a:ext cx="713232" cy="713232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52760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550408" y="507492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550408" y="55321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validation gates &amp; feedback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266176" y="4892040"/>
            <a:ext cx="3639312" cy="1417320"/>
          </a:xfrm>
          <a:prstGeom prst="rect">
            <a:avLst/>
          </a:prstGeom>
          <a:solidFill>
            <a:srgbClr val="0E1626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522208" y="5276088"/>
            <a:ext cx="713232" cy="7132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22208" y="52760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9363456" y="507492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9363456" y="55321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policy, audit &amp; human oversight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 · STRUCTURAL CORE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agent runs, calls, sees &amp; loops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98755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002536"/>
            <a:ext cx="731520" cy="73152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00253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19842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environment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783080" y="23774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sandboxes, VMs, and code interpreters that isolate the agent and bound side-effects.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5080" y="2130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55080" y="23774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Firecracker microVMs, Docker sandboxes, code-execution runtimes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10881360" cy="987552"/>
          </a:xfrm>
          <a:prstGeom prst="rect">
            <a:avLst/>
          </a:prstGeom>
          <a:solidFill>
            <a:srgbClr val="EEEF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8680" y="3099816"/>
            <a:ext cx="731520" cy="73152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09981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83080" y="30815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interface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783080" y="34747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tool schemas and function contracts; standardized access via the Model Context Protocol (MCP).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154680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55080" y="3227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34747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servers, OpenAI/Anthropic tool calling, API connectors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10881360" cy="98755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8680" y="4197096"/>
            <a:ext cx="731520" cy="73152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419709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83080" y="41788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management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783080" y="45720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(RAG), working &amp; long-term memory, and context-budget policies to fight context rot.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4251960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43251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55080" y="45720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stores, memory files, context compaction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166360"/>
            <a:ext cx="10881360" cy="987552"/>
          </a:xfrm>
          <a:prstGeom prst="rect">
            <a:avLst/>
          </a:prstGeom>
          <a:solidFill>
            <a:srgbClr val="EEEF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68680" y="5294376"/>
            <a:ext cx="731520" cy="73152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52943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783080" y="52760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/ orchestration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783080" y="56692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loop: planning, sub-agent handoffs, retries, and state transitions across steps.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5349240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55080" y="5422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56692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Plan–act–observe loops, multi-agent handoffs, retry logic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 · CONTROL PLANE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Observability, verification &amp; governance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layers that decide whether an agent is inspectable, measurable, and safe enough to operate in production.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520440" cy="86868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55117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331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38328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LLM call, tool invocation, retrieval step, cost, latency, and failure as a replayable trace.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0120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cost metrics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diagnosis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16552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16552" y="2331720"/>
            <a:ext cx="3520440" cy="86868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551176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85232" y="2331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90872" y="338328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and validation gates check outputs against ground truth, rubrics, and task contracts.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36592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eval suites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continuous evals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gates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93024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193024" y="2331720"/>
            <a:ext cx="3520440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2551176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61704" y="2331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67344" y="338328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models, budgets, identity, hardening, audit logs, and human-in-the-loop approval.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513064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&amp; identity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budgets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human approval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TAXONOMY IN PRACTICE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harness types you'll deploy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459736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Harness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runs against datasets &amp; rubrics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65576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739896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4" y="2459736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9896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Harness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739896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scenario tests for agents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91072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565392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459736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5392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Harness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565392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reason–act–observe loop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16568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390888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2459736"/>
            <a:ext cx="374904" cy="374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90888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Harness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90888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handoffs &amp; shared state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914400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" y="4498848"/>
            <a:ext cx="374904" cy="3749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4400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/ Memory Harness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14400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short &amp; long-term memory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3465576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3739896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064" y="4498848"/>
            <a:ext cx="374904" cy="37490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739896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Harness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3739896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Serving, scaling &amp; versioning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291072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6565392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4498848"/>
            <a:ext cx="374904" cy="37490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65392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/ Guardrail Harness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6565392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filters &amp; constraints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116568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9390888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2056" y="4498848"/>
            <a:ext cx="374904" cy="37490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390888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Harness</a:t>
            </a:r>
            <a:endParaRPr lang="en-US" sz="1450" dirty="0"/>
          </a:p>
        </p:txBody>
      </p:sp>
      <p:sp>
        <p:nvSpPr>
          <p:cNvPr id="44" name="Text 34"/>
          <p:cNvSpPr/>
          <p:nvPr/>
        </p:nvSpPr>
        <p:spPr>
          <a:xfrm>
            <a:off x="9390888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audit &amp; human approval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0" b="1" dirty="0">
                <a:solidFill>
                  <a:srgbClr val="18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1000" dirty="0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02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Framework Landscape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open-source and commercial ecosystem, mapped to harness layers.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&amp; orchestration frameworks</a:t>
            </a:r>
            <a:endParaRPr lang="en-US" sz="3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39044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strength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/ LangGraph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+ graph 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Lifecycle, tooling, stateful graphs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Role/team 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AutoGen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multi-agent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loops &amp; handoffs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Kernel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SDK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Planners, plugins, .NET/Python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RAG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&amp; 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 optimization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Prompt/pipeline compilation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Agents SDK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 &amp; handoffs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engines — Temporal, Prefect, Dagster, Airflow, and Argo Workflows — provide the durable, retryable execution substrate many production agent lifecycles run 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&amp; observability stack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observability layers turn agent runs into measurable, debuggable systems.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520440" cy="36118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520440" cy="64008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Evals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TruLens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16552" y="2286000"/>
            <a:ext cx="3520440" cy="36118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16552" y="2286000"/>
            <a:ext cx="3520440" cy="64008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45152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&amp; tracing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36592" y="31546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Helicone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WhyLabs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93024" y="2286000"/>
            <a:ext cx="3520440" cy="36118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93024" y="2286000"/>
            <a:ext cx="352044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21624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&amp; experiment mgmt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13064" y="31546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PromptLayer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Humanloop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platforms &amp; guardrails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9319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49240" cy="6858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 serving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Mosaic AI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Serve · BentoML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 · MLflow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Harness.io (CD/GitOps)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39319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49240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&amp; security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78892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 Guardrails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Lakera (prompt-injection)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AI (ML security)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AEGIS-style tool firewalls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Harness.io is a CI/CD &amp; software-delivery platform — distinct from the agent-“harness” concept, though increasingly used to ship AI workloads.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0" b="1" dirty="0">
                <a:solidFill>
                  <a:srgbClr val="18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1000" dirty="0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03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Optimization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Meta-harnesses and automated harness synthesis — the 2026 frontier.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 OPTIMIZATION · DATABRICKS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Omnigent — the meta-harness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Databricks' open-source (Apache 2.0) meta-harness sits one level above coding agents, treating each harness as an interchangeable part of a larger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interface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6243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wraps Claude Code, Codex, Cursor, Pi &amp; SDKs (plus LangGraph, CrewAI, Agno).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27355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821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 in one 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520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agent in a short YAML file; change harness or model without rewriting tools or prompts.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16966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0782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Policies &amp; sandboxing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4165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approval gates, and secure sandboxes keep agents in check.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065776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9743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collaboration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31266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live agent session by URL; teammates review, comment &amp; steer together.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2286000"/>
            <a:ext cx="4937760" cy="3657600"/>
          </a:xfrm>
          <a:prstGeom prst="rect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2395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Omnigent sits above the harnesses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0" y="2834640"/>
            <a:ext cx="4389120" cy="6858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0" y="28346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OMNIGENT  ·  meta-harness (compose · govern · share)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0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90688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44968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677656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31936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564624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518904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451592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405872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/ SDK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58000" y="4709160"/>
            <a:ext cx="4389120" cy="594360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0" y="47091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(via AI Gateway)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5440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on Databricks: Unity AI Gateway governance + sandboxes. It is the runtime engine behind Agent Bricks.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 OPTIMIZATION · RESEARCH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Automating the harness itself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harness drives reliability, the next step is to optimize or synthesize it automatically — three complementary 2026 approaches: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624328"/>
            <a:ext cx="777240" cy="7772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816352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Meta-Harness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30449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 et al.,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2688" y="356616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harness design as an end-to-end optimization problem over model-facing infrastructure — a repeatable loop that proposes, validates, and scores improvements to prompts, tools &amp; policies.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16552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90872" y="2624328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816352"/>
            <a:ext cx="393192" cy="3931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05272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AutoHarness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605272" y="30449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Lou et al. (DeepMind), 2026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09160" y="356616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code synthesis to auto-generate runtime constraint harnesses from tool schemas. Gemini-2.5-Flash + AutoHarness eliminated all illegal moves and beat larger models — more capably and cheaply.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93024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467344" y="2624328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368" y="2816352"/>
            <a:ext cx="393192" cy="3931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81744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Natural-Language Harnesses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381744" y="30449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NLAH + IHR, 2026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485632" y="356616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harness control logic as editable natural-language documents, run by an Intelligent Harness Runtime. Domain experts can tune agent orchestration without touching backend code.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0" b="1" dirty="0">
                <a:solidFill>
                  <a:srgbClr val="18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1000" dirty="0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04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AI Operations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releasing, and operating agents with confidence.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MLOps to LLMOps to AgentOps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29000" cy="3200400"/>
          </a:xfrm>
          <a:prstGeom prst="rect">
            <a:avLst/>
          </a:prstGeom>
          <a:solidFill>
            <a:srgbClr val="F1F5F9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429000" cy="10972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version, and deploy models. Data &amp; feature pipelines, model registry, monitoring for drift.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4526280"/>
            <a:ext cx="27889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4526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of concern: Models as artifacts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96512" y="335584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3483864"/>
            <a:ext cx="274320" cy="274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526280" y="2011680"/>
            <a:ext cx="3429000" cy="3200400"/>
          </a:xfrm>
          <a:prstGeom prst="rect">
            <a:avLst/>
          </a:prstGeom>
          <a:solidFill>
            <a:srgbClr val="F1F5F9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26280" y="2011680"/>
            <a:ext cx="3429000" cy="109728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46320" y="23317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LLMOps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846320" y="3063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prompts, RAG, evals, and inference cost/latency for foundation-model apps.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846320" y="4526280"/>
            <a:ext cx="27889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37760" y="4526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of concern: Prompts + context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82712" y="335584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3483864"/>
            <a:ext cx="274320" cy="2743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412480" y="2011680"/>
            <a:ext cx="3429000" cy="3200400"/>
          </a:xfrm>
          <a:prstGeom prst="rect">
            <a:avLst/>
          </a:prstGeom>
          <a:solidFill>
            <a:srgbClr val="0E1626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412480" y="2011680"/>
            <a:ext cx="3429000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732520" y="23317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AgentOps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8732520" y="3063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autonomous multi-step agents: trace loops, gate on evals, enforce policy &amp; budgets, human approval.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8732520" y="4526280"/>
            <a:ext cx="2788920" cy="457200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8823960" y="4526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of concern: Whole harness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 keeps everything from ML/LLMOps and adds trace-level operability, continuous evaluation, and governance for autonomous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&amp; progressive release for agents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71016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24231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tools, harness as code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06040" y="277977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852928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83864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42316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52928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Gate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962656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suites + regression tests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18888" y="277977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065776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696712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42316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65776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175504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/ canary on live traffic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031736" y="277977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278624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909560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5008" y="242316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78624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388352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+ policy checks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244584" y="277977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9491472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10122408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7856" y="2423160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491472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9601200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/ progressive rollout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 strategies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640080" y="4572000"/>
            <a:ext cx="2624328" cy="13258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40080" y="4572000"/>
            <a:ext cx="91440" cy="132588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868680" y="4681728"/>
            <a:ext cx="2258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Canary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868680" y="5029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small % of traffic to the new agent; watch metrics before scaling.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465576" y="4572000"/>
            <a:ext cx="2624328" cy="13258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3465576" y="4572000"/>
            <a:ext cx="91440" cy="132588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3694176" y="4681728"/>
            <a:ext cx="2258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Blue-Green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3694176" y="5029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old &amp; new side by side; switch and roll back instantly.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6291072" y="4572000"/>
            <a:ext cx="2624328" cy="13258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6291072" y="4572000"/>
            <a:ext cx="91440" cy="132588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6519672" y="4681728"/>
            <a:ext cx="2258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Shadow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6519672" y="5029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real traffic to the new agent without serving its output.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9116568" y="4572000"/>
            <a:ext cx="2624328" cy="13258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9116568" y="4572000"/>
            <a:ext cx="91440" cy="132588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9345168" y="4681728"/>
            <a:ext cx="2258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A/B Testing</a:t>
            </a:r>
            <a:endParaRPr lang="en-US" sz="1400" dirty="0"/>
          </a:p>
        </p:txBody>
      </p:sp>
      <p:sp>
        <p:nvSpPr>
          <p:cNvPr id="50" name="Text 43"/>
          <p:cNvSpPr/>
          <p:nvPr/>
        </p:nvSpPr>
        <p:spPr>
          <a:xfrm>
            <a:off x="9345168" y="5029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users to compare quality, cost &amp; satisfaction.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agents: observe, evaluate, respond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423160"/>
            <a:ext cx="914400" cy="91440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651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3134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 everything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103120" y="283464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full run — prompts, tool calls, retrievals, tokens, latency — as replayable traces.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92240" y="2423160"/>
            <a:ext cx="914400" cy="91440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6517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23134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evaluation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35240" y="283464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live traffic against rubrics &amp; regression sets; alert on quality regressions, not just errors.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096512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60120" y="4553712"/>
            <a:ext cx="914400" cy="91440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78231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44398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&amp; latency SLOs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103120" y="4965192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tokens and set service-level objectives; throttle or downgrade models under pressure.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4096512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92240" y="4553712"/>
            <a:ext cx="914400" cy="91440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78231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35240" y="444398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response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35240" y="4965192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failing traces, roll back the harness version, and add the case to the regression suite.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0" b="1" dirty="0">
                <a:solidFill>
                  <a:srgbClr val="18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1000" dirty="0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Adoption, Value &amp; Roadmap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enterprises invest — and how to start.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VALUE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organizations adopt harness engineering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212848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38658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945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3017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models/harnesses without rewrites; reuse tooling &amp; context across agents.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6552" y="1920240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90872" y="2212848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38658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9552" y="21945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 &amp; Eval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3017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suites and eval gates make agent quality measurable and repeatable.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93024" y="1920240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67344" y="2212848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38658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36024" y="21945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85632" y="3017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SLOs, and rollback turn opaque agents into operable services.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050792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14400" y="4343400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4517136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83080" y="4325112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Risk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2688" y="5148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sandboxes, and audit satisfy governance and compliance review.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416552" y="4050792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690872" y="4343400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4517136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59552" y="4325112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&amp; Clients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709160" y="5148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safer releases and fewer hallucinations build trust and protect ROI.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193024" y="4050792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467344" y="4343400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1080" y="4517136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336024" y="4325112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485632" y="5148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 platform reduces lock-in and scales AI across many use cases.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SUPPORT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× harness-layer coverage</a:t>
            </a:r>
            <a:endParaRPr lang="en-US" sz="3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363931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 / AutoGen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/ Braintrust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/ Vertex / Mosaic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Omnigent (meta-harness)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 / Guardrails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   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</a:t>
            </a: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  </a:t>
            </a: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/ out of scope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not exhaustive — tool capabilities evolve quickly; validate against current docs.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PRACTICES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this — not that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977640"/>
          </a:xfrm>
          <a:prstGeom prst="rect">
            <a:avLst/>
          </a:prstGeom>
          <a:solidFill>
            <a:srgbClr val="E6FAF6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49240" cy="640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harness as code — version prompts, tools &amp; policies together.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harness with every eval; capture full traces.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releases on evals; ship progressively (canary/shadow).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context &amp; tokens; design for cost–quality–speed trade-offs.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least-privilege tools, sandboxes, and human approval on risky actions.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39776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4924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bigger models to fix reliability the harness should handle.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agents on model scores alone (scores are harness-dependent).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without validation gates, rollback, or audit trails.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Hard-coding orchestration so it can't be inspected, transferred, or ablated.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tool access with no budgets, permissions, or oversight.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enterprise agent platform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960120"/>
          </a:xfrm>
          <a:prstGeom prst="rect">
            <a:avLst/>
          </a:prstGeom>
          <a:solidFill>
            <a:srgbClr val="223052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52160" y="192024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IDE · API · workflow triggers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960120"/>
          </a:xfrm>
          <a:prstGeom prst="rect">
            <a:avLst/>
          </a:prstGeom>
          <a:solidFill>
            <a:srgbClr val="6366F1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(meta-harness)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852160" y="301752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Omnigent-style layer · compose &amp; swap harnesses · multi-agent handoffs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10881360" cy="960120"/>
          </a:xfrm>
          <a:prstGeom prst="rect">
            <a:avLst/>
          </a:prstGeom>
          <a:solidFill>
            <a:srgbClr val="14B8A6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42062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core · E T C 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411480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execution · MCP tools · RAG + memory · agent loop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881360" cy="960120"/>
          </a:xfrm>
          <a:prstGeom prst="rect">
            <a:avLst/>
          </a:prstGeom>
          <a:solidFill>
            <a:srgbClr val="0E1626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5303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plane · O V 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852160" y="521208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evals · guardrails · Unity/AI-gateway governance · audit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1920240"/>
            <a:ext cx="109728" cy="4251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models &amp; secrets stay in your cloud; the platform stays portable and governed end-to-end.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OUTLOOK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harness engineering is heading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46888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6700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3317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Self-optimizing harnesses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57400" y="28620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Meta-harnesses and AutoHarness-style synthesis tune scaffolding automatically from traces.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92240" y="246888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6700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3317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Natural-language control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589520" y="28620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NL harness documents let domain experts steer agents without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096512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48006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57400" y="446227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interfaces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57400" y="4992624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MCP, A2A, and common harness APIs make agents and harnesses interchangeable.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4096512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92240" y="4599432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8006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9520" y="446227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factories &amp; platforms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589520" y="4992624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Fleets of governed agents managed as a portfolio on shared enterprise platforms.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harness is the product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492240" cy="932688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91440" cy="93268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1005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11680" y="227685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 lives in the harness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65176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different harness = very different results. Engineer the whole runtime.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227832"/>
            <a:ext cx="6492240" cy="932688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3227832"/>
            <a:ext cx="91440" cy="93268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227832"/>
            <a:ext cx="1005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011680" y="33558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ETCLOVG as your checklist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373075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execution, tools, context, lifecycle, observability, verification &amp; governance.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306824"/>
            <a:ext cx="6492240" cy="932688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" y="4306824"/>
            <a:ext cx="91440" cy="93268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4306824"/>
            <a:ext cx="1005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011680" y="4434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 a meta-harness early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11680" y="4809744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Omnigent-style layers let you compose, govern &amp; swap agents without rewrites.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43800" y="2148840"/>
            <a:ext cx="3794760" cy="3255264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43800" y="2148840"/>
            <a:ext cx="3794760" cy="5486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26680" y="2148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90-day roadmap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0" y="283464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tracing + evals on one agent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validation gates &amp; rollback to CI/CD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meta-harness layer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governance: policy, budgets, audit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5806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·  Questions?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 &amp; further reading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 Harness Engineering: A Survey” — ETCLOVG seven-layer taxonomy (OpenReview,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 Harness for LLM Agents: A Survey” — six-component model H=(E,T,C,S,L,V); Awesome-Agent-Harness catalog.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— “Introducing Omnigent: A Meta-Harness to Combine, Control and Share Your Agents” (Databricks Blog &amp; docs,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et al. — “Meta-Harness: End-to-End Optimization of Model Harnesses” (arXiv,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 et al. — “AutoHarness: Improving LLM Agents by Automatically Synthesizing a Code Harness” (arXiv 2603.03329,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“Natural-Language Agent Harnesses” + Intelligent Harness Runtime (arXiv 2603.25723,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“Harness engineering: leveraging Codex in an agent-first world” (OpenAI Blog, 2026).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names and capabilities are current as of mid-2026 and evolve quickly; verify against primary sources before architectural decisions.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2621</Words>
  <Application>Microsoft Office PowerPoint</Application>
  <PresentationFormat>Widescreen</PresentationFormat>
  <Paragraphs>484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for AI</dc:title>
  <dc:subject>PptxGenJS Presentation</dc:subject>
  <dc:creator>AI Platform Engineering</dc:creator>
  <cp:lastModifiedBy>Raja, Senthilnathan</cp:lastModifiedBy>
  <cp:revision>1</cp:revision>
  <dcterms:created xsi:type="dcterms:W3CDTF">2026-07-29T10:41:58Z</dcterms:created>
  <dcterms:modified xsi:type="dcterms:W3CDTF">2026-07-29T12:32:50Z</dcterms:modified>
</cp:coreProperties>
</file>