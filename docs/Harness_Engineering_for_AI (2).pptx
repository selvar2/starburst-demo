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1463040"/>
            <a:ext cx="4206240" cy="4206240"/>
          </a:xfrm>
          <a:prstGeom prst="ellipse">
            <a:avLst/>
          </a:prstGeom>
          <a:solidFill>
            <a:srgbClr val="6366F1">
              <a:alpha val="2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98480" y="4297680"/>
            <a:ext cx="2834640" cy="2834640"/>
          </a:xfrm>
          <a:prstGeom prst="ellipse">
            <a:avLst/>
          </a:prstGeom>
          <a:solidFill>
            <a:srgbClr val="2DD4BF">
              <a:alpha val="2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14300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2161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ENTERPRISE AI ENGINEERING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1965960"/>
            <a:ext cx="10789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Harness Engineering</a:t>
            </a:r>
            <a:endParaRPr lang="en-US" sz="7400" dirty="0"/>
          </a:p>
        </p:txBody>
      </p:sp>
      <p:sp>
        <p:nvSpPr>
          <p:cNvPr id="8" name="Text 5"/>
          <p:cNvSpPr/>
          <p:nvPr/>
        </p:nvSpPr>
        <p:spPr>
          <a:xfrm>
            <a:off x="822960" y="306324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AI</a:t>
            </a:r>
            <a:endParaRPr lang="en-US" sz="7400" dirty="0"/>
          </a:p>
        </p:txBody>
      </p:sp>
      <p:sp>
        <p:nvSpPr>
          <p:cNvPr id="9" name="Text 6"/>
          <p:cNvSpPr/>
          <p:nvPr/>
        </p:nvSpPr>
        <p:spPr>
          <a:xfrm>
            <a:off x="868680" y="4343400"/>
            <a:ext cx="8778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layer around the model — how reliable, governable AI agents are actually built, evaluated, and shipped to production.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868680" y="5806440"/>
            <a:ext cx="1152144" cy="530352"/>
          </a:xfrm>
          <a:prstGeom prst="roundRect">
            <a:avLst>
              <a:gd name="adj" fmla="val 15517"/>
            </a:avLst>
          </a:prstGeom>
          <a:solidFill>
            <a:srgbClr val="18233B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5806440"/>
            <a:ext cx="11521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276856" y="5806440"/>
            <a:ext cx="1362456" cy="530352"/>
          </a:xfrm>
          <a:prstGeom prst="roundRect">
            <a:avLst>
              <a:gd name="adj" fmla="val 15517"/>
            </a:avLst>
          </a:prstGeom>
          <a:solidFill>
            <a:srgbClr val="18233B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276856" y="5806440"/>
            <a:ext cx="13624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3895344" y="5806440"/>
            <a:ext cx="2308860" cy="530352"/>
          </a:xfrm>
          <a:prstGeom prst="roundRect">
            <a:avLst>
              <a:gd name="adj" fmla="val 15517"/>
            </a:avLst>
          </a:prstGeom>
          <a:solidFill>
            <a:srgbClr val="18233B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95344" y="5806440"/>
            <a:ext cx="23088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Omnigent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460236" y="5806440"/>
            <a:ext cx="1783080" cy="530352"/>
          </a:xfrm>
          <a:prstGeom prst="roundRect">
            <a:avLst>
              <a:gd name="adj" fmla="val 15517"/>
            </a:avLst>
          </a:prstGeom>
          <a:solidFill>
            <a:srgbClr val="18233B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60236" y="5806440"/>
            <a:ext cx="1783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Ops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499348" y="5806440"/>
            <a:ext cx="1362456" cy="530352"/>
          </a:xfrm>
          <a:prstGeom prst="roundRect">
            <a:avLst>
              <a:gd name="adj" fmla="val 15517"/>
            </a:avLst>
          </a:prstGeom>
          <a:solidFill>
            <a:srgbClr val="18233B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499348" y="5806440"/>
            <a:ext cx="13624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AGENDA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we'll cover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611880" cy="17830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965960"/>
            <a:ext cx="3611880" cy="914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286000"/>
            <a:ext cx="731520" cy="73152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46888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017520" y="2167128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914400" y="304495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14400" y="3383280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prompt to context to harness engineering — and why it matters.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480560" y="1965960"/>
            <a:ext cx="3611880" cy="17830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80560" y="1965960"/>
            <a:ext cx="3611880" cy="914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4" name="Shape 11"/>
          <p:cNvSpPr/>
          <p:nvPr/>
        </p:nvSpPr>
        <p:spPr>
          <a:xfrm>
            <a:off x="4754880" y="2286000"/>
            <a:ext cx="731520" cy="73152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46888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858000" y="2167128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3400" dirty="0"/>
          </a:p>
        </p:txBody>
      </p:sp>
      <p:sp>
        <p:nvSpPr>
          <p:cNvPr id="17" name="Text 13"/>
          <p:cNvSpPr/>
          <p:nvPr/>
        </p:nvSpPr>
        <p:spPr>
          <a:xfrm>
            <a:off x="4754880" y="304495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ETCLOVG Layers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4754880" y="3383280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seven-layer anatomy of a production agent harness.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321040" y="1965960"/>
            <a:ext cx="3611880" cy="17830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321040" y="1965960"/>
            <a:ext cx="3611880" cy="914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1" name="Shape 17"/>
          <p:cNvSpPr/>
          <p:nvPr/>
        </p:nvSpPr>
        <p:spPr>
          <a:xfrm>
            <a:off x="8595360" y="2286000"/>
            <a:ext cx="731520" cy="73152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2468880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0698480" y="2167128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3400" dirty="0"/>
          </a:p>
        </p:txBody>
      </p:sp>
      <p:sp>
        <p:nvSpPr>
          <p:cNvPr id="24" name="Text 19"/>
          <p:cNvSpPr/>
          <p:nvPr/>
        </p:nvSpPr>
        <p:spPr>
          <a:xfrm>
            <a:off x="8595360" y="304495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Framework Landscape</a:t>
            </a:r>
            <a:endParaRPr lang="en-US" sz="1700" dirty="0"/>
          </a:p>
        </p:txBody>
      </p:sp>
      <p:sp>
        <p:nvSpPr>
          <p:cNvPr id="25" name="Text 20"/>
          <p:cNvSpPr/>
          <p:nvPr/>
        </p:nvSpPr>
        <p:spPr>
          <a:xfrm>
            <a:off x="8595360" y="3383280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Agent, workflow, eval, deployment &amp; guardrail ecosystems.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640080" y="4005072"/>
            <a:ext cx="3611880" cy="17830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40080" y="4005072"/>
            <a:ext cx="3611880" cy="914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8" name="Shape 23"/>
          <p:cNvSpPr/>
          <p:nvPr/>
        </p:nvSpPr>
        <p:spPr>
          <a:xfrm>
            <a:off x="914400" y="4325112"/>
            <a:ext cx="731520" cy="73152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4507992"/>
            <a:ext cx="365760" cy="36576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3017520" y="4206240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3400" dirty="0"/>
          </a:p>
        </p:txBody>
      </p:sp>
      <p:sp>
        <p:nvSpPr>
          <p:cNvPr id="31" name="Text 25"/>
          <p:cNvSpPr/>
          <p:nvPr/>
        </p:nvSpPr>
        <p:spPr>
          <a:xfrm>
            <a:off x="914400" y="5084064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Harness Optimization</a:t>
            </a:r>
            <a:endParaRPr lang="en-US" sz="1700" dirty="0"/>
          </a:p>
        </p:txBody>
      </p:sp>
      <p:sp>
        <p:nvSpPr>
          <p:cNvPr id="32" name="Text 26"/>
          <p:cNvSpPr/>
          <p:nvPr/>
        </p:nvSpPr>
        <p:spPr>
          <a:xfrm>
            <a:off x="914400" y="5422392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Omnigent, Meta-Harness, AutoHarness &amp; natural-language harnesses.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4480560" y="4005072"/>
            <a:ext cx="3611880" cy="17830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4480560" y="4005072"/>
            <a:ext cx="3611880" cy="914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5" name="Shape 29"/>
          <p:cNvSpPr/>
          <p:nvPr/>
        </p:nvSpPr>
        <p:spPr>
          <a:xfrm>
            <a:off x="4754880" y="4325112"/>
            <a:ext cx="731520" cy="73152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4507992"/>
            <a:ext cx="365760" cy="36576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6858000" y="4206240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3400" dirty="0"/>
          </a:p>
        </p:txBody>
      </p:sp>
      <p:sp>
        <p:nvSpPr>
          <p:cNvPr id="38" name="Text 31"/>
          <p:cNvSpPr/>
          <p:nvPr/>
        </p:nvSpPr>
        <p:spPr>
          <a:xfrm>
            <a:off x="4754880" y="5084064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 Operations</a:t>
            </a:r>
            <a:endParaRPr lang="en-US" sz="1700" dirty="0"/>
          </a:p>
        </p:txBody>
      </p:sp>
      <p:sp>
        <p:nvSpPr>
          <p:cNvPr id="39" name="Text 32"/>
          <p:cNvSpPr/>
          <p:nvPr/>
        </p:nvSpPr>
        <p:spPr>
          <a:xfrm>
            <a:off x="4754880" y="5422392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LLMOps → AgentOps, CI/CD, release strategies &amp; observability.</a:t>
            </a:r>
            <a:endParaRPr lang="en-US" sz="1150" dirty="0"/>
          </a:p>
        </p:txBody>
      </p:sp>
      <p:sp>
        <p:nvSpPr>
          <p:cNvPr id="40" name="Shape 33"/>
          <p:cNvSpPr/>
          <p:nvPr/>
        </p:nvSpPr>
        <p:spPr>
          <a:xfrm>
            <a:off x="8321040" y="4005072"/>
            <a:ext cx="3611880" cy="17830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8321040" y="4005072"/>
            <a:ext cx="3611880" cy="914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2" name="Shape 35"/>
          <p:cNvSpPr/>
          <p:nvPr/>
        </p:nvSpPr>
        <p:spPr>
          <a:xfrm>
            <a:off x="8595360" y="4325112"/>
            <a:ext cx="731520" cy="73152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240" y="4507992"/>
            <a:ext cx="365760" cy="365760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10698480" y="4206240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3400" dirty="0"/>
          </a:p>
        </p:txBody>
      </p:sp>
      <p:sp>
        <p:nvSpPr>
          <p:cNvPr id="45" name="Text 37"/>
          <p:cNvSpPr/>
          <p:nvPr/>
        </p:nvSpPr>
        <p:spPr>
          <a:xfrm>
            <a:off x="8595360" y="5084064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Adoption &amp; Roadmap</a:t>
            </a:r>
            <a:endParaRPr lang="en-US" sz="1700" dirty="0"/>
          </a:p>
        </p:txBody>
      </p:sp>
      <p:sp>
        <p:nvSpPr>
          <p:cNvPr id="46" name="Text 38"/>
          <p:cNvSpPr/>
          <p:nvPr/>
        </p:nvSpPr>
        <p:spPr>
          <a:xfrm>
            <a:off x="8595360" y="5422392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value, best practices, and how to get started.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FOUNDATIONS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shift: prompt → context → harness engineering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agents moved from demos to production, the engineering focus climbed the stack. Each phase kept the previous one and added a new layer of control.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3429000" cy="32004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2788920"/>
            <a:ext cx="868680" cy="868680"/>
          </a:xfrm>
          <a:prstGeom prst="ellipse">
            <a:avLst/>
          </a:prstGeom>
          <a:solidFill>
            <a:srgbClr val="94A3B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2999232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514600" y="2880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~2022–23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60120" y="3840480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Engineering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960120" y="452628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the instruction. Focus on wording, examples, and formatting to steer a single model call.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096512" y="3767328"/>
            <a:ext cx="512064" cy="512064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5384" y="3895344"/>
            <a:ext cx="274320" cy="27432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526280" y="2423160"/>
            <a:ext cx="3429000" cy="32004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846320" y="2788920"/>
            <a:ext cx="868680" cy="868680"/>
          </a:xfrm>
          <a:prstGeom prst="ellipse">
            <a:avLst/>
          </a:prstGeom>
          <a:solidFill>
            <a:srgbClr val="818CF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6632" y="2999232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0" y="2880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~2023–24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846320" y="3840480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Engineering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4846320" y="452628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what the model sees. Retrieval, memory, and context budgets assemble the right information.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7982712" y="3767328"/>
            <a:ext cx="512064" cy="512064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1584" y="3895344"/>
            <a:ext cx="274320" cy="27432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8412480" y="2423160"/>
            <a:ext cx="3429000" cy="3200400"/>
          </a:xfrm>
          <a:prstGeom prst="rect">
            <a:avLst/>
          </a:prstGeom>
          <a:solidFill>
            <a:srgbClr val="0E1626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732520" y="2788920"/>
            <a:ext cx="868680" cy="86868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2832" y="2999232"/>
            <a:ext cx="457200" cy="4572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287000" y="2880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2025–26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8732520" y="3840480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Harness Engineering</a:t>
            </a:r>
            <a:endParaRPr lang="en-US" sz="2000" dirty="0"/>
          </a:p>
        </p:txBody>
      </p:sp>
      <p:sp>
        <p:nvSpPr>
          <p:cNvPr id="27" name="Text 20"/>
          <p:cNvSpPr/>
          <p:nvPr/>
        </p:nvSpPr>
        <p:spPr>
          <a:xfrm>
            <a:off x="8732520" y="452628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the whole runtime around the model: execution, tools, orchestration, verification, governance.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is additive — harness engineering subsumes the earlier ones as the new frontier of reliability.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FOUNDATIONS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harness engineering exists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10881360" cy="1051560"/>
          </a:xfrm>
          <a:prstGeom prst="rect">
            <a:avLst/>
          </a:prstGeom>
          <a:solidFill>
            <a:srgbClr val="0E1626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600200"/>
            <a:ext cx="6126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</a:t>
            </a:r>
            <a:pPr indent="0" marL="0">
              <a:buNone/>
            </a:pPr>
            <a:r>
              <a:rPr lang="en-US" sz="34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</a:t>
            </a:r>
            <a:pPr indent="0" marL="0">
              <a:buNone/>
            </a:pPr>
            <a:r>
              <a:rPr lang="en-US" sz="34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</a:t>
            </a:r>
            <a:pPr indent="0" marL="0">
              <a:buNone/>
            </a:pPr>
            <a:r>
              <a:rPr lang="en-US" sz="34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</a:t>
            </a:r>
            <a:pPr indent="0" marL="0">
              <a:buNone/>
            </a:pPr>
            <a:r>
              <a:rPr lang="en-US" sz="34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Harness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035040" y="1600200"/>
            <a:ext cx="5212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reasons. The harness does everything else — and it is the primary determinant of reliability at scale.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971800"/>
            <a:ext cx="2624328" cy="28803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971800"/>
            <a:ext cx="2624328" cy="8229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896112" y="3264408"/>
            <a:ext cx="658368" cy="658368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3419856"/>
            <a:ext cx="347472" cy="34747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96112" y="4069080"/>
            <a:ext cx="2167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Illegal / unsafe actions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96112" y="4636008"/>
            <a:ext cx="216712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models attempt actions the environment forbids. In one chess benchmark, 78% of a model's losses came from illegal moves.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465576" y="2971800"/>
            <a:ext cx="2624328" cy="28803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465576" y="2971800"/>
            <a:ext cx="2624328" cy="8229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Shape 13"/>
          <p:cNvSpPr/>
          <p:nvPr/>
        </p:nvSpPr>
        <p:spPr>
          <a:xfrm>
            <a:off x="3721608" y="3264408"/>
            <a:ext cx="658368" cy="658368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7056" y="3419856"/>
            <a:ext cx="347472" cy="34747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721608" y="4069080"/>
            <a:ext cx="2167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state or memory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3721608" y="4636008"/>
            <a:ext cx="216712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Long-horizon tasks lose context ("context rot"); the agent forgets goals and repeats work.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291072" y="2971800"/>
            <a:ext cx="2624328" cy="28803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291072" y="2971800"/>
            <a:ext cx="2624328" cy="8229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Shape 18"/>
          <p:cNvSpPr/>
          <p:nvPr/>
        </p:nvSpPr>
        <p:spPr>
          <a:xfrm>
            <a:off x="6547104" y="3264408"/>
            <a:ext cx="658368" cy="658368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552" y="3419856"/>
            <a:ext cx="347472" cy="34747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547104" y="4069080"/>
            <a:ext cx="2167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Unverifiable output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6547104" y="4636008"/>
            <a:ext cx="216712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validation gates and traces, you can't tell whether a run succeeded or why it failed.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9116568" y="2971800"/>
            <a:ext cx="2624328" cy="28803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9116568" y="2971800"/>
            <a:ext cx="2624328" cy="8229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Shape 23"/>
          <p:cNvSpPr/>
          <p:nvPr/>
        </p:nvSpPr>
        <p:spPr>
          <a:xfrm>
            <a:off x="9372600" y="3264408"/>
            <a:ext cx="658368" cy="658368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8048" y="3419856"/>
            <a:ext cx="347472" cy="34747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372600" y="4069080"/>
            <a:ext cx="2167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Ungoverned &amp; unshippable</a:t>
            </a:r>
            <a:endParaRPr lang="en-US" sz="1500" dirty="0"/>
          </a:p>
        </p:txBody>
      </p:sp>
      <p:sp>
        <p:nvSpPr>
          <p:cNvPr id="31" name="Text 25"/>
          <p:cNvSpPr/>
          <p:nvPr/>
        </p:nvSpPr>
        <p:spPr>
          <a:xfrm>
            <a:off x="9372600" y="4636008"/>
            <a:ext cx="216712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permissions, budgets, or audit means it never clears security or production review.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FOUNDATIONS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an agent harness?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760720" cy="41605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91640"/>
            <a:ext cx="109728" cy="41605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202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423160"/>
            <a:ext cx="5257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harness is the external execution system around a model that organizes a task run — the scaffolding that decides where the agent runs, what it can call, what it sees, how the loop is orchestrated, and whether the result is safe and correct.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14400" y="397764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central claim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4389120"/>
            <a:ext cx="5257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systems using the same model can differ hugely in reliability. Benchmark scores are a property of a model–harness–environment system, not the model alone.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675120" y="1691640"/>
            <a:ext cx="4846320" cy="4160520"/>
          </a:xfrm>
          <a:prstGeom prst="rect">
            <a:avLst/>
          </a:prstGeom>
          <a:solidFill>
            <a:srgbClr val="0E1626"/>
          </a:solidFill>
          <a:ln/>
        </p:spPr>
      </p:sp>
      <p:sp>
        <p:nvSpPr>
          <p:cNvPr id="12" name="Text 10"/>
          <p:cNvSpPr/>
          <p:nvPr/>
        </p:nvSpPr>
        <p:spPr>
          <a:xfrm>
            <a:off x="6903720" y="187452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model sits inside the harness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178040" y="2238451"/>
            <a:ext cx="3840480" cy="2381098"/>
          </a:xfrm>
          <a:prstGeom prst="ellipse">
            <a:avLst/>
          </a:prstGeom>
          <a:solidFill>
            <a:srgbClr val="18233B"/>
          </a:solidFill>
          <a:ln/>
        </p:spPr>
      </p:sp>
      <p:sp>
        <p:nvSpPr>
          <p:cNvPr id="14" name="Shape 12"/>
          <p:cNvSpPr/>
          <p:nvPr/>
        </p:nvSpPr>
        <p:spPr>
          <a:xfrm>
            <a:off x="7589520" y="2493569"/>
            <a:ext cx="3017520" cy="1870862"/>
          </a:xfrm>
          <a:prstGeom prst="ellipse">
            <a:avLst/>
          </a:prstGeom>
          <a:solidFill>
            <a:srgbClr val="223052"/>
          </a:solidFill>
          <a:ln/>
        </p:spPr>
      </p:sp>
      <p:sp>
        <p:nvSpPr>
          <p:cNvPr id="15" name="Shape 13"/>
          <p:cNvSpPr/>
          <p:nvPr/>
        </p:nvSpPr>
        <p:spPr>
          <a:xfrm>
            <a:off x="8001000" y="2748686"/>
            <a:ext cx="2194560" cy="1360627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6" name="Shape 14"/>
          <p:cNvSpPr/>
          <p:nvPr/>
        </p:nvSpPr>
        <p:spPr>
          <a:xfrm>
            <a:off x="8412480" y="3003804"/>
            <a:ext cx="1371600" cy="85039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3246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0" y="49834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Governance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Verification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Orchestration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Execution · Tools · Context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ANATOMY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ETCLOVG seven-layer taxonomy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map of what a complete harness contains. The first four layers are the structural core; the last three are the control plane that makes a system inspectable, measurable, and safe.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STRUCTURAL CORE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651760"/>
            <a:ext cx="2697480" cy="16002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2907792"/>
            <a:ext cx="777240" cy="777240"/>
          </a:xfrm>
          <a:prstGeom prst="ellipse">
            <a:avLst/>
          </a:prstGeom>
          <a:solidFill>
            <a:srgbClr val="0E1626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90779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737360" y="285292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96112" y="36118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Sandboxes, runtimes &amp; where code runs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502152" y="2651760"/>
            <a:ext cx="2697480" cy="16002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730752" y="2907792"/>
            <a:ext cx="777240" cy="777240"/>
          </a:xfrm>
          <a:prstGeom prst="ellipse">
            <a:avLst/>
          </a:prstGeom>
          <a:solidFill>
            <a:srgbClr val="0E1626"/>
          </a:solidFill>
          <a:ln/>
        </p:spPr>
      </p:sp>
      <p:sp>
        <p:nvSpPr>
          <p:cNvPr id="14" name="Text 12"/>
          <p:cNvSpPr/>
          <p:nvPr/>
        </p:nvSpPr>
        <p:spPr>
          <a:xfrm>
            <a:off x="3730752" y="290779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599432" y="285292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Tooling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758184" y="36118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schemas, APIs &amp; MCP interfaces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64224" y="2651760"/>
            <a:ext cx="2697480" cy="16002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92824" y="2907792"/>
            <a:ext cx="777240" cy="777240"/>
          </a:xfrm>
          <a:prstGeom prst="ellipse">
            <a:avLst/>
          </a:prstGeom>
          <a:solidFill>
            <a:srgbClr val="0E1626"/>
          </a:solidFill>
          <a:ln/>
        </p:spPr>
      </p:sp>
      <p:sp>
        <p:nvSpPr>
          <p:cNvPr id="19" name="Text 17"/>
          <p:cNvSpPr/>
          <p:nvPr/>
        </p:nvSpPr>
        <p:spPr>
          <a:xfrm>
            <a:off x="6592824" y="290779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7461504" y="285292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620256" y="36118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Retrieval, memory &amp; context budgets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226296" y="2651760"/>
            <a:ext cx="2697480" cy="16002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454896" y="2907792"/>
            <a:ext cx="777240" cy="777240"/>
          </a:xfrm>
          <a:prstGeom prst="ellipse">
            <a:avLst/>
          </a:prstGeom>
          <a:solidFill>
            <a:srgbClr val="0E1626"/>
          </a:solidFill>
          <a:ln/>
        </p:spPr>
      </p:sp>
      <p:sp>
        <p:nvSpPr>
          <p:cNvPr id="24" name="Text 22"/>
          <p:cNvSpPr/>
          <p:nvPr/>
        </p:nvSpPr>
        <p:spPr>
          <a:xfrm>
            <a:off x="9454896" y="290779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10323576" y="285292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Lifecycle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482328" y="36118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loop &amp; orchestration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0080" y="4526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 PLANE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4892040"/>
            <a:ext cx="3639312" cy="1417320"/>
          </a:xfrm>
          <a:prstGeom prst="rect">
            <a:avLst/>
          </a:prstGeom>
          <a:solidFill>
            <a:srgbClr val="0E1626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96112" y="5276088"/>
            <a:ext cx="713232" cy="713232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30" name="Text 28"/>
          <p:cNvSpPr/>
          <p:nvPr/>
        </p:nvSpPr>
        <p:spPr>
          <a:xfrm>
            <a:off x="896112" y="527608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1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1737360" y="507492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Observability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1737360" y="5532120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Tracing, logging, cost &amp; latency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453128" y="4892040"/>
            <a:ext cx="3639312" cy="1417320"/>
          </a:xfrm>
          <a:prstGeom prst="rect">
            <a:avLst/>
          </a:prstGeom>
          <a:solidFill>
            <a:srgbClr val="0E1626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09160" y="5276088"/>
            <a:ext cx="713232" cy="713232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35" name="Text 33"/>
          <p:cNvSpPr/>
          <p:nvPr/>
        </p:nvSpPr>
        <p:spPr>
          <a:xfrm>
            <a:off x="4709160" y="527608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1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5550408" y="507492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Verification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5550408" y="5532120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Evaluation, validation gates &amp; feedback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266176" y="4892040"/>
            <a:ext cx="3639312" cy="1417320"/>
          </a:xfrm>
          <a:prstGeom prst="rect">
            <a:avLst/>
          </a:prstGeom>
          <a:solidFill>
            <a:srgbClr val="0E1626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522208" y="5276088"/>
            <a:ext cx="713232" cy="71323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8522208" y="527608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1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9363456" y="507492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Governance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9363456" y="5532120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Permissions, policy, audit &amp; human oversight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ANATOMY · STRUCTURAL CORE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the agent runs, calls, sees &amp; loops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0881360" cy="98755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002536"/>
            <a:ext cx="731520" cy="731520"/>
          </a:xfrm>
          <a:prstGeom prst="ellipse">
            <a:avLst/>
          </a:prstGeom>
          <a:solidFill>
            <a:srgbClr val="0E162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00253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783080" y="198424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Execution environment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783080" y="237744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sandboxes, VMs, and code interpreters that isolate the agent and bound side-effects.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2057400"/>
            <a:ext cx="5166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21305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355080" y="237744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Firecracker microVMs, Docker sandboxes, code-execution runtimes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971800"/>
            <a:ext cx="10881360" cy="987552"/>
          </a:xfrm>
          <a:prstGeom prst="rect">
            <a:avLst/>
          </a:prstGeom>
          <a:solidFill>
            <a:srgbClr val="EEEFFE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3099816"/>
            <a:ext cx="731520" cy="731520"/>
          </a:xfrm>
          <a:prstGeom prst="ellipse">
            <a:avLst/>
          </a:prstGeom>
          <a:solidFill>
            <a:srgbClr val="0E1626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09981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783080" y="308152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 interface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783080" y="347472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tool schemas and function contracts; standardized access via the Model Context Protocol (MCP).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72200" y="3154680"/>
            <a:ext cx="5166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32278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355080" y="347472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servers, OpenAI/Anthropic tool calling, API connectors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069080"/>
            <a:ext cx="10881360" cy="98755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Shape 20"/>
          <p:cNvSpPr/>
          <p:nvPr/>
        </p:nvSpPr>
        <p:spPr>
          <a:xfrm>
            <a:off x="868680" y="4197096"/>
            <a:ext cx="731520" cy="731520"/>
          </a:xfrm>
          <a:prstGeom prst="ellipse">
            <a:avLst/>
          </a:prstGeom>
          <a:solidFill>
            <a:srgbClr val="0E1626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419709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1783080" y="417880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management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783080" y="457200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(RAG), working &amp; long-term memory, and context-budget policies to fight context rot.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172200" y="4251960"/>
            <a:ext cx="5166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43251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355080" y="457200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stores, memory files, context compaction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5166360"/>
            <a:ext cx="10881360" cy="987552"/>
          </a:xfrm>
          <a:prstGeom prst="rect">
            <a:avLst/>
          </a:prstGeom>
          <a:solidFill>
            <a:srgbClr val="EEEFFE"/>
          </a:solidFill>
          <a:ln/>
        </p:spPr>
      </p:sp>
      <p:sp>
        <p:nvSpPr>
          <p:cNvPr id="30" name="Shape 28"/>
          <p:cNvSpPr/>
          <p:nvPr/>
        </p:nvSpPr>
        <p:spPr>
          <a:xfrm>
            <a:off x="868680" y="5294376"/>
            <a:ext cx="731520" cy="731520"/>
          </a:xfrm>
          <a:prstGeom prst="ellipse">
            <a:avLst/>
          </a:prstGeom>
          <a:solidFill>
            <a:srgbClr val="0E1626"/>
          </a:solidFill>
          <a:ln/>
        </p:spPr>
      </p:sp>
      <p:sp>
        <p:nvSpPr>
          <p:cNvPr id="31" name="Text 29"/>
          <p:cNvSpPr/>
          <p:nvPr/>
        </p:nvSpPr>
        <p:spPr>
          <a:xfrm>
            <a:off x="868680" y="529437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1783080" y="527608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Lifecycle / orchestration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1783080" y="566928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 loop: planning, sub-agent handoffs, retries, and state transitions across steps.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172200" y="5349240"/>
            <a:ext cx="5166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55080" y="54223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55080" y="566928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Plan–act–observe loops, multi-agent handoffs, retry logic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ANATOMY · CONTROL PLANE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Observability, verification &amp; governance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layers that decide whether an agent is inspectable, measurable, and safe enough to operate in production.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3520440" cy="35204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331720"/>
            <a:ext cx="3520440" cy="86868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551176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233172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Observability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14400" y="3383280"/>
            <a:ext cx="3017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every LLM call, tool invocation, retrieval step, cost, latency, and failure as a replayable trace.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60120" y="466344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tracing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&amp; cost metrics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diagnosis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416552" y="2331720"/>
            <a:ext cx="3520440" cy="35204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16552" y="2331720"/>
            <a:ext cx="3520440" cy="86868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2551176"/>
            <a:ext cx="438912" cy="4389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85232" y="233172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Verification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690872" y="3383280"/>
            <a:ext cx="3017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Evaluators and validation gates check outputs against ground truth, rubrics, and task contracts.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4736592" y="466344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eval suites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/ continuous evals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validation gates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193024" y="2331720"/>
            <a:ext cx="3520440" cy="35204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193024" y="2331720"/>
            <a:ext cx="3520440" cy="86868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2551176"/>
            <a:ext cx="438912" cy="43891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061704" y="233172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Governance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8467344" y="3383280"/>
            <a:ext cx="3017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models, budgets, identity, hardening, audit logs, and human-in-the-loop approval.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513064" y="466344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&amp; identity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budgets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+ human approval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TAXONOMY IN PRACTICE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harness types you'll deploy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2624328" cy="17830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258568"/>
            <a:ext cx="777240" cy="777240"/>
          </a:xfrm>
          <a:prstGeom prst="ellipse">
            <a:avLst/>
          </a:prstGeom>
          <a:solidFill>
            <a:srgbClr val="0E162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459736"/>
            <a:ext cx="374904" cy="3749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081528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 Harness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914400" y="3392424"/>
            <a:ext cx="2212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runs against datasets &amp; rubrics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65576" y="1965960"/>
            <a:ext cx="2624328" cy="17830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739896" y="2258568"/>
            <a:ext cx="777240" cy="777240"/>
          </a:xfrm>
          <a:prstGeom prst="ellipse">
            <a:avLst/>
          </a:prstGeom>
          <a:solidFill>
            <a:srgbClr val="0E162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064" y="2459736"/>
            <a:ext cx="374904" cy="3749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39896" y="3081528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 Harness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739896" y="3392424"/>
            <a:ext cx="2212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&amp; scenario tests for agents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91072" y="1965960"/>
            <a:ext cx="2624328" cy="17830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565392" y="2258568"/>
            <a:ext cx="777240" cy="777240"/>
          </a:xfrm>
          <a:prstGeom prst="ellipse">
            <a:avLst/>
          </a:prstGeom>
          <a:solidFill>
            <a:srgbClr val="0E162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2459736"/>
            <a:ext cx="374904" cy="37490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65392" y="3081528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Harness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565392" y="3392424"/>
            <a:ext cx="2212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reason–act–observe loop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9116568" y="1965960"/>
            <a:ext cx="2624328" cy="17830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390888" y="2258568"/>
            <a:ext cx="777240" cy="777240"/>
          </a:xfrm>
          <a:prstGeom prst="ellipse">
            <a:avLst/>
          </a:prstGeom>
          <a:solidFill>
            <a:srgbClr val="0E1626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2056" y="2459736"/>
            <a:ext cx="374904" cy="37490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90888" y="3081528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Multi-Agent Harness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390888" y="3392424"/>
            <a:ext cx="2212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handoffs &amp; shared state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40080" y="4005072"/>
            <a:ext cx="2624328" cy="17830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914400" y="4297680"/>
            <a:ext cx="777240" cy="77724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568" y="4498848"/>
            <a:ext cx="374904" cy="37490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14400" y="5120640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Retrieval / Memory Harness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914400" y="5431536"/>
            <a:ext cx="2212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short &amp; long-term memory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3465576" y="4005072"/>
            <a:ext cx="2624328" cy="17830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3739896" y="4297680"/>
            <a:ext cx="777240" cy="77724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41064" y="4498848"/>
            <a:ext cx="374904" cy="37490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739896" y="5120640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 Harness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3739896" y="5431536"/>
            <a:ext cx="2212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Serving, scaling &amp; versioning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6291072" y="4005072"/>
            <a:ext cx="2624328" cy="17830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6565392" y="4297680"/>
            <a:ext cx="777240" cy="77724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6560" y="4498848"/>
            <a:ext cx="374904" cy="374904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565392" y="5120640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Safety / Guardrail Harness</a:t>
            </a:r>
            <a:endParaRPr lang="en-US" sz="1450" dirty="0"/>
          </a:p>
        </p:txBody>
      </p:sp>
      <p:sp>
        <p:nvSpPr>
          <p:cNvPr id="39" name="Text 30"/>
          <p:cNvSpPr/>
          <p:nvPr/>
        </p:nvSpPr>
        <p:spPr>
          <a:xfrm>
            <a:off x="6565392" y="5431536"/>
            <a:ext cx="2212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Input/output filters &amp; constraints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9116568" y="4005072"/>
            <a:ext cx="2624328" cy="17830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9390888" y="4297680"/>
            <a:ext cx="777240" cy="77724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92056" y="4498848"/>
            <a:ext cx="374904" cy="374904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9390888" y="5120640"/>
            <a:ext cx="216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Governance Harness</a:t>
            </a:r>
            <a:endParaRPr lang="en-US" sz="1450" dirty="0"/>
          </a:p>
        </p:txBody>
      </p:sp>
      <p:sp>
        <p:nvSpPr>
          <p:cNvPr id="44" name="Text 34"/>
          <p:cNvSpPr/>
          <p:nvPr/>
        </p:nvSpPr>
        <p:spPr>
          <a:xfrm>
            <a:off x="9390888" y="5431536"/>
            <a:ext cx="2212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Policy, audit &amp; human approval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11292840" y="502920"/>
            <a:ext cx="822960" cy="822960"/>
          </a:xfrm>
          <a:prstGeom prst="ellipse">
            <a:avLst/>
          </a:prstGeom>
          <a:solidFill>
            <a:srgbClr val="2DD4B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18520" y="5806440"/>
            <a:ext cx="502920" cy="502920"/>
          </a:xfrm>
          <a:prstGeom prst="ellipse">
            <a:avLst/>
          </a:prstGeom>
          <a:solidFill>
            <a:srgbClr val="6366F1">
              <a:alpha val="5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5486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0" b="1" dirty="0">
                <a:solidFill>
                  <a:srgbClr val="18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1000" dirty="0"/>
          </a:p>
        </p:txBody>
      </p:sp>
      <p:sp>
        <p:nvSpPr>
          <p:cNvPr id="6" name="Shape 4"/>
          <p:cNvSpPr/>
          <p:nvPr/>
        </p:nvSpPr>
        <p:spPr>
          <a:xfrm>
            <a:off x="8869680" y="2286000"/>
            <a:ext cx="2286000" cy="2286000"/>
          </a:xfrm>
          <a:prstGeom prst="ellipse">
            <a:avLst/>
          </a:prstGeom>
          <a:solidFill>
            <a:srgbClr val="18233B"/>
          </a:solidFill>
          <a:ln w="25400">
            <a:solidFill>
              <a:srgbClr val="2DD4B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8048" y="2944368"/>
            <a:ext cx="969264" cy="9692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02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46177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Framework Landscape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822960" y="5532120"/>
            <a:ext cx="9326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open-source and commercial ecosystem, mapped to harness layers.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FRAMEWORKS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&amp; orchestration frameworks</a:t>
            </a:r>
            <a:endParaRPr lang="en-US" sz="3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356616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Harness strength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 / LangGraph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+ graph orchestration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Lifecycle, tooling, stateful graphs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CrewAI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Multi-agent roles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Role/team orchestration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AutoGen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Conversational multi-agent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loops &amp; handoffs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Kernel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SDK (MS)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Planners, plugins, .NET/Python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LlamaIndex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/ RAG framework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&amp; retrieval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Declarative optimization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Prompt/pipeline compilation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Agents SDK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runtime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Tooling &amp; handoffs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engines — Temporal, Prefect, Dagster, Airflow, and Argo Workflows — provide the durable, retryable execution substrate many production agent lifecycles run on.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FRAMEWORKS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 &amp; observability stack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and observability layers turn agent runs into measurable, debuggable systems.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3520440" cy="36118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286000"/>
            <a:ext cx="3520440" cy="64008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2860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60120" y="3154680"/>
            <a:ext cx="2971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Braintrust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DeepEval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Promptfoo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Evals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TruLens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416552" y="2286000"/>
            <a:ext cx="3520440" cy="36118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16552" y="2286000"/>
            <a:ext cx="3520440" cy="6400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4645152" y="22860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Observability &amp; tracing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736592" y="3154680"/>
            <a:ext cx="2971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Arize Phoenix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Helicone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&amp; Biases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WhyLabs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Evidently AI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93024" y="2286000"/>
            <a:ext cx="3520440" cy="36118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93024" y="2286000"/>
            <a:ext cx="352044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8421624" y="22860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&amp; experiment mgmt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513064" y="3154680"/>
            <a:ext cx="2971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PromptLayer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Humanloop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Promptfoo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FRAMEWORKS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 platforms &amp; guardrails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349240" cy="39319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74520"/>
            <a:ext cx="5349240" cy="6858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74520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 &amp; serving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2788920"/>
            <a:ext cx="47091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Mosaic AI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Bedrock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Vertex AI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Foundry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 Serve · BentoML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KServe · MLflow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Harness.io (CD/GitOps)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2200" y="1874520"/>
            <a:ext cx="5349240" cy="39319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72200" y="1874520"/>
            <a:ext cx="5349240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874520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Guardrails &amp; security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37960" y="2788920"/>
            <a:ext cx="47091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NeMo Guardrails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AI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Lakera (prompt-injection)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AI (ML security)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AEGIS-style tool firewalls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59436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Harness.io is a CI/CD &amp; software-delivery platform — distinct from the agent-“harness” concept, though increasingly used to ship AI workloads.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11292840" y="502920"/>
            <a:ext cx="822960" cy="822960"/>
          </a:xfrm>
          <a:prstGeom prst="ellipse">
            <a:avLst/>
          </a:prstGeom>
          <a:solidFill>
            <a:srgbClr val="2DD4B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18520" y="5806440"/>
            <a:ext cx="502920" cy="502920"/>
          </a:xfrm>
          <a:prstGeom prst="ellipse">
            <a:avLst/>
          </a:prstGeom>
          <a:solidFill>
            <a:srgbClr val="6366F1">
              <a:alpha val="5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5486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0" b="1" dirty="0">
                <a:solidFill>
                  <a:srgbClr val="18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1000" dirty="0"/>
          </a:p>
        </p:txBody>
      </p:sp>
      <p:sp>
        <p:nvSpPr>
          <p:cNvPr id="6" name="Shape 4"/>
          <p:cNvSpPr/>
          <p:nvPr/>
        </p:nvSpPr>
        <p:spPr>
          <a:xfrm>
            <a:off x="8869680" y="2286000"/>
            <a:ext cx="2286000" cy="2286000"/>
          </a:xfrm>
          <a:prstGeom prst="ellipse">
            <a:avLst/>
          </a:prstGeom>
          <a:solidFill>
            <a:srgbClr val="18233B"/>
          </a:solidFill>
          <a:ln w="25400">
            <a:solidFill>
              <a:srgbClr val="2DD4B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8048" y="2944368"/>
            <a:ext cx="969264" cy="9692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03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46177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Harness Optimization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822960" y="5532120"/>
            <a:ext cx="9326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Meta-harnesses and automated harness synthesis — the 2026 frontier.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HARNESS OPTIMIZATION · DATABRICKS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Omnigent — the meta-harness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Databricks' open-source (Apache 2.0) meta-harness sits one level above coding agents, treating each harness as an interchangeable part of a larger system.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2377440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2860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interface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262432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API wraps Claude Code, Codex, Cursor, Pi &amp; SDKs (plus LangGraph, CrewAI, Agno).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3273552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273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318211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Swap in one line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352044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an agent in a short YAML file; change harness or model without rewriting tools or prompts.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4169664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169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407822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Policies &amp; sandboxing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4416552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Budgets, approval gates, and secure sandboxes keep agents in check.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5065776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50657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80160" y="497433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collaboration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80160" y="5312664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a live agent session by URL; teammates review, comment &amp; steer together.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83680" y="2286000"/>
            <a:ext cx="4937760" cy="3657600"/>
          </a:xfrm>
          <a:prstGeom prst="rect">
            <a:avLst/>
          </a:prstGeom>
          <a:solidFill>
            <a:srgbClr val="0E1626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2395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Omnigent sits above the harnesses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858000" y="2834640"/>
            <a:ext cx="4389120" cy="6858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0" y="283464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OMNIGENT  ·  meta-harness (compose · govern · share)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03720" y="3794760"/>
            <a:ext cx="822960" cy="640080"/>
          </a:xfrm>
          <a:prstGeom prst="rect">
            <a:avLst/>
          </a:prstGeom>
          <a:solidFill>
            <a:srgbClr val="223052"/>
          </a:solidFill>
          <a:ln w="9525">
            <a:solidFill>
              <a:srgbClr val="818C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0" y="37947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790688" y="3794760"/>
            <a:ext cx="822960" cy="640080"/>
          </a:xfrm>
          <a:prstGeom prst="rect">
            <a:avLst/>
          </a:prstGeom>
          <a:solidFill>
            <a:srgbClr val="223052"/>
          </a:solidFill>
          <a:ln w="9525">
            <a:solidFill>
              <a:srgbClr val="818C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44968" y="37947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677656" y="3794760"/>
            <a:ext cx="822960" cy="640080"/>
          </a:xfrm>
          <a:prstGeom prst="rect">
            <a:avLst/>
          </a:prstGeom>
          <a:solidFill>
            <a:srgbClr val="223052"/>
          </a:solidFill>
          <a:ln w="9525">
            <a:solidFill>
              <a:srgbClr val="818C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31936" y="37947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564624" y="3794760"/>
            <a:ext cx="822960" cy="640080"/>
          </a:xfrm>
          <a:prstGeom prst="rect">
            <a:avLst/>
          </a:prstGeom>
          <a:solidFill>
            <a:srgbClr val="223052"/>
          </a:solidFill>
          <a:ln w="9525">
            <a:solidFill>
              <a:srgbClr val="818C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18904" y="37947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0451592" y="3794760"/>
            <a:ext cx="822960" cy="640080"/>
          </a:xfrm>
          <a:prstGeom prst="rect">
            <a:avLst/>
          </a:prstGeom>
          <a:solidFill>
            <a:srgbClr val="223052"/>
          </a:solidFill>
          <a:ln w="9525">
            <a:solidFill>
              <a:srgbClr val="818CF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405872" y="37947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/ SDK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858000" y="4709160"/>
            <a:ext cx="4389120" cy="594360"/>
          </a:xfrm>
          <a:prstGeom prst="rect">
            <a:avLst/>
          </a:prstGeom>
          <a:solidFill>
            <a:srgbClr val="18233B"/>
          </a:solidFill>
          <a:ln/>
        </p:spPr>
      </p:sp>
      <p:sp>
        <p:nvSpPr>
          <p:cNvPr id="37" name="Text 35"/>
          <p:cNvSpPr/>
          <p:nvPr/>
        </p:nvSpPr>
        <p:spPr>
          <a:xfrm>
            <a:off x="6858000" y="470916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models (via AI Gateway)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58000" y="54406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on Databricks: Unity AI Gateway governance + sandboxes. It is the runtime engine behind Agent Bricks.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HARNESS OPTIMIZATION · RESEARCH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Automating the harness itself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harness drives reliability, the next step is to optimize or synthesize it automatically — three complementary 2026 approaches: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3520440" cy="35204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624328"/>
            <a:ext cx="777240" cy="77724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816352"/>
            <a:ext cx="393192" cy="3931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26060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Meta-Harness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828800" y="304495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Lee et al., 2026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32688" y="3566160"/>
            <a:ext cx="297180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harness design as an end-to-end optimization problem over model-facing infrastructure — a repeatable loop that proposes, validates, and scores improvements to prompts, tools &amp; policies.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416552" y="2331720"/>
            <a:ext cx="3520440" cy="35204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90872" y="2624328"/>
            <a:ext cx="777240" cy="77724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896" y="2816352"/>
            <a:ext cx="393192" cy="39319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605272" y="26060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AutoHarness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5605272" y="304495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Lou et al. (DeepMind), 2026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709160" y="3566160"/>
            <a:ext cx="297180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code synthesis to auto-generate runtime constraint harnesses from tool schemas. Gemini-2.5-Flash + AutoHarness eliminated all illegal moves and beat larger models — more capably and cheaply.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193024" y="2331720"/>
            <a:ext cx="3520440" cy="35204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467344" y="2624328"/>
            <a:ext cx="777240" cy="77724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368" y="2816352"/>
            <a:ext cx="393192" cy="39319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381744" y="26060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Natural-Language Harnesses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9381744" y="304495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NLAH + IHR, 2026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8485632" y="3566160"/>
            <a:ext cx="297180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harness control logic as editable natural-language documents, run by an Intelligent Harness Runtime. Domain experts can tune agent orchestration without touching backend code.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11292840" y="502920"/>
            <a:ext cx="822960" cy="822960"/>
          </a:xfrm>
          <a:prstGeom prst="ellipse">
            <a:avLst/>
          </a:prstGeom>
          <a:solidFill>
            <a:srgbClr val="2DD4B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18520" y="5806440"/>
            <a:ext cx="502920" cy="502920"/>
          </a:xfrm>
          <a:prstGeom prst="ellipse">
            <a:avLst/>
          </a:prstGeom>
          <a:solidFill>
            <a:srgbClr val="6366F1">
              <a:alpha val="5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5486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0" b="1" dirty="0">
                <a:solidFill>
                  <a:srgbClr val="18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1000" dirty="0"/>
          </a:p>
        </p:txBody>
      </p:sp>
      <p:sp>
        <p:nvSpPr>
          <p:cNvPr id="6" name="Shape 4"/>
          <p:cNvSpPr/>
          <p:nvPr/>
        </p:nvSpPr>
        <p:spPr>
          <a:xfrm>
            <a:off x="8869680" y="2286000"/>
            <a:ext cx="2286000" cy="2286000"/>
          </a:xfrm>
          <a:prstGeom prst="ellipse">
            <a:avLst/>
          </a:prstGeom>
          <a:solidFill>
            <a:srgbClr val="18233B"/>
          </a:solidFill>
          <a:ln w="25400">
            <a:solidFill>
              <a:srgbClr val="2DD4B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8048" y="2944368"/>
            <a:ext cx="969264" cy="9692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04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46177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 AI Operations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822960" y="5532120"/>
            <a:ext cx="9326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Shipping, releasing, and operating agents with confidence.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MLOps to LLMOps to AgentOps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429000" cy="32004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011680"/>
            <a:ext cx="3429000" cy="10972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33172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MLOps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60120" y="306324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Train, version, and deploy models. Data &amp; feature pipelines, model registry, monitoring for drift.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60120" y="4526280"/>
            <a:ext cx="27889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45262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 of concern: Models as artifacts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096512" y="3355848"/>
            <a:ext cx="512064" cy="512064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5384" y="3483864"/>
            <a:ext cx="274320" cy="27432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526280" y="2011680"/>
            <a:ext cx="3429000" cy="32004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26280" y="2011680"/>
            <a:ext cx="3429000" cy="109728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5" name="Text 12"/>
          <p:cNvSpPr/>
          <p:nvPr/>
        </p:nvSpPr>
        <p:spPr>
          <a:xfrm>
            <a:off x="4846320" y="233172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LLMOps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4846320" y="306324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prompts, RAG, evals, and inference cost/latency for foundation-model apps.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4846320" y="4526280"/>
            <a:ext cx="27889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4937760" y="45262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 of concern: Prompts + context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982712" y="3355848"/>
            <a:ext cx="512064" cy="512064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1584" y="3483864"/>
            <a:ext cx="274320" cy="27432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8412480" y="2011680"/>
            <a:ext cx="3429000" cy="3200400"/>
          </a:xfrm>
          <a:prstGeom prst="rect">
            <a:avLst/>
          </a:prstGeom>
          <a:solidFill>
            <a:srgbClr val="0E1626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412480" y="2011680"/>
            <a:ext cx="3429000" cy="10972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3" name="Text 19"/>
          <p:cNvSpPr/>
          <p:nvPr/>
        </p:nvSpPr>
        <p:spPr>
          <a:xfrm>
            <a:off x="8732520" y="233172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AgentOps</a:t>
            </a:r>
            <a:endParaRPr lang="en-US" sz="2400" dirty="0"/>
          </a:p>
        </p:txBody>
      </p:sp>
      <p:sp>
        <p:nvSpPr>
          <p:cNvPr id="24" name="Text 20"/>
          <p:cNvSpPr/>
          <p:nvPr/>
        </p:nvSpPr>
        <p:spPr>
          <a:xfrm>
            <a:off x="8732520" y="306324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autonomous multi-step agents: trace loops, gate on evals, enforce policy &amp; budgets, human approval.</a:t>
            </a:r>
            <a:endParaRPr lang="en-US" sz="1350" dirty="0"/>
          </a:p>
        </p:txBody>
      </p:sp>
      <p:sp>
        <p:nvSpPr>
          <p:cNvPr id="25" name="Shape 21"/>
          <p:cNvSpPr/>
          <p:nvPr/>
        </p:nvSpPr>
        <p:spPr>
          <a:xfrm>
            <a:off x="8732520" y="4526280"/>
            <a:ext cx="2788920" cy="457200"/>
          </a:xfrm>
          <a:prstGeom prst="rect">
            <a:avLst/>
          </a:prstGeom>
          <a:solidFill>
            <a:srgbClr val="18233B"/>
          </a:solidFill>
          <a:ln/>
        </p:spPr>
      </p:sp>
      <p:sp>
        <p:nvSpPr>
          <p:cNvPr id="26" name="Text 22"/>
          <p:cNvSpPr/>
          <p:nvPr/>
        </p:nvSpPr>
        <p:spPr>
          <a:xfrm>
            <a:off x="8823960" y="45262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 of concern: Whole harness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AgentOps keeps everything from ML/LLMOps and adds trace-level operability, continuous evaluation, and governance for autonomous behavior.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CI/CD &amp; progressive release for agents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956816" cy="1828800"/>
          </a:xfrm>
          <a:prstGeom prst="rect">
            <a:avLst/>
          </a:prstGeom>
          <a:solidFill>
            <a:srgbClr val="0E1626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71016" y="2267712"/>
            <a:ext cx="694944" cy="694944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6464" y="242316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017520"/>
            <a:ext cx="1956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" y="336499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Prompts, tools, harness as code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606040" y="2779776"/>
            <a:ext cx="292608" cy="29260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Shape 8"/>
          <p:cNvSpPr/>
          <p:nvPr/>
        </p:nvSpPr>
        <p:spPr>
          <a:xfrm>
            <a:off x="2852928" y="2011680"/>
            <a:ext cx="1956816" cy="1828800"/>
          </a:xfrm>
          <a:prstGeom prst="rect">
            <a:avLst/>
          </a:prstGeom>
          <a:solidFill>
            <a:srgbClr val="0E1626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83864" y="2267712"/>
            <a:ext cx="694944" cy="694944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312" y="2423160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852928" y="3017520"/>
            <a:ext cx="1956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 Gate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2962656" y="336499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suites + regression tests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818888" y="2779776"/>
            <a:ext cx="292608" cy="29260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Shape 13"/>
          <p:cNvSpPr/>
          <p:nvPr/>
        </p:nvSpPr>
        <p:spPr>
          <a:xfrm>
            <a:off x="5065776" y="2011680"/>
            <a:ext cx="1956816" cy="1828800"/>
          </a:xfrm>
          <a:prstGeom prst="rect">
            <a:avLst/>
          </a:prstGeom>
          <a:solidFill>
            <a:srgbClr val="0E1626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696712" y="2267712"/>
            <a:ext cx="694944" cy="694944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2423160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065776" y="3017520"/>
            <a:ext cx="1956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5175504" y="336499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/ canary on live traffic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7031736" y="2779776"/>
            <a:ext cx="292608" cy="29260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3" name="Shape 18"/>
          <p:cNvSpPr/>
          <p:nvPr/>
        </p:nvSpPr>
        <p:spPr>
          <a:xfrm>
            <a:off x="7278624" y="2011680"/>
            <a:ext cx="1956816" cy="1828800"/>
          </a:xfrm>
          <a:prstGeom prst="rect">
            <a:avLst/>
          </a:prstGeom>
          <a:solidFill>
            <a:srgbClr val="0E1626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909560" y="2267712"/>
            <a:ext cx="694944" cy="694944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008" y="2423160"/>
            <a:ext cx="384048" cy="38404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278624" y="3017520"/>
            <a:ext cx="1956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Approve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7388352" y="336499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sign-off + policy checks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9244584" y="2779776"/>
            <a:ext cx="292608" cy="29260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9" name="Shape 23"/>
          <p:cNvSpPr/>
          <p:nvPr/>
        </p:nvSpPr>
        <p:spPr>
          <a:xfrm>
            <a:off x="9491472" y="2011680"/>
            <a:ext cx="1956816" cy="1828800"/>
          </a:xfrm>
          <a:prstGeom prst="rect">
            <a:avLst/>
          </a:prstGeom>
          <a:solidFill>
            <a:srgbClr val="0E1626"/>
          </a:solidFill>
          <a:ln/>
          <a:effectLst>
            <a:outerShdw sx="100000" sy="100000" kx="0" ky="0" algn="bl" rotWithShape="0" blurRad="114300" dist="38100" dir="5400000">
              <a:srgbClr val="0B1220">
                <a:alpha val="1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10122408" y="2267712"/>
            <a:ext cx="694944" cy="694944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77856" y="2423160"/>
            <a:ext cx="384048" cy="38404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491472" y="3017520"/>
            <a:ext cx="1956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Release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9601200" y="336499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Blue-green / progressive rollout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640080" y="4160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Release strategies</a:t>
            </a:r>
            <a:endParaRPr lang="en-US" sz="1500" dirty="0"/>
          </a:p>
        </p:txBody>
      </p:sp>
      <p:sp>
        <p:nvSpPr>
          <p:cNvPr id="35" name="Shape 28"/>
          <p:cNvSpPr/>
          <p:nvPr/>
        </p:nvSpPr>
        <p:spPr>
          <a:xfrm>
            <a:off x="640080" y="4572000"/>
            <a:ext cx="2624328" cy="13258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6" name="Shape 29"/>
          <p:cNvSpPr/>
          <p:nvPr/>
        </p:nvSpPr>
        <p:spPr>
          <a:xfrm>
            <a:off x="640080" y="4572000"/>
            <a:ext cx="91440" cy="13258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7" name="Text 30"/>
          <p:cNvSpPr/>
          <p:nvPr/>
        </p:nvSpPr>
        <p:spPr>
          <a:xfrm>
            <a:off x="868680" y="4681728"/>
            <a:ext cx="2258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Canary</a:t>
            </a:r>
            <a:endParaRPr lang="en-US" sz="1400" dirty="0"/>
          </a:p>
        </p:txBody>
      </p:sp>
      <p:sp>
        <p:nvSpPr>
          <p:cNvPr id="38" name="Text 31"/>
          <p:cNvSpPr/>
          <p:nvPr/>
        </p:nvSpPr>
        <p:spPr>
          <a:xfrm>
            <a:off x="868680" y="5029200"/>
            <a:ext cx="22128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small % of traffic to the new agent; watch metrics before scaling.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3465576" y="4572000"/>
            <a:ext cx="2624328" cy="13258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0" name="Shape 33"/>
          <p:cNvSpPr/>
          <p:nvPr/>
        </p:nvSpPr>
        <p:spPr>
          <a:xfrm>
            <a:off x="3465576" y="4572000"/>
            <a:ext cx="91440" cy="13258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1" name="Text 34"/>
          <p:cNvSpPr/>
          <p:nvPr/>
        </p:nvSpPr>
        <p:spPr>
          <a:xfrm>
            <a:off x="3694176" y="4681728"/>
            <a:ext cx="2258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Blue-Green</a:t>
            </a:r>
            <a:endParaRPr lang="en-US" sz="1400" dirty="0"/>
          </a:p>
        </p:txBody>
      </p:sp>
      <p:sp>
        <p:nvSpPr>
          <p:cNvPr id="42" name="Text 35"/>
          <p:cNvSpPr/>
          <p:nvPr/>
        </p:nvSpPr>
        <p:spPr>
          <a:xfrm>
            <a:off x="3694176" y="5029200"/>
            <a:ext cx="22128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old &amp; new side by side; switch and roll back instantly.</a:t>
            </a:r>
            <a:endParaRPr lang="en-US" sz="1100" dirty="0"/>
          </a:p>
        </p:txBody>
      </p:sp>
      <p:sp>
        <p:nvSpPr>
          <p:cNvPr id="43" name="Shape 36"/>
          <p:cNvSpPr/>
          <p:nvPr/>
        </p:nvSpPr>
        <p:spPr>
          <a:xfrm>
            <a:off x="6291072" y="4572000"/>
            <a:ext cx="2624328" cy="13258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4" name="Shape 37"/>
          <p:cNvSpPr/>
          <p:nvPr/>
        </p:nvSpPr>
        <p:spPr>
          <a:xfrm>
            <a:off x="6291072" y="4572000"/>
            <a:ext cx="91440" cy="13258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5" name="Text 38"/>
          <p:cNvSpPr/>
          <p:nvPr/>
        </p:nvSpPr>
        <p:spPr>
          <a:xfrm>
            <a:off x="6519672" y="4681728"/>
            <a:ext cx="2258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Shadow</a:t>
            </a:r>
            <a:endParaRPr lang="en-US" sz="1400" dirty="0"/>
          </a:p>
        </p:txBody>
      </p:sp>
      <p:sp>
        <p:nvSpPr>
          <p:cNvPr id="46" name="Text 39"/>
          <p:cNvSpPr/>
          <p:nvPr/>
        </p:nvSpPr>
        <p:spPr>
          <a:xfrm>
            <a:off x="6519672" y="5029200"/>
            <a:ext cx="22128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real traffic to the new agent without serving its output.</a:t>
            </a:r>
            <a:endParaRPr lang="en-US" sz="1100" dirty="0"/>
          </a:p>
        </p:txBody>
      </p:sp>
      <p:sp>
        <p:nvSpPr>
          <p:cNvPr id="47" name="Shape 40"/>
          <p:cNvSpPr/>
          <p:nvPr/>
        </p:nvSpPr>
        <p:spPr>
          <a:xfrm>
            <a:off x="9116568" y="4572000"/>
            <a:ext cx="2624328" cy="13258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8" name="Shape 41"/>
          <p:cNvSpPr/>
          <p:nvPr/>
        </p:nvSpPr>
        <p:spPr>
          <a:xfrm>
            <a:off x="9116568" y="4572000"/>
            <a:ext cx="91440" cy="13258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9" name="Text 42"/>
          <p:cNvSpPr/>
          <p:nvPr/>
        </p:nvSpPr>
        <p:spPr>
          <a:xfrm>
            <a:off x="9345168" y="4681728"/>
            <a:ext cx="2258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A/B Testing</a:t>
            </a:r>
            <a:endParaRPr lang="en-US" sz="1400" dirty="0"/>
          </a:p>
        </p:txBody>
      </p:sp>
      <p:sp>
        <p:nvSpPr>
          <p:cNvPr id="50" name="Text 43"/>
          <p:cNvSpPr/>
          <p:nvPr/>
        </p:nvSpPr>
        <p:spPr>
          <a:xfrm>
            <a:off x="9345168" y="5029200"/>
            <a:ext cx="22128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users to compare quality, cost &amp; satisfaction.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Operating agents: observe, evaluate, respond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349240" cy="18745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423160"/>
            <a:ext cx="914400" cy="914400"/>
          </a:xfrm>
          <a:prstGeom prst="ellipse">
            <a:avLst/>
          </a:prstGeom>
          <a:solidFill>
            <a:srgbClr val="0E162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6517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03120" y="231343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Trace everything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103120" y="2834640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the full run — prompts, tool calls, retrievals, tokens, latency — as replayable traces.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72200" y="1965960"/>
            <a:ext cx="5349240" cy="18745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0" y="2423160"/>
            <a:ext cx="914400" cy="914400"/>
          </a:xfrm>
          <a:prstGeom prst="ellipse">
            <a:avLst/>
          </a:prstGeom>
          <a:solidFill>
            <a:srgbClr val="0E162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65176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35240" y="231343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Continuous evaluation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635240" y="2834640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live traffic against rubrics &amp; regression sets; alert on quality regressions, not just errors.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" y="4096512"/>
            <a:ext cx="5349240" cy="18745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60120" y="4553712"/>
            <a:ext cx="914400" cy="914400"/>
          </a:xfrm>
          <a:prstGeom prst="ellipse">
            <a:avLst/>
          </a:prstGeom>
          <a:solidFill>
            <a:srgbClr val="0E162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82312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103120" y="4443984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 &amp; latency SLOs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2103120" y="4965192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tokens and set service-level objectives; throttle or downgrade models under pressure.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172200" y="4096512"/>
            <a:ext cx="5349240" cy="18745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92240" y="4553712"/>
            <a:ext cx="914400" cy="914400"/>
          </a:xfrm>
          <a:prstGeom prst="ellipse">
            <a:avLst/>
          </a:prstGeom>
          <a:solidFill>
            <a:srgbClr val="0E1626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4782312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635240" y="4443984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Incident response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7635240" y="4965192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failing traces, roll back the harness version, and add the case to the regression suite.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11292840" y="502920"/>
            <a:ext cx="822960" cy="822960"/>
          </a:xfrm>
          <a:prstGeom prst="ellipse">
            <a:avLst/>
          </a:prstGeom>
          <a:solidFill>
            <a:srgbClr val="2DD4B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18520" y="5806440"/>
            <a:ext cx="502920" cy="502920"/>
          </a:xfrm>
          <a:prstGeom prst="ellipse">
            <a:avLst/>
          </a:prstGeom>
          <a:solidFill>
            <a:srgbClr val="6366F1">
              <a:alpha val="5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5486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0" b="1" dirty="0">
                <a:solidFill>
                  <a:srgbClr val="18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1000" dirty="0"/>
          </a:p>
        </p:txBody>
      </p:sp>
      <p:sp>
        <p:nvSpPr>
          <p:cNvPr id="6" name="Shape 4"/>
          <p:cNvSpPr/>
          <p:nvPr/>
        </p:nvSpPr>
        <p:spPr>
          <a:xfrm>
            <a:off x="8869680" y="2286000"/>
            <a:ext cx="2286000" cy="2286000"/>
          </a:xfrm>
          <a:prstGeom prst="ellipse">
            <a:avLst/>
          </a:prstGeom>
          <a:solidFill>
            <a:srgbClr val="18233B"/>
          </a:solidFill>
          <a:ln w="25400">
            <a:solidFill>
              <a:srgbClr val="2DD4B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8048" y="2944368"/>
            <a:ext cx="969264" cy="9692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05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46177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Adoption, Value &amp; Roadmap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822960" y="5532120"/>
            <a:ext cx="9326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enterprises invest — and how to start.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ENTERPRISE VALUE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organizations adopt harness engineering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20440" cy="18745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212848"/>
            <a:ext cx="713232" cy="713232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2386584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194560"/>
            <a:ext cx="2240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32688" y="301752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models/harnesses without rewrites; reuse tooling &amp; context across agents.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16552" y="1920240"/>
            <a:ext cx="3520440" cy="18745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90872" y="2212848"/>
            <a:ext cx="713232" cy="713232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2386584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59552" y="2194560"/>
            <a:ext cx="2240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QA &amp; Eval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709160" y="301752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suites and eval gates make agent quality measurable and repeatable.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193024" y="1920240"/>
            <a:ext cx="3520440" cy="18745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67344" y="2212848"/>
            <a:ext cx="713232" cy="713232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2386584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336024" y="2194560"/>
            <a:ext cx="2240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Operations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485632" y="301752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Traces, SLOs, and rollback turn opaque agents into operable services.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40080" y="4050792"/>
            <a:ext cx="3520440" cy="18745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14400" y="4343400"/>
            <a:ext cx="713232" cy="713232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" y="4517136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783080" y="4325112"/>
            <a:ext cx="2240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&amp; Risk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32688" y="5148072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Permissions, sandboxes, and audit satisfy governance and compliance review.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4416552" y="4050792"/>
            <a:ext cx="3520440" cy="18745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690872" y="4343400"/>
            <a:ext cx="713232" cy="713232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4517136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559552" y="4325112"/>
            <a:ext cx="2240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&amp; Clients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4709160" y="5148072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safer releases and fewer hallucinations build trust and protect ROI.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8193024" y="4050792"/>
            <a:ext cx="3520440" cy="18745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467344" y="4343400"/>
            <a:ext cx="713232" cy="713232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1080" y="4517136"/>
            <a:ext cx="365760" cy="3657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336024" y="4325112"/>
            <a:ext cx="2240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Leadership</a:t>
            </a:r>
            <a:endParaRPr lang="en-US" sz="1600" dirty="0"/>
          </a:p>
        </p:txBody>
      </p:sp>
      <p:sp>
        <p:nvSpPr>
          <p:cNvPr id="34" name="Text 26"/>
          <p:cNvSpPr/>
          <p:nvPr/>
        </p:nvSpPr>
        <p:spPr>
          <a:xfrm>
            <a:off x="8485632" y="5148072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portable platform reduces lock-in and scales AI across many use cases.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 SUPPORT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Framework × harness-layer coverage</a:t>
            </a:r>
            <a:endParaRPr lang="en-US" sz="3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8813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52144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 →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Lifecycle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CrewAI / AutoGen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LangSmith / Braintrust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Bedrock / Vertex / Mosaic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Omnigent (meta-harness)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NeMo / Guardrails 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7150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   </a:t>
            </a:r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 </a:t>
            </a:r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   </a:t>
            </a:r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</a:t>
            </a:r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/ out of scope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608076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Illustrative, not exhaustive — tool capabilities evolve quickly; validate against current docs.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 PRACTICES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this — not that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349240" cy="3977640"/>
          </a:xfrm>
          <a:prstGeom prst="rect">
            <a:avLst/>
          </a:prstGeom>
          <a:solidFill>
            <a:srgbClr val="E6FAF6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74520"/>
            <a:ext cx="5349240" cy="6400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745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4846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✓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the harness as code — version prompts, tools &amp; policies together.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✓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the harness with every eval; capture full traces.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✓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releases on evals; ship progressively (canary/shadow).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✓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context &amp; tokens; design for cost–quality–speed trade-offs.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✓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least-privilege tools, sandboxes, and human approval on risky actions.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874520"/>
            <a:ext cx="5349240" cy="39776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72200" y="1874520"/>
            <a:ext cx="534924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8745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Avoid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46520" y="2697480"/>
            <a:ext cx="4846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✗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Chasing bigger models to fix reliability the harness should handle.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✗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agents on model scores alone (scores are harness-dependent).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✗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without validation gates, rollback, or audit trails.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✗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Hard-coding orchestration so it can't be inspected, transferred, or ablated.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✗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tool access with no budgets, permissions, or oversight.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 ARCHITECTURE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 enterprise agent platform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0881360" cy="960120"/>
          </a:xfrm>
          <a:prstGeom prst="rect">
            <a:avLst/>
          </a:prstGeom>
          <a:solidFill>
            <a:srgbClr val="223052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01168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Interfaces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852160" y="1920240"/>
            <a:ext cx="5394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· IDE · API · workflow triggers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10881360" cy="960120"/>
          </a:xfrm>
          <a:prstGeom prst="rect">
            <a:avLst/>
          </a:prstGeom>
          <a:solidFill>
            <a:srgbClr val="6366F1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310896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Orchestration (meta-harness)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852160" y="3017520"/>
            <a:ext cx="5394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Omnigent-style layer · compose &amp; swap harnesses · multi-agent handoffs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114800"/>
            <a:ext cx="10881360" cy="960120"/>
          </a:xfrm>
          <a:prstGeom prst="rect">
            <a:avLst/>
          </a:prstGeom>
          <a:solidFill>
            <a:srgbClr val="14B8A6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05840" y="420624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Harness core · E T C L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852160" y="4114800"/>
            <a:ext cx="5394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Sandboxed execution · MCP tools · RAG + memory · agent loop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5212080"/>
            <a:ext cx="10881360" cy="960120"/>
          </a:xfrm>
          <a:prstGeom prst="rect">
            <a:avLst/>
          </a:prstGeom>
          <a:solidFill>
            <a:srgbClr val="0E1626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05840" y="530352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 plane · O V G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852160" y="5212080"/>
            <a:ext cx="5394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&amp; evals · guardrails · Unity/AI-gateway governance · audit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1920240"/>
            <a:ext cx="109728" cy="4251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models &amp; secrets stay in your cloud; the platform stays portable and governed end-to-end.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OUTLOOK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harness engineering is heading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349240" cy="18745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468880"/>
            <a:ext cx="868680" cy="86868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2670048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57400" y="233172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Self-optimizing harnesses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057400" y="2862072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Meta-harnesses and AutoHarness-style synthesis tune scaffolding automatically from traces.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72200" y="1965960"/>
            <a:ext cx="5349240" cy="18745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0" y="2468880"/>
            <a:ext cx="868680" cy="86868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2670048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89520" y="233172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Natural-language control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589520" y="2862072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NL harness documents let domain experts steer agents without code.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" y="4096512"/>
            <a:ext cx="5349240" cy="18745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60120" y="4599432"/>
            <a:ext cx="868680" cy="86868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88" y="480060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057400" y="4462272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Standard interfaces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2057400" y="4992624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MCP, A2A, and common harness APIs make agents and harnesses interchangeable.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172200" y="4096512"/>
            <a:ext cx="5349240" cy="18745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5400000">
              <a:srgbClr val="1E293B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92240" y="4599432"/>
            <a:ext cx="868680" cy="86868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480060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589520" y="4462272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factories &amp; platforms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7589520" y="4992624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Fleets of governed agents managed as a portfolio on shared enterprise platforms.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11292840" y="502920"/>
            <a:ext cx="822960" cy="822960"/>
          </a:xfrm>
          <a:prstGeom prst="ellipse">
            <a:avLst/>
          </a:prstGeom>
          <a:solidFill>
            <a:srgbClr val="2DD4B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18520" y="5806440"/>
            <a:ext cx="502920" cy="502920"/>
          </a:xfrm>
          <a:prstGeom prst="ellipse">
            <a:avLst/>
          </a:prstGeom>
          <a:solidFill>
            <a:srgbClr val="6366F1">
              <a:alpha val="5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594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0058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harness is the product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822960" y="2148840"/>
            <a:ext cx="6492240" cy="932688"/>
          </a:xfrm>
          <a:prstGeom prst="rect">
            <a:avLst/>
          </a:prstGeom>
          <a:solidFill>
            <a:srgbClr val="18233B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148840"/>
            <a:ext cx="91440" cy="93268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148840"/>
            <a:ext cx="10058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011680" y="2276856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Reliability lives in the harness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011680" y="2651760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model, different harness = very different results. Engineer the whole runtime.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3227832"/>
            <a:ext cx="6492240" cy="932688"/>
          </a:xfrm>
          <a:prstGeom prst="rect">
            <a:avLst/>
          </a:prstGeom>
          <a:solidFill>
            <a:srgbClr val="18233B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3227832"/>
            <a:ext cx="91440" cy="93268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227832"/>
            <a:ext cx="10058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011680" y="3355848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ETCLOVG as your checklist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011680" y="3730752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execution, tools, context, lifecycle, observability, verification &amp; governance.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" y="4306824"/>
            <a:ext cx="6492240" cy="932688"/>
          </a:xfrm>
          <a:prstGeom prst="rect">
            <a:avLst/>
          </a:prstGeom>
          <a:solidFill>
            <a:srgbClr val="18233B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4306824"/>
            <a:ext cx="91440" cy="93268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4306824"/>
            <a:ext cx="10058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2011680" y="443484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Adopt a meta-harness early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011680" y="4809744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Omnigent-style layers let you compose, govern &amp; swap agents without rewrites.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543800" y="2148840"/>
            <a:ext cx="3794760" cy="3255264"/>
          </a:xfrm>
          <a:prstGeom prst="rect">
            <a:avLst/>
          </a:prstGeom>
          <a:solidFill>
            <a:srgbClr val="18233B"/>
          </a:solidFill>
          <a:ln/>
        </p:spPr>
      </p:sp>
      <p:sp>
        <p:nvSpPr>
          <p:cNvPr id="23" name="Shape 21"/>
          <p:cNvSpPr/>
          <p:nvPr/>
        </p:nvSpPr>
        <p:spPr>
          <a:xfrm>
            <a:off x="7543800" y="2148840"/>
            <a:ext cx="3794760" cy="5486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4" name="Text 22"/>
          <p:cNvSpPr/>
          <p:nvPr/>
        </p:nvSpPr>
        <p:spPr>
          <a:xfrm>
            <a:off x="7726680" y="21488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90-day roadmap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772400" y="2834640"/>
            <a:ext cx="33832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→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tracing + evals on one agent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→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validation gates &amp; rollback to CI/CD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→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a meta-harness layer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→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governance: policy, budgets, audit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22960" y="5806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  ·  Questions?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" cy="31089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" y="457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APPENDIX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References &amp; further reading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10515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“Agent Harness Engineering: A Survey” — ETCLOVG seven-layer taxonomy (OpenReview, 2026).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“Agent Harness for LLM Agents: A Survey” — six-component model H=(E,T,C,S,L,V); Awesome-Agent-Harness catalog.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— “Introducing Omnigent: A Meta-Harness to Combine, Control and Share Your Agents” (Databricks Blog &amp; docs, 2026).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et al. — “Meta-Harness: End-to-End Optimization of Model Harnesses” (arXiv, 2026).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 et al. — “AutoHarness: Improving LLM Agents by Automatically Synthesizing a Code Harness” (arXiv 2603.03329, 2026).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“Natural-Language Agent Harnesses” + Intelligent Harness Runtime (arXiv 2603.25723, 2026).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— “Harness engineering: leveraging Codex in an agent-first world” (OpenAI Blog, 2026).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names and capabilities are current as of mid-2026 and evolve quickly; verify against primary sources before architectural decisions.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Harness Engineering for AI</dc:title>
  <dc:subject>PptxGenJS Presentation</dc:subject>
  <dc:creator>AI Platform Engineering</dc:creator>
  <cp:lastModifiedBy>AI Platform Engineering</cp:lastModifiedBy>
  <cp:revision>1</cp:revision>
  <dcterms:created xsi:type="dcterms:W3CDTF">2026-07-29T10:41:58Z</dcterms:created>
  <dcterms:modified xsi:type="dcterms:W3CDTF">2026-07-29T10:41:58Z</dcterms:modified>
</cp:coreProperties>
</file>